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24384000" cy="13716000"/>
  <p:notesSz cx="13716000" cy="2438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umgowkb3kwa62/mnt/agents/output/raktabeej/images/8_Collection_Cinematic_Epic_Fantasy.png">    </p:cNvPr>
          <p:cNvPicPr>
            <a:picLocks noChangeAspect="1"/>
          </p:cNvPicPr>
          <p:nvPr/>
        </p:nvPicPr>
        <p:blipFill>
          <a:blip r:embed="rId1"/>
          <a:srcRect l="0" r="0" t="0" b="0"/>
          <a:stretch/>
        </p:blipFill>
        <p:spPr>
          <a:xfrm>
            <a:off x="0" y="0"/>
            <a:ext cx="24384000" cy="13716000"/>
          </a:xfrm>
          <a:prstGeom prst="rect">
            <a:avLst/>
          </a:prstGeom>
        </p:spPr>
      </p:pic>
      <p:sp>
        <p:nvSpPr>
          <p:cNvPr id="3" name="Shape 0"/>
          <p:cNvSpPr/>
          <p:nvPr/>
        </p:nvSpPr>
        <p:spPr>
          <a:xfrm>
            <a:off x="0" y="0"/>
            <a:ext cx="24384000" cy="13716000"/>
          </a:xfrm>
          <a:prstGeom prst="rect">
            <a:avLst/>
          </a:prstGeom>
          <a:gradFill rotWithShape="1" flip="none">
            <a:gsLst>
              <a:gs pos="0">
                <a:srgbClr val="0D0D0D">
                  <a:alpha val="93000"/>
                </a:srgbClr>
              </a:gs>
              <a:gs pos="50000">
                <a:srgbClr val="0D0D0D">
                  <a:alpha val="80000"/>
                </a:srgbClr>
              </a:gs>
              <a:gs pos="100000">
                <a:srgbClr val="0D0D0D">
                  <a:alpha val="93000"/>
                </a:srgbClr>
              </a:gs>
            </a:gsLst>
            <a:lin ang="5400000" scaled="1"/>
          </a:gradFill>
          <a:ln w="12700">
            <a:solidFill>
              <a:srgbClr val="FFFFFF">
                <a:alpha val="0"/>
              </a:srgbClr>
            </a:solidFill>
            <a:prstDash val="solid"/>
          </a:ln>
        </p:spPr>
      </p:sp>
      <p:sp>
        <p:nvSpPr>
          <p:cNvPr id="4" name="Shape 1"/>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5" name="Shape 2"/>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6" name="Shape 3"/>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7" name="Text 4"/>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8" name="Text 5"/>
          <p:cNvSpPr/>
          <p:nvPr/>
        </p:nvSpPr>
        <p:spPr>
          <a:xfrm>
            <a:off x="1371600" y="3556000"/>
            <a:ext cx="15240000" cy="2540000"/>
          </a:xfrm>
          <a:prstGeom prst="rect">
            <a:avLst/>
          </a:prstGeom>
          <a:noFill/>
          <a:ln/>
        </p:spPr>
        <p:txBody>
          <a:bodyPr wrap="none" lIns="0" tIns="0" rIns="0" bIns="0" rtlCol="0" anchor="t"/>
          <a:lstStyle/>
          <a:p>
            <a:pPr algn="l">
              <a:lnSpc>
                <a:spcPct val="100000"/>
              </a:lnSpc>
            </a:pPr>
            <a:r>
              <a:rPr lang="en-US" sz="16000" dirty="0">
                <a:solidFill>
                  <a:srgbClr val="C81E1E"/>
                </a:solidFill>
                <a:latin typeface="Cinzel" pitchFamily="34" charset="0"/>
                <a:ea typeface="Cinzel" pitchFamily="34" charset="-122"/>
                <a:cs typeface="Cinzel" pitchFamily="34" charset="-120"/>
              </a:rPr>
              <a:t>RAKTA</a:t>
            </a:r>
            <a:pPr algn="l">
              <a:lnSpc>
                <a:spcPct val="100000"/>
              </a:lnSpc>
            </a:pPr>
            <a:r>
              <a:rPr lang="en-US" sz="16000" dirty="0">
                <a:solidFill>
                  <a:srgbClr val="E8DCC8"/>
                </a:solidFill>
                <a:latin typeface="Cinzel" pitchFamily="34" charset="0"/>
                <a:ea typeface="Cinzel" pitchFamily="34" charset="-122"/>
                <a:cs typeface="Cinzel" pitchFamily="34" charset="-120"/>
              </a:rPr>
              <a:t>BEEJ</a:t>
            </a:r>
            <a:endParaRPr lang="en-US" sz="16000" dirty="0"/>
          </a:p>
        </p:txBody>
      </p:sp>
      <p:sp>
        <p:nvSpPr>
          <p:cNvPr id="9" name="Text 6"/>
          <p:cNvSpPr/>
          <p:nvPr/>
        </p:nvSpPr>
        <p:spPr>
          <a:xfrm>
            <a:off x="1371600" y="6350000"/>
            <a:ext cx="10795000" cy="762000"/>
          </a:xfrm>
          <a:prstGeom prst="rect">
            <a:avLst/>
          </a:prstGeom>
          <a:noFill/>
          <a:ln/>
        </p:spPr>
        <p:txBody>
          <a:bodyPr wrap="none" lIns="0" tIns="0" rIns="0" bIns="0" rtlCol="0" anchor="ctr"/>
          <a:lstStyle/>
          <a:p>
            <a:pPr algn="l">
              <a:lnSpc>
                <a:spcPct val="120000"/>
              </a:lnSpc>
            </a:pPr>
            <a:r>
              <a:rPr lang="en-US" sz="4200" spc="600" kern="0" dirty="0">
                <a:solidFill>
                  <a:srgbClr val="CD7F32"/>
                </a:solidFill>
                <a:latin typeface="Quattrocento Sans" pitchFamily="34" charset="0"/>
                <a:ea typeface="Quattrocento Sans" pitchFamily="34" charset="-122"/>
                <a:cs typeface="Quattrocento Sans" pitchFamily="34" charset="-120"/>
              </a:rPr>
              <a:t>DATASET GENERATION ENGINE</a:t>
            </a:r>
            <a:endParaRPr lang="en-US" sz="4200" dirty="0"/>
          </a:p>
        </p:txBody>
      </p:sp>
      <p:sp>
        <p:nvSpPr>
          <p:cNvPr id="10" name="Text 7"/>
          <p:cNvSpPr/>
          <p:nvPr/>
        </p:nvSpPr>
        <p:spPr>
          <a:xfrm>
            <a:off x="1371600" y="7366000"/>
            <a:ext cx="10160000" cy="635000"/>
          </a:xfrm>
          <a:prstGeom prst="rect">
            <a:avLst/>
          </a:prstGeom>
          <a:noFill/>
          <a:ln/>
        </p:spPr>
        <p:txBody>
          <a:bodyPr wrap="none" lIns="0" tIns="0" rIns="0" bIns="0" rtlCol="0" anchor="ctr"/>
          <a:lstStyle/>
          <a:p>
            <a:pPr algn="l">
              <a:lnSpc>
                <a:spcPct val="120000"/>
              </a:lnSpc>
            </a:pPr>
            <a:r>
              <a:rPr lang="en-US" sz="2800" i="1" spc="200" kern="0" dirty="0">
                <a:solidFill>
                  <a:srgbClr val="6B5B4E"/>
                </a:solidFill>
                <a:latin typeface="Quattrocento Sans" pitchFamily="34" charset="0"/>
                <a:ea typeface="Quattrocento Sans" pitchFamily="34" charset="-122"/>
                <a:cs typeface="Quattrocento Sans" pitchFamily="34" charset="-120"/>
              </a:rPr>
              <a:t>"One Seed. Countless Descendants."</a:t>
            </a:r>
            <a:endParaRPr lang="en-US" sz="2800" dirty="0"/>
          </a:p>
        </p:txBody>
      </p:sp>
      <p:sp>
        <p:nvSpPr>
          <p:cNvPr id="11" name="Shape 8"/>
          <p:cNvSpPr/>
          <p:nvPr/>
        </p:nvSpPr>
        <p:spPr>
          <a:xfrm>
            <a:off x="1371600" y="8382000"/>
            <a:ext cx="5080000" cy="0"/>
          </a:xfrm>
          <a:prstGeom prst="straightConnector1">
            <a:avLst/>
          </a:prstGeom>
          <a:noFill/>
          <a:ln w="25400">
            <a:solidFill>
              <a:srgbClr val="C81E1E"/>
            </a:solidFill>
            <a:prstDash val="solid"/>
            <a:headEnd type="none"/>
            <a:tailEnd type="none"/>
          </a:ln>
        </p:spPr>
      </p:sp>
      <p:sp>
        <p:nvSpPr>
          <p:cNvPr id="12" name="Text 9"/>
          <p:cNvSpPr/>
          <p:nvPr/>
        </p:nvSpPr>
        <p:spPr>
          <a:xfrm>
            <a:off x="1371600" y="8763000"/>
            <a:ext cx="7620000" cy="1778000"/>
          </a:xfrm>
          <a:prstGeom prst="rect">
            <a:avLst/>
          </a:prstGeom>
          <a:noFill/>
          <a:ln/>
        </p:spPr>
        <p:txBody>
          <a:bodyPr wrap="square" lIns="0" tIns="0" rIns="0" bIns="0" rtlCol="0" anchor="t"/>
          <a:lstStyle/>
          <a:p>
            <a:pPr algn="l">
              <a:lnSpc>
                <a:spcPct val="180000"/>
              </a:lnSpc>
            </a:pPr>
            <a:r>
              <a:rPr lang="en-US" sz="2000" dirty="0">
                <a:solidFill>
                  <a:srgbClr val="6B5B4E"/>
                </a:solidFill>
                <a:latin typeface="Quattrocento Sans" pitchFamily="34" charset="0"/>
                <a:ea typeface="Quattrocento Sans" pitchFamily="34" charset="-122"/>
                <a:cs typeface="Quattrocento Sans" pitchFamily="34" charset="-120"/>
              </a:rPr>
              <a:t>Developer: </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Arun VK</a:t>
            </a:r>
            <a:endParaRPr lang="en-US" sz="2000" dirty="0"/>
          </a:p>
          <a:p>
            <a:pPr algn="l">
              <a:lnSpc>
                <a:spcPct val="180000"/>
              </a:lnSpc>
            </a:pPr>
            <a:r>
              <a:rPr lang="en-US" sz="2000" dirty="0">
                <a:solidFill>
                  <a:srgbClr val="6B5B4E"/>
                </a:solidFill>
                <a:latin typeface="Quattrocento Sans" pitchFamily="34" charset="0"/>
                <a:ea typeface="Quattrocento Sans" pitchFamily="34" charset="-122"/>
                <a:cs typeface="Quattrocento Sans" pitchFamily="34" charset="-120"/>
              </a:rPr>
              <a:t>Browser-Native Dataset Generation Platform</a:t>
            </a:r>
            <a:endParaRPr lang="en-US" sz="2000" dirty="0"/>
          </a:p>
          <a:p>
            <a:pPr algn="l">
              <a:lnSpc>
                <a:spcPct val="180000"/>
              </a:lnSpc>
            </a:pPr>
            <a:r>
              <a:rPr lang="en-US" sz="2000" dirty="0">
                <a:solidFill>
                  <a:srgbClr val="6B5B4E"/>
                </a:solidFill>
                <a:latin typeface="Quattrocento Sans" pitchFamily="34" charset="0"/>
                <a:ea typeface="Quattrocento Sans" pitchFamily="34" charset="-122"/>
                <a:cs typeface="Quattrocento Sans" pitchFamily="34" charset="-120"/>
              </a:rPr>
              <a:t>Privacy-First AI Infrastructure</a:t>
            </a:r>
            <a:endParaRPr lang="en-US" sz="2000" dirty="0"/>
          </a:p>
        </p:txBody>
      </p:sp>
      <p:sp>
        <p:nvSpPr>
          <p:cNvPr id="13" name="Shape 10"/>
          <p:cNvSpPr/>
          <p:nvPr/>
        </p:nvSpPr>
        <p:spPr>
          <a:xfrm>
            <a:off x="20320000" y="9144000"/>
            <a:ext cx="2540000" cy="2540000"/>
          </a:xfrm>
          <a:custGeom>
            <a:avLst/>
            <a:gdLst/>
            <a:ahLst/>
            <a:cxnLst/>
            <a:rect l="l" t="t" r="r" b="b"/>
            <a:pathLst>
              <a:path w="2540000" h="2540000">
                <a:moveTo>
                  <a:pt x="1269998" y="0"/>
                </a:moveTo>
                <a:lnTo>
                  <a:pt x="2540000" y="1269998"/>
                </a:lnTo>
                <a:lnTo>
                  <a:pt x="1269998" y="2540000"/>
                </a:lnTo>
                <a:lnTo>
                  <a:pt x="0" y="1269998"/>
                </a:lnTo>
                <a:close/>
              </a:path>
            </a:pathLst>
          </a:custGeom>
          <a:solidFill>
            <a:srgbClr val="CD7F32">
              <a:alpha val="12549"/>
            </a:srgbClr>
          </a:solidFill>
          <a:ln w="12700">
            <a:solidFill>
              <a:srgbClr val="CD7F32"/>
            </a:solidFill>
            <a:prstDash val="solid"/>
          </a:ln>
        </p:spPr>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10795000" cy="2032000"/>
          </a:xfrm>
          <a:prstGeom prst="rect">
            <a:avLst/>
          </a:prstGeom>
          <a:noFill/>
          <a:ln/>
        </p:spPr>
        <p:txBody>
          <a:bodyPr wrap="square" lIns="0" tIns="0" rIns="0" bIns="0" rtlCol="0" anchor="t"/>
          <a:lstStyle/>
          <a:p>
            <a:pPr algn="l">
              <a:lnSpc>
                <a:spcPct val="110000"/>
              </a:lnSpc>
            </a:pPr>
            <a:r>
              <a:rPr lang="en-US" sz="6400" dirty="0">
                <a:solidFill>
                  <a:srgbClr val="E8DCC8"/>
                </a:solidFill>
                <a:latin typeface="Cinzel" pitchFamily="34" charset="0"/>
                <a:ea typeface="Cinzel" pitchFamily="34" charset="-122"/>
                <a:cs typeface="Cinzel" pitchFamily="34" charset="-120"/>
              </a:rPr>
              <a:t>WHY </a:t>
            </a:r>
            <a:pPr algn="l">
              <a:lnSpc>
                <a:spcPct val="110000"/>
              </a:lnSpc>
            </a:pPr>
            <a:r>
              <a:rPr lang="en-US" sz="6400" dirty="0">
                <a:solidFill>
                  <a:srgbClr val="C81E1E"/>
                </a:solidFill>
                <a:latin typeface="Cinzel" pitchFamily="34" charset="0"/>
                <a:ea typeface="Cinzel" pitchFamily="34" charset="-122"/>
                <a:cs typeface="Cinzel" pitchFamily="34" charset="-120"/>
              </a:rPr>
              <a:t>"RAKTA</a:t>
            </a:r>
            <a:pPr algn="l">
              <a:lnSpc>
                <a:spcPct val="110000"/>
              </a:lnSpc>
            </a:pPr>
            <a:r>
              <a:rPr lang="en-US" sz="6400" dirty="0">
                <a:solidFill>
                  <a:srgbClr val="CD7F32"/>
                </a:solidFill>
                <a:latin typeface="Cinzel" pitchFamily="34" charset="0"/>
                <a:ea typeface="Cinzel" pitchFamily="34" charset="-122"/>
                <a:cs typeface="Cinzel" pitchFamily="34" charset="-120"/>
              </a:rPr>
              <a:t>BEEJ"</a:t>
            </a:r>
            <a:pPr algn="l">
              <a:lnSpc>
                <a:spcPct val="110000"/>
              </a:lnSpc>
            </a:pPr>
            <a:r>
              <a:rPr lang="en-US" sz="6400" dirty="0">
                <a:solidFill>
                  <a:srgbClr val="E8DCC8"/>
                </a:solidFill>
                <a:latin typeface="Cinzel" pitchFamily="34" charset="0"/>
                <a:ea typeface="Cinzel" pitchFamily="34" charset="-122"/>
                <a:cs typeface="Cinzel" pitchFamily="34" charset="-120"/>
              </a:rPr>
              <a:t>?</a:t>
            </a:r>
            <a:endParaRPr lang="en-US" sz="6400" dirty="0"/>
          </a:p>
        </p:txBody>
      </p:sp>
      <p:sp>
        <p:nvSpPr>
          <p:cNvPr id="7" name="Text 5"/>
          <p:cNvSpPr/>
          <p:nvPr/>
        </p:nvSpPr>
        <p:spPr>
          <a:xfrm>
            <a:off x="1371600" y="5080000"/>
            <a:ext cx="10795000" cy="1270000"/>
          </a:xfrm>
          <a:prstGeom prst="rect">
            <a:avLst/>
          </a:prstGeom>
          <a:noFill/>
          <a:ln/>
        </p:spPr>
        <p:txBody>
          <a:bodyPr wrap="square" lIns="0" tIns="0" rIns="0" bIns="0" rtlCol="0" anchor="t"/>
          <a:lstStyle/>
          <a:p>
            <a:pPr algn="l">
              <a:lnSpc>
                <a:spcPct val="150000"/>
              </a:lnSpc>
            </a:pPr>
            <a:r>
              <a:rPr lang="en-US" sz="2200" dirty="0">
                <a:solidFill>
                  <a:srgbClr val="E8DCC8"/>
                </a:solidFill>
                <a:latin typeface="Quattrocento Sans" pitchFamily="34" charset="0"/>
                <a:ea typeface="Quattrocento Sans" pitchFamily="34" charset="-122"/>
                <a:cs typeface="Quattrocento Sans" pitchFamily="34" charset="-120"/>
              </a:rPr>
              <a:t>From the </a:t>
            </a:r>
            <a:pPr algn="l">
              <a:lnSpc>
                <a:spcPct val="150000"/>
              </a:lnSpc>
            </a:pPr>
            <a:r>
              <a:rPr lang="en-US" sz="2200" b="1" dirty="0">
                <a:solidFill>
                  <a:srgbClr val="E8DCC8"/>
                </a:solidFill>
                <a:latin typeface="Quattrocento Sans" pitchFamily="34" charset="0"/>
                <a:ea typeface="Quattrocento Sans" pitchFamily="34" charset="-122"/>
                <a:cs typeface="Quattrocento Sans" pitchFamily="34" charset="-120"/>
              </a:rPr>
              <a:t>Devi Mahatmya</a:t>
            </a:r>
            <a:pPr algn="l">
              <a:lnSpc>
                <a:spcPct val="150000"/>
              </a:lnSpc>
            </a:pPr>
            <a:r>
              <a:rPr lang="en-US" sz="2200" dirty="0">
                <a:solidFill>
                  <a:srgbClr val="E8DCC8"/>
                </a:solidFill>
                <a:latin typeface="Quattrocento Sans" pitchFamily="34" charset="0"/>
                <a:ea typeface="Quattrocento Sans" pitchFamily="34" charset="-122"/>
                <a:cs typeface="Quattrocento Sans" pitchFamily="34" charset="-120"/>
              </a:rPr>
              <a:t> — the demon whose every drop of blood spawned another warrior.</a:t>
            </a:r>
            <a:endParaRPr lang="en-US" sz="2200" dirty="0"/>
          </a:p>
        </p:txBody>
      </p:sp>
      <p:sp>
        <p:nvSpPr>
          <p:cNvPr id="8" name="Shape 6"/>
          <p:cNvSpPr/>
          <p:nvPr/>
        </p:nvSpPr>
        <p:spPr>
          <a:xfrm>
            <a:off x="1371600" y="6604000"/>
            <a:ext cx="10795000" cy="5334000"/>
          </a:xfrm>
          <a:prstGeom prst="rect">
            <a:avLst/>
          </a:prstGeom>
          <a:solidFill>
            <a:srgbClr val="1A1212"/>
          </a:solidFill>
          <a:ln w="12700">
            <a:solidFill>
              <a:srgbClr val="3D2A2A"/>
            </a:solidFill>
            <a:prstDash val="solid"/>
          </a:ln>
        </p:spPr>
      </p:sp>
      <p:sp>
        <p:nvSpPr>
          <p:cNvPr id="9" name="Text 7"/>
          <p:cNvSpPr/>
          <p:nvPr/>
        </p:nvSpPr>
        <p:spPr>
          <a:xfrm>
            <a:off x="1778000" y="6858000"/>
            <a:ext cx="9982200" cy="508000"/>
          </a:xfrm>
          <a:prstGeom prst="rect">
            <a:avLst/>
          </a:prstGeom>
          <a:noFill/>
          <a:ln/>
        </p:spPr>
        <p:txBody>
          <a:bodyPr wrap="none" lIns="0" tIns="0" rIns="0" bIns="0" rtlCol="0" anchor="ctr"/>
          <a:lstStyle/>
          <a:p>
            <a:pPr algn="l">
              <a:lnSpc>
                <a:spcPct val="120000"/>
              </a:lnSpc>
            </a:pPr>
            <a:r>
              <a:rPr lang="en-US" sz="1800" spc="400" kern="0" dirty="0">
                <a:solidFill>
                  <a:srgbClr val="CD7F32"/>
                </a:solidFill>
                <a:latin typeface="Quattrocento Sans" pitchFamily="34" charset="0"/>
                <a:ea typeface="Quattrocento Sans" pitchFamily="34" charset="-122"/>
                <a:cs typeface="Quattrocento Sans" pitchFamily="34" charset="-120"/>
              </a:rPr>
              <a:t>THE MYTHOLOGICAL PARALLEL</a:t>
            </a:r>
            <a:endParaRPr lang="en-US" sz="1800" dirty="0"/>
          </a:p>
        </p:txBody>
      </p:sp>
      <p:sp>
        <p:nvSpPr>
          <p:cNvPr id="10" name="Text 8"/>
          <p:cNvSpPr/>
          <p:nvPr/>
        </p:nvSpPr>
        <p:spPr>
          <a:xfrm>
            <a:off x="1778000" y="7493000"/>
            <a:ext cx="9982200" cy="4191000"/>
          </a:xfrm>
          <a:prstGeom prst="rect">
            <a:avLst/>
          </a:prstGeom>
          <a:noFill/>
          <a:ln/>
        </p:spPr>
        <p:txBody>
          <a:bodyPr wrap="square" lIns="0" tIns="0" rIns="0" bIns="0" rtlCol="0" anchor="t"/>
          <a:lstStyle/>
          <a:p>
            <a:pPr algn="l">
              <a:lnSpc>
                <a:spcPct val="170000"/>
              </a:lnSpc>
            </a:pPr>
            <a:r>
              <a:rPr lang="en-US" sz="2000" b="1" dirty="0">
                <a:solidFill>
                  <a:srgbClr val="E8DCC8"/>
                </a:solidFill>
                <a:latin typeface="Quattrocento Sans" pitchFamily="34" charset="0"/>
                <a:ea typeface="Quattrocento Sans" pitchFamily="34" charset="-122"/>
                <a:cs typeface="Quattrocento Sans" pitchFamily="34" charset="-120"/>
              </a:rPr>
              <a:t>The Legend:</a:t>
            </a:r>
            <a:pPr algn="l">
              <a:lnSpc>
                <a:spcPct val="170000"/>
              </a:lnSpc>
            </a:pPr>
            <a:r>
              <a:rPr lang="en-US" sz="2000" dirty="0">
                <a:solidFill>
                  <a:srgbClr val="E8DCC8"/>
                </a:solidFill>
                <a:latin typeface="Quattrocento Sans" pitchFamily="34" charset="0"/>
                <a:ea typeface="Quattrocento Sans" pitchFamily="34" charset="-122"/>
                <a:cs typeface="Quattrocento Sans" pitchFamily="34" charset="-120"/>
              </a:rPr>
              <a:t> Raktabeej — a demon blessed with a terrible boon. Every drop of his blood that touched the earth birthed a new warrior, identical in power and ferocity.</a:t>
            </a:r>
            <a:endParaRPr lang="en-US" sz="2000" dirty="0"/>
          </a:p>
          <a:p>
            <a:pPr algn="l">
              <a:lnSpc>
                <a:spcPct val="170000"/>
              </a:lnSpc>
              <a:spcBef>
                <a:spcPts val="1600"/>
              </a:spcBef>
            </a:pPr>
            <a:r>
              <a:rPr lang="en-US" sz="2000" b="1" dirty="0">
                <a:solidFill>
                  <a:srgbClr val="E8DCC8"/>
                </a:solidFill>
                <a:latin typeface="Quattrocento Sans" pitchFamily="34" charset="0"/>
                <a:ea typeface="Quattrocento Sans" pitchFamily="34" charset="-122"/>
                <a:cs typeface="Quattrocento Sans" pitchFamily="34" charset="-120"/>
              </a:rPr>
              <a:t>The Parallel:</a:t>
            </a:r>
            <a:pPr algn="l">
              <a:lnSpc>
                <a:spcPct val="170000"/>
              </a:lnSpc>
              <a:spcBef>
                <a:spcPts val="1600"/>
              </a:spcBef>
            </a:pPr>
            <a:r>
              <a:rPr lang="en-US" sz="2000" dirty="0">
                <a:solidFill>
                  <a:srgbClr val="E8DCC8"/>
                </a:solidFill>
                <a:latin typeface="Quattrocento Sans" pitchFamily="34" charset="0"/>
                <a:ea typeface="Quattrocento Sans" pitchFamily="34" charset="-122"/>
                <a:cs typeface="Quattrocento Sans" pitchFamily="34" charset="-120"/>
              </a:rPr>
              <a:t> One video uploaded to the platform generates thousands of dataset images — each frame a descendant of the original source.</a:t>
            </a:r>
            <a:endParaRPr lang="en-US" sz="2000" dirty="0"/>
          </a:p>
          <a:p>
            <a:pPr algn="l">
              <a:lnSpc>
                <a:spcPct val="170000"/>
              </a:lnSpc>
              <a:spcBef>
                <a:spcPts val="1600"/>
              </a:spcBef>
            </a:pPr>
            <a:r>
              <a:rPr lang="en-US" sz="2000" b="1" dirty="0">
                <a:solidFill>
                  <a:srgbClr val="E8DCC8"/>
                </a:solidFill>
                <a:latin typeface="Quattrocento Sans" pitchFamily="34" charset="0"/>
                <a:ea typeface="Quattrocento Sans" pitchFamily="34" charset="-122"/>
                <a:cs typeface="Quattrocento Sans" pitchFamily="34" charset="-120"/>
              </a:rPr>
              <a:t>The Philosophy:</a:t>
            </a:r>
            <a:pPr algn="l">
              <a:lnSpc>
                <a:spcPct val="170000"/>
              </a:lnSpc>
              <a:spcBef>
                <a:spcPts val="1600"/>
              </a:spcBef>
            </a:pPr>
            <a:r>
              <a:rPr lang="en-US" sz="2000" dirty="0">
                <a:solidFill>
                  <a:srgbClr val="E8DCC8"/>
                </a:solidFill>
                <a:latin typeface="Quattrocento Sans" pitchFamily="34" charset="0"/>
                <a:ea typeface="Quattrocento Sans" pitchFamily="34" charset="-122"/>
                <a:cs typeface="Quattrocento Sans" pitchFamily="34" charset="-120"/>
              </a:rPr>
              <a:t> Multiplication of knowledge from a single source. One seed. Countless descendants.</a:t>
            </a:r>
            <a:endParaRPr lang="en-US" sz="2000" dirty="0"/>
          </a:p>
        </p:txBody>
      </p:sp>
      <p:sp>
        <p:nvSpPr>
          <p:cNvPr id="11" name="Shape 9"/>
          <p:cNvSpPr/>
          <p:nvPr/>
        </p:nvSpPr>
        <p:spPr>
          <a:xfrm>
            <a:off x="12700000" y="2794000"/>
            <a:ext cx="10312400" cy="9144000"/>
          </a:xfrm>
          <a:prstGeom prst="rect">
            <a:avLst/>
          </a:prstGeom>
          <a:solidFill>
            <a:srgbClr val="1A1212"/>
          </a:solidFill>
          <a:ln w="12700">
            <a:solidFill>
              <a:srgbClr val="3D2A2A"/>
            </a:solidFill>
            <a:prstDash val="solid"/>
          </a:ln>
        </p:spPr>
      </p:sp>
      <p:sp>
        <p:nvSpPr>
          <p:cNvPr id="12" name="Text 10"/>
          <p:cNvSpPr/>
          <p:nvPr/>
        </p:nvSpPr>
        <p:spPr>
          <a:xfrm>
            <a:off x="12954000" y="3048000"/>
            <a:ext cx="9804400" cy="8636000"/>
          </a:xfrm>
          <a:prstGeom prst="rect">
            <a:avLst/>
          </a:prstGeom>
          <a:noFill/>
          <a:ln/>
        </p:spPr>
        <p:txBody>
          <a:bodyPr wrap="square" lIns="0" tIns="0" rIns="0" bIns="0" rtlCol="0" anchor="ctr"/>
          <a:lstStyle/>
          <a:p>
            <a:pPr algn="ctr">
              <a:lnSpc>
                <a:spcPct val="160000"/>
              </a:lnSpc>
            </a:pPr>
            <a:r>
              <a:rPr lang="en-US" sz="8000" dirty="0">
                <a:solidFill>
                  <a:srgbClr val="C81E1E"/>
                </a:solidFill>
                <a:latin typeface="Cinzel" pitchFamily="34" charset="0"/>
                <a:ea typeface="Cinzel" pitchFamily="34" charset="-122"/>
                <a:cs typeface="Cinzel" pitchFamily="34" charset="-120"/>
              </a:rPr>
              <a:t>1</a:t>
            </a:r>
            <a:endParaRPr lang="en-US" sz="8000" dirty="0"/>
          </a:p>
          <a:p>
            <a:pPr algn="ctr">
              <a:lnSpc>
                <a:spcPct val="160000"/>
              </a:lnSpc>
              <a:spcBef>
                <a:spcPts val="800"/>
              </a:spcBef>
            </a:pPr>
            <a:r>
              <a:rPr lang="en-US" sz="2800" dirty="0">
                <a:solidFill>
                  <a:srgbClr val="CD7F32"/>
                </a:solidFill>
                <a:latin typeface="Quattrocento Sans" pitchFamily="34" charset="0"/>
                <a:ea typeface="Quattrocento Sans" pitchFamily="34" charset="-122"/>
                <a:cs typeface="Quattrocento Sans" pitchFamily="34" charset="-120"/>
              </a:rPr>
              <a:t>↓</a:t>
            </a:r>
            <a:endParaRPr lang="en-US" sz="8000" dirty="0"/>
          </a:p>
          <a:p>
            <a:pPr algn="ctr">
              <a:lnSpc>
                <a:spcPct val="160000"/>
              </a:lnSpc>
              <a:spcBef>
                <a:spcPts val="800"/>
              </a:spcBef>
            </a:pPr>
            <a:r>
              <a:rPr lang="en-US" sz="4800" dirty="0">
                <a:solidFill>
                  <a:srgbClr val="C81E1E"/>
                </a:solidFill>
                <a:latin typeface="Cinzel" pitchFamily="34" charset="0"/>
                <a:ea typeface="Cinzel" pitchFamily="34" charset="-122"/>
                <a:cs typeface="Cinzel" pitchFamily="34" charset="-120"/>
              </a:rPr>
              <a:t>1,000+</a:t>
            </a:r>
            <a:endParaRPr lang="en-US" sz="8000" dirty="0"/>
          </a:p>
          <a:p>
            <a:pPr algn="ctr">
              <a:lnSpc>
                <a:spcPct val="160000"/>
              </a:lnSpc>
              <a:spcBef>
                <a:spcPts val="1600"/>
              </a:spcBef>
            </a:pPr>
            <a:r>
              <a:rPr lang="en-US" sz="2400" dirty="0">
                <a:solidFill>
                  <a:srgbClr val="6B5B4E"/>
                </a:solidFill>
                <a:latin typeface="Quattrocento Sans" pitchFamily="34" charset="0"/>
                <a:ea typeface="Quattrocento Sans" pitchFamily="34" charset="-122"/>
                <a:cs typeface="Quattrocento Sans" pitchFamily="34" charset="-120"/>
              </a:rPr>
              <a:t>One video spawns thousands of</a:t>
            </a:r>
            <a:endParaRPr lang="en-US" sz="8000" dirty="0"/>
          </a:p>
          <a:p>
            <a:pPr algn="ctr">
              <a:lnSpc>
                <a:spcPct val="160000"/>
              </a:lnSpc>
            </a:pPr>
            <a:r>
              <a:rPr lang="en-US" sz="2400" dirty="0">
                <a:solidFill>
                  <a:srgbClr val="6B5B4E"/>
                </a:solidFill>
                <a:latin typeface="Quattrocento Sans" pitchFamily="34" charset="0"/>
                <a:ea typeface="Quattrocento Sans" pitchFamily="34" charset="-122"/>
                <a:cs typeface="Quattrocento Sans" pitchFamily="34" charset="-120"/>
              </a:rPr>
              <a:t>dataset descendants — each frame</a:t>
            </a:r>
            <a:endParaRPr lang="en-US" sz="8000" dirty="0"/>
          </a:p>
          <a:p>
            <a:pPr algn="ctr">
              <a:lnSpc>
                <a:spcPct val="160000"/>
              </a:lnSpc>
            </a:pPr>
            <a:r>
              <a:rPr lang="en-US" sz="2400" dirty="0">
                <a:solidFill>
                  <a:srgbClr val="6B5B4E"/>
                </a:solidFill>
                <a:latin typeface="Quattrocento Sans" pitchFamily="34" charset="0"/>
                <a:ea typeface="Quattrocento Sans" pitchFamily="34" charset="-122"/>
                <a:cs typeface="Quattrocento Sans" pitchFamily="34" charset="-120"/>
              </a:rPr>
              <a:t>knowing its origin, every image</a:t>
            </a:r>
            <a:endParaRPr lang="en-US" sz="8000" dirty="0"/>
          </a:p>
          <a:p>
            <a:pPr algn="ctr">
              <a:lnSpc>
                <a:spcPct val="160000"/>
              </a:lnSpc>
            </a:pPr>
            <a:r>
              <a:rPr lang="en-US" sz="2400" dirty="0">
                <a:solidFill>
                  <a:srgbClr val="6B5B4E"/>
                </a:solidFill>
                <a:latin typeface="Quattrocento Sans" pitchFamily="34" charset="0"/>
                <a:ea typeface="Quattrocento Sans" pitchFamily="34" charset="-122"/>
                <a:cs typeface="Quattrocento Sans" pitchFamily="34" charset="-120"/>
              </a:rPr>
              <a:t>traceable to the source.</a:t>
            </a:r>
            <a:endParaRPr lang="en-US" sz="80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21640800" cy="1778000"/>
          </a:xfrm>
          <a:prstGeom prst="rect">
            <a:avLst/>
          </a:prstGeom>
          <a:noFill/>
          <a:ln/>
        </p:spPr>
        <p:txBody>
          <a:bodyPr wrap="square" lIns="0" tIns="0" rIns="0" bIns="0" rtlCol="0" anchor="t"/>
          <a:lstStyle/>
          <a:p>
            <a:pPr algn="l">
              <a:lnSpc>
                <a:spcPct val="110000"/>
              </a:lnSpc>
            </a:pPr>
            <a:r>
              <a:rPr lang="en-US" sz="10000" dirty="0">
                <a:solidFill>
                  <a:srgbClr val="E8DCC8"/>
                </a:solidFill>
                <a:latin typeface="Cinzel" pitchFamily="34" charset="0"/>
                <a:ea typeface="Cinzel" pitchFamily="34" charset="-122"/>
                <a:cs typeface="Cinzel" pitchFamily="34" charset="-120"/>
              </a:rPr>
              <a:t>THE MODERN </a:t>
            </a:r>
            <a:pPr algn="l">
              <a:lnSpc>
                <a:spcPct val="110000"/>
              </a:lnSpc>
            </a:pPr>
            <a:r>
              <a:rPr lang="en-US" sz="10000" dirty="0">
                <a:solidFill>
                  <a:srgbClr val="C81E1E"/>
                </a:solidFill>
                <a:latin typeface="Cinzel" pitchFamily="34" charset="0"/>
                <a:ea typeface="Cinzel" pitchFamily="34" charset="-122"/>
                <a:cs typeface="Cinzel" pitchFamily="34" charset="-120"/>
              </a:rPr>
              <a:t>DATASET</a:t>
            </a:r>
            <a:pPr algn="l">
              <a:lnSpc>
                <a:spcPct val="110000"/>
              </a:lnSpc>
            </a:pPr>
            <a:r>
              <a:rPr lang="en-US" sz="10000" dirty="0">
                <a:solidFill>
                  <a:srgbClr val="E8DCC8"/>
                </a:solidFill>
                <a:latin typeface="Cinzel" pitchFamily="34" charset="0"/>
                <a:ea typeface="Cinzel" pitchFamily="34" charset="-122"/>
                <a:cs typeface="Cinzel" pitchFamily="34" charset="-120"/>
              </a:rPr>
              <a:t> BOTTLENECK</a:t>
            </a:r>
            <a:endParaRPr lang="en-US" sz="10000" dirty="0"/>
          </a:p>
        </p:txBody>
      </p:sp>
      <p:sp>
        <p:nvSpPr>
          <p:cNvPr id="7" name="Shape 5"/>
          <p:cNvSpPr/>
          <p:nvPr/>
        </p:nvSpPr>
        <p:spPr>
          <a:xfrm>
            <a:off x="1371600" y="5080000"/>
            <a:ext cx="5181600" cy="3302000"/>
          </a:xfrm>
          <a:prstGeom prst="rect">
            <a:avLst/>
          </a:prstGeom>
          <a:solidFill>
            <a:srgbClr val="1A1212"/>
          </a:solidFill>
          <a:ln w="12700">
            <a:solidFill>
              <a:srgbClr val="3D2A2A"/>
            </a:solidFill>
            <a:prstDash val="solid"/>
          </a:ln>
        </p:spPr>
      </p:sp>
      <p:sp>
        <p:nvSpPr>
          <p:cNvPr id="8" name="Shape 6"/>
          <p:cNvSpPr/>
          <p:nvPr/>
        </p:nvSpPr>
        <p:spPr>
          <a:xfrm>
            <a:off x="1778000" y="5384800"/>
            <a:ext cx="508000" cy="508000"/>
          </a:xfrm>
          <a:custGeom>
            <a:avLst/>
            <a:gdLst/>
            <a:ahLst/>
            <a:cxnLst/>
            <a:rect l="l" t="t" r="r" b="b"/>
            <a:pathLst>
              <a:path w="508000" h="508000">
                <a:moveTo>
                  <a:pt x="145143" y="39688"/>
                </a:moveTo>
                <a:cubicBezTo>
                  <a:pt x="145143" y="17760"/>
                  <a:pt x="165440" y="0"/>
                  <a:pt x="190500" y="0"/>
                </a:cubicBezTo>
                <a:cubicBezTo>
                  <a:pt x="215560" y="0"/>
                  <a:pt x="235857" y="17760"/>
                  <a:pt x="235857" y="39688"/>
                </a:cubicBezTo>
                <a:lnTo>
                  <a:pt x="235857" y="186730"/>
                </a:lnTo>
                <a:cubicBezTo>
                  <a:pt x="245496" y="179189"/>
                  <a:pt x="258196" y="174625"/>
                  <a:pt x="272143" y="174625"/>
                </a:cubicBezTo>
                <a:cubicBezTo>
                  <a:pt x="295502" y="174625"/>
                  <a:pt x="315459" y="187523"/>
                  <a:pt x="323170" y="205581"/>
                </a:cubicBezTo>
                <a:cubicBezTo>
                  <a:pt x="333148" y="196354"/>
                  <a:pt x="347209" y="190500"/>
                  <a:pt x="362857" y="190500"/>
                </a:cubicBezTo>
                <a:cubicBezTo>
                  <a:pt x="391546" y="190500"/>
                  <a:pt x="415018" y="209848"/>
                  <a:pt x="417172" y="234454"/>
                </a:cubicBezTo>
                <a:cubicBezTo>
                  <a:pt x="426811" y="226814"/>
                  <a:pt x="439624" y="222250"/>
                  <a:pt x="453571" y="222250"/>
                </a:cubicBezTo>
                <a:cubicBezTo>
                  <a:pt x="483621" y="222250"/>
                  <a:pt x="508000" y="243582"/>
                  <a:pt x="508000" y="269875"/>
                </a:cubicBezTo>
                <a:lnTo>
                  <a:pt x="508000" y="381000"/>
                </a:lnTo>
                <a:cubicBezTo>
                  <a:pt x="508000" y="451148"/>
                  <a:pt x="443026" y="508000"/>
                  <a:pt x="362857" y="508000"/>
                </a:cubicBezTo>
                <a:lnTo>
                  <a:pt x="266133" y="508000"/>
                </a:lnTo>
                <a:cubicBezTo>
                  <a:pt x="260463" y="508000"/>
                  <a:pt x="254907" y="507702"/>
                  <a:pt x="249464" y="507008"/>
                </a:cubicBezTo>
                <a:cubicBezTo>
                  <a:pt x="186758" y="501452"/>
                  <a:pt x="129041" y="473273"/>
                  <a:pt x="90714" y="428625"/>
                </a:cubicBezTo>
                <a:lnTo>
                  <a:pt x="9071" y="333375"/>
                </a:lnTo>
                <a:cubicBezTo>
                  <a:pt x="-6010" y="315813"/>
                  <a:pt x="-1928" y="291009"/>
                  <a:pt x="18143" y="277813"/>
                </a:cubicBezTo>
                <a:cubicBezTo>
                  <a:pt x="38213" y="264616"/>
                  <a:pt x="66562" y="268188"/>
                  <a:pt x="81643" y="285750"/>
                </a:cubicBezTo>
                <a:lnTo>
                  <a:pt x="145143" y="359866"/>
                </a:lnTo>
                <a:lnTo>
                  <a:pt x="145143" y="39688"/>
                </a:lnTo>
                <a:close/>
                <a:moveTo>
                  <a:pt x="272143" y="301625"/>
                </a:moveTo>
                <a:cubicBezTo>
                  <a:pt x="272143" y="292894"/>
                  <a:pt x="263979" y="285750"/>
                  <a:pt x="254000" y="285750"/>
                </a:cubicBezTo>
                <a:cubicBezTo>
                  <a:pt x="244021" y="285750"/>
                  <a:pt x="235857" y="292894"/>
                  <a:pt x="235857" y="301625"/>
                </a:cubicBezTo>
                <a:lnTo>
                  <a:pt x="235857" y="396875"/>
                </a:lnTo>
                <a:cubicBezTo>
                  <a:pt x="235857" y="405606"/>
                  <a:pt x="244021" y="412750"/>
                  <a:pt x="254000" y="412750"/>
                </a:cubicBezTo>
                <a:cubicBezTo>
                  <a:pt x="263979" y="412750"/>
                  <a:pt x="272143" y="405606"/>
                  <a:pt x="272143" y="396875"/>
                </a:cubicBezTo>
                <a:lnTo>
                  <a:pt x="272143" y="301625"/>
                </a:lnTo>
                <a:close/>
                <a:moveTo>
                  <a:pt x="326571" y="285750"/>
                </a:moveTo>
                <a:cubicBezTo>
                  <a:pt x="316593" y="285750"/>
                  <a:pt x="308429" y="292894"/>
                  <a:pt x="308429" y="301625"/>
                </a:cubicBezTo>
                <a:lnTo>
                  <a:pt x="308429" y="396875"/>
                </a:lnTo>
                <a:cubicBezTo>
                  <a:pt x="308429" y="405606"/>
                  <a:pt x="316593" y="412750"/>
                  <a:pt x="326571" y="412750"/>
                </a:cubicBezTo>
                <a:cubicBezTo>
                  <a:pt x="336550" y="412750"/>
                  <a:pt x="344714" y="405606"/>
                  <a:pt x="344714" y="396875"/>
                </a:cubicBezTo>
                <a:lnTo>
                  <a:pt x="344714" y="301625"/>
                </a:lnTo>
                <a:cubicBezTo>
                  <a:pt x="344714" y="292894"/>
                  <a:pt x="336550" y="285750"/>
                  <a:pt x="326571" y="285750"/>
                </a:cubicBezTo>
                <a:close/>
                <a:moveTo>
                  <a:pt x="417286" y="301625"/>
                </a:moveTo>
                <a:cubicBezTo>
                  <a:pt x="417286" y="292894"/>
                  <a:pt x="409121" y="285750"/>
                  <a:pt x="399143" y="285750"/>
                </a:cubicBezTo>
                <a:cubicBezTo>
                  <a:pt x="389164" y="285750"/>
                  <a:pt x="381000" y="292894"/>
                  <a:pt x="381000" y="301625"/>
                </a:cubicBezTo>
                <a:lnTo>
                  <a:pt x="381000" y="396875"/>
                </a:lnTo>
                <a:cubicBezTo>
                  <a:pt x="381000" y="405606"/>
                  <a:pt x="389164" y="412750"/>
                  <a:pt x="399143" y="412750"/>
                </a:cubicBezTo>
                <a:cubicBezTo>
                  <a:pt x="409121" y="412750"/>
                  <a:pt x="417286" y="405606"/>
                  <a:pt x="417286" y="396875"/>
                </a:cubicBezTo>
                <a:lnTo>
                  <a:pt x="417286" y="301625"/>
                </a:lnTo>
                <a:close/>
              </a:path>
            </a:pathLst>
          </a:custGeom>
          <a:solidFill>
            <a:srgbClr val="C81E1E"/>
          </a:solidFill>
          <a:ln/>
        </p:spPr>
      </p:sp>
      <p:sp>
        <p:nvSpPr>
          <p:cNvPr id="9" name="Text 7"/>
          <p:cNvSpPr/>
          <p:nvPr/>
        </p:nvSpPr>
        <p:spPr>
          <a:xfrm>
            <a:off x="1778000" y="6096000"/>
            <a:ext cx="4368800" cy="457200"/>
          </a:xfrm>
          <a:prstGeom prst="rect">
            <a:avLst/>
          </a:prstGeom>
          <a:noFill/>
          <a:ln/>
        </p:spPr>
        <p:txBody>
          <a:bodyPr wrap="none" lIns="0" tIns="0" rIns="0" bIns="0" rtlCol="0" anchor="ctr"/>
          <a:lstStyle/>
          <a:p>
            <a:pPr algn="l">
              <a:lnSpc>
                <a:spcPct val="120000"/>
              </a:lnSpc>
            </a:pPr>
            <a:r>
              <a:rPr lang="en-US" sz="2400" b="1" dirty="0">
                <a:solidFill>
                  <a:srgbClr val="E8DCC8"/>
                </a:solidFill>
                <a:latin typeface="Quattrocento Sans" pitchFamily="34" charset="0"/>
                <a:ea typeface="Quattrocento Sans" pitchFamily="34" charset="-122"/>
                <a:cs typeface="Quattrocento Sans" pitchFamily="34" charset="-120"/>
              </a:rPr>
              <a:t>Manual Frame Extraction</a:t>
            </a:r>
            <a:endParaRPr lang="en-US" sz="2400" dirty="0"/>
          </a:p>
        </p:txBody>
      </p:sp>
      <p:sp>
        <p:nvSpPr>
          <p:cNvPr id="10" name="Text 8"/>
          <p:cNvSpPr/>
          <p:nvPr/>
        </p:nvSpPr>
        <p:spPr>
          <a:xfrm>
            <a:off x="1778000" y="6654800"/>
            <a:ext cx="4368800" cy="1524000"/>
          </a:xfrm>
          <a:prstGeom prst="rect">
            <a:avLst/>
          </a:prstGeom>
          <a:noFill/>
          <a:ln/>
        </p:spPr>
        <p:txBody>
          <a:bodyPr wrap="square" lIns="0" tIns="0" rIns="0" bIns="0" rtlCol="0" anchor="t"/>
          <a:lstStyle/>
          <a:p>
            <a:pPr algn="l">
              <a:lnSpc>
                <a:spcPct val="150000"/>
              </a:lnSpc>
            </a:pPr>
            <a:r>
              <a:rPr lang="en-US" sz="1800" dirty="0">
                <a:solidFill>
                  <a:srgbClr val="6B5B4E"/>
                </a:solidFill>
                <a:latin typeface="Quattrocento Sans" pitchFamily="34" charset="0"/>
                <a:ea typeface="Quattrocento Sans" pitchFamily="34" charset="-122"/>
                <a:cs typeface="Quattrocento Sans" pitchFamily="34" charset="-120"/>
              </a:rPr>
              <a:t>Tedious, error-prone, time-consuming manual work that drains engineering productivity.</a:t>
            </a:r>
            <a:endParaRPr lang="en-US" sz="1800" dirty="0"/>
          </a:p>
        </p:txBody>
      </p:sp>
      <p:sp>
        <p:nvSpPr>
          <p:cNvPr id="11" name="Shape 9"/>
          <p:cNvSpPr/>
          <p:nvPr/>
        </p:nvSpPr>
        <p:spPr>
          <a:xfrm>
            <a:off x="6858000" y="5080000"/>
            <a:ext cx="5181600" cy="3302000"/>
          </a:xfrm>
          <a:prstGeom prst="rect">
            <a:avLst/>
          </a:prstGeom>
          <a:solidFill>
            <a:srgbClr val="1A1212"/>
          </a:solidFill>
          <a:ln w="12700">
            <a:solidFill>
              <a:srgbClr val="3D2A2A"/>
            </a:solidFill>
            <a:prstDash val="solid"/>
          </a:ln>
        </p:spPr>
      </p:sp>
      <p:sp>
        <p:nvSpPr>
          <p:cNvPr id="12" name="Shape 10"/>
          <p:cNvSpPr/>
          <p:nvPr/>
        </p:nvSpPr>
        <p:spPr>
          <a:xfrm>
            <a:off x="7264400" y="5384800"/>
            <a:ext cx="508000" cy="508000"/>
          </a:xfrm>
          <a:custGeom>
            <a:avLst/>
            <a:gdLst/>
            <a:ahLst/>
            <a:cxnLst/>
            <a:rect l="l" t="t" r="r" b="b"/>
            <a:pathLst>
              <a:path w="508000" h="508000">
                <a:moveTo>
                  <a:pt x="9327" y="117673"/>
                </a:moveTo>
                <a:cubicBezTo>
                  <a:pt x="-3076" y="105271"/>
                  <a:pt x="-3076" y="85130"/>
                  <a:pt x="9327" y="72727"/>
                </a:cubicBezTo>
                <a:cubicBezTo>
                  <a:pt x="21729" y="60325"/>
                  <a:pt x="41870" y="60325"/>
                  <a:pt x="54273" y="72727"/>
                </a:cubicBezTo>
                <a:lnTo>
                  <a:pt x="213023" y="231477"/>
                </a:lnTo>
                <a:cubicBezTo>
                  <a:pt x="225425" y="243880"/>
                  <a:pt x="225425" y="264021"/>
                  <a:pt x="213023" y="276423"/>
                </a:cubicBezTo>
                <a:lnTo>
                  <a:pt x="54273" y="435173"/>
                </a:lnTo>
                <a:cubicBezTo>
                  <a:pt x="41870" y="447576"/>
                  <a:pt x="21729" y="447576"/>
                  <a:pt x="9327" y="435173"/>
                </a:cubicBezTo>
                <a:cubicBezTo>
                  <a:pt x="-3076" y="422771"/>
                  <a:pt x="-3076" y="402630"/>
                  <a:pt x="9327" y="390227"/>
                </a:cubicBezTo>
                <a:lnTo>
                  <a:pt x="145554" y="254000"/>
                </a:lnTo>
                <a:lnTo>
                  <a:pt x="9327" y="117673"/>
                </a:lnTo>
                <a:close/>
                <a:moveTo>
                  <a:pt x="222250" y="381000"/>
                </a:moveTo>
                <a:lnTo>
                  <a:pt x="476250" y="381000"/>
                </a:lnTo>
                <a:cubicBezTo>
                  <a:pt x="493812" y="381000"/>
                  <a:pt x="508000" y="395188"/>
                  <a:pt x="508000" y="412750"/>
                </a:cubicBezTo>
                <a:cubicBezTo>
                  <a:pt x="508000" y="430312"/>
                  <a:pt x="493812" y="444500"/>
                  <a:pt x="476250" y="444500"/>
                </a:cubicBezTo>
                <a:lnTo>
                  <a:pt x="222250" y="444500"/>
                </a:lnTo>
                <a:cubicBezTo>
                  <a:pt x="204688" y="444500"/>
                  <a:pt x="190500" y="430312"/>
                  <a:pt x="190500" y="412750"/>
                </a:cubicBezTo>
                <a:cubicBezTo>
                  <a:pt x="190500" y="395188"/>
                  <a:pt x="204688" y="381000"/>
                  <a:pt x="222250" y="381000"/>
                </a:cubicBezTo>
                <a:close/>
              </a:path>
            </a:pathLst>
          </a:custGeom>
          <a:solidFill>
            <a:srgbClr val="C81E1E"/>
          </a:solidFill>
          <a:ln/>
        </p:spPr>
      </p:sp>
      <p:sp>
        <p:nvSpPr>
          <p:cNvPr id="13" name="Text 11"/>
          <p:cNvSpPr/>
          <p:nvPr/>
        </p:nvSpPr>
        <p:spPr>
          <a:xfrm>
            <a:off x="7264400" y="6096000"/>
            <a:ext cx="4368800" cy="457200"/>
          </a:xfrm>
          <a:prstGeom prst="rect">
            <a:avLst/>
          </a:prstGeom>
          <a:noFill/>
          <a:ln/>
        </p:spPr>
        <p:txBody>
          <a:bodyPr wrap="none" lIns="0" tIns="0" rIns="0" bIns="0" rtlCol="0" anchor="ctr"/>
          <a:lstStyle/>
          <a:p>
            <a:pPr algn="l">
              <a:lnSpc>
                <a:spcPct val="120000"/>
              </a:lnSpc>
            </a:pPr>
            <a:r>
              <a:rPr lang="en-US" sz="2400" b="1" dirty="0">
                <a:solidFill>
                  <a:srgbClr val="E8DCC8"/>
                </a:solidFill>
                <a:latin typeface="Quattrocento Sans" pitchFamily="34" charset="0"/>
                <a:ea typeface="Quattrocento Sans" pitchFamily="34" charset="-122"/>
                <a:cs typeface="Quattrocento Sans" pitchFamily="34" charset="-120"/>
              </a:rPr>
              <a:t>Complex FFmpeg Commands</a:t>
            </a:r>
            <a:endParaRPr lang="en-US" sz="2400" dirty="0"/>
          </a:p>
        </p:txBody>
      </p:sp>
      <p:sp>
        <p:nvSpPr>
          <p:cNvPr id="14" name="Text 12"/>
          <p:cNvSpPr/>
          <p:nvPr/>
        </p:nvSpPr>
        <p:spPr>
          <a:xfrm>
            <a:off x="7264400" y="6654800"/>
            <a:ext cx="4368800" cy="1524000"/>
          </a:xfrm>
          <a:prstGeom prst="rect">
            <a:avLst/>
          </a:prstGeom>
          <a:noFill/>
          <a:ln/>
        </p:spPr>
        <p:txBody>
          <a:bodyPr wrap="square" lIns="0" tIns="0" rIns="0" bIns="0" rtlCol="0" anchor="t"/>
          <a:lstStyle/>
          <a:p>
            <a:pPr algn="l">
              <a:lnSpc>
                <a:spcPct val="150000"/>
              </a:lnSpc>
            </a:pPr>
            <a:r>
              <a:rPr lang="en-US" sz="1800" dirty="0">
                <a:solidFill>
                  <a:srgbClr val="6B5B4E"/>
                </a:solidFill>
                <a:latin typeface="Quattrocento Sans" pitchFamily="34" charset="0"/>
                <a:ea typeface="Quattrocento Sans" pitchFamily="34" charset="-122"/>
                <a:cs typeface="Quattrocento Sans" pitchFamily="34" charset="-120"/>
              </a:rPr>
              <a:t>Steep learning curve requiring CLI expertise and command-line proficiency.</a:t>
            </a:r>
            <a:endParaRPr lang="en-US" sz="1800" dirty="0"/>
          </a:p>
        </p:txBody>
      </p:sp>
      <p:sp>
        <p:nvSpPr>
          <p:cNvPr id="15" name="Shape 13"/>
          <p:cNvSpPr/>
          <p:nvPr/>
        </p:nvSpPr>
        <p:spPr>
          <a:xfrm>
            <a:off x="12344400" y="5080000"/>
            <a:ext cx="5181600" cy="3302000"/>
          </a:xfrm>
          <a:prstGeom prst="rect">
            <a:avLst/>
          </a:prstGeom>
          <a:solidFill>
            <a:srgbClr val="1A1212"/>
          </a:solidFill>
          <a:ln w="12700">
            <a:solidFill>
              <a:srgbClr val="3D2A2A"/>
            </a:solidFill>
            <a:prstDash val="solid"/>
          </a:ln>
        </p:spPr>
      </p:sp>
      <p:sp>
        <p:nvSpPr>
          <p:cNvPr id="16" name="Shape 14"/>
          <p:cNvSpPr/>
          <p:nvPr/>
        </p:nvSpPr>
        <p:spPr>
          <a:xfrm>
            <a:off x="12750800" y="5384800"/>
            <a:ext cx="508000" cy="508000"/>
          </a:xfrm>
          <a:custGeom>
            <a:avLst/>
            <a:gdLst/>
            <a:ahLst/>
            <a:cxnLst/>
            <a:rect l="l" t="t" r="r" b="b"/>
            <a:pathLst>
              <a:path w="508000" h="508000">
                <a:moveTo>
                  <a:pt x="318206" y="1191"/>
                </a:moveTo>
                <a:cubicBezTo>
                  <a:pt x="303213" y="-3671"/>
                  <a:pt x="287602" y="6152"/>
                  <a:pt x="283281" y="23019"/>
                </a:cubicBezTo>
                <a:lnTo>
                  <a:pt x="170392" y="467519"/>
                </a:lnTo>
                <a:cubicBezTo>
                  <a:pt x="166070" y="484386"/>
                  <a:pt x="174801" y="501948"/>
                  <a:pt x="189794" y="506809"/>
                </a:cubicBezTo>
                <a:cubicBezTo>
                  <a:pt x="204787" y="511671"/>
                  <a:pt x="220398" y="501848"/>
                  <a:pt x="224719" y="484981"/>
                </a:cubicBezTo>
                <a:lnTo>
                  <a:pt x="337608" y="40481"/>
                </a:lnTo>
                <a:cubicBezTo>
                  <a:pt x="341930" y="23614"/>
                  <a:pt x="333199" y="6052"/>
                  <a:pt x="318206" y="1191"/>
                </a:cubicBezTo>
                <a:close/>
                <a:moveTo>
                  <a:pt x="375179" y="136227"/>
                </a:moveTo>
                <a:cubicBezTo>
                  <a:pt x="364155" y="148630"/>
                  <a:pt x="364155" y="168771"/>
                  <a:pt x="375179" y="181173"/>
                </a:cubicBezTo>
                <a:lnTo>
                  <a:pt x="439914" y="254000"/>
                </a:lnTo>
                <a:lnTo>
                  <a:pt x="375179" y="326827"/>
                </a:lnTo>
                <a:cubicBezTo>
                  <a:pt x="364155" y="339229"/>
                  <a:pt x="364155" y="359370"/>
                  <a:pt x="375179" y="371773"/>
                </a:cubicBezTo>
                <a:cubicBezTo>
                  <a:pt x="386203" y="384175"/>
                  <a:pt x="404107" y="384175"/>
                  <a:pt x="415131" y="371773"/>
                </a:cubicBezTo>
                <a:lnTo>
                  <a:pt x="499798" y="276523"/>
                </a:lnTo>
                <a:cubicBezTo>
                  <a:pt x="510822" y="264120"/>
                  <a:pt x="510822" y="243979"/>
                  <a:pt x="499798" y="231577"/>
                </a:cubicBezTo>
                <a:lnTo>
                  <a:pt x="415131" y="136327"/>
                </a:lnTo>
                <a:cubicBezTo>
                  <a:pt x="404107" y="123924"/>
                  <a:pt x="386203" y="123924"/>
                  <a:pt x="375179" y="136327"/>
                </a:cubicBezTo>
                <a:close/>
                <a:moveTo>
                  <a:pt x="132909" y="136227"/>
                </a:moveTo>
                <a:cubicBezTo>
                  <a:pt x="121885" y="123825"/>
                  <a:pt x="103981" y="123825"/>
                  <a:pt x="92957" y="136227"/>
                </a:cubicBezTo>
                <a:lnTo>
                  <a:pt x="8290" y="231477"/>
                </a:lnTo>
                <a:cubicBezTo>
                  <a:pt x="-2734" y="243880"/>
                  <a:pt x="-2734" y="264021"/>
                  <a:pt x="8290" y="276423"/>
                </a:cubicBezTo>
                <a:lnTo>
                  <a:pt x="92957" y="371673"/>
                </a:lnTo>
                <a:cubicBezTo>
                  <a:pt x="103981" y="384076"/>
                  <a:pt x="121885" y="384076"/>
                  <a:pt x="132909" y="371673"/>
                </a:cubicBezTo>
                <a:cubicBezTo>
                  <a:pt x="143933" y="359271"/>
                  <a:pt x="143933" y="339130"/>
                  <a:pt x="132909" y="326727"/>
                </a:cubicBezTo>
                <a:lnTo>
                  <a:pt x="68174" y="254000"/>
                </a:lnTo>
                <a:lnTo>
                  <a:pt x="132821" y="181173"/>
                </a:lnTo>
                <a:cubicBezTo>
                  <a:pt x="143845" y="168771"/>
                  <a:pt x="143845" y="148630"/>
                  <a:pt x="132821" y="136227"/>
                </a:cubicBezTo>
                <a:close/>
              </a:path>
            </a:pathLst>
          </a:custGeom>
          <a:solidFill>
            <a:srgbClr val="C81E1E"/>
          </a:solidFill>
          <a:ln/>
        </p:spPr>
      </p:sp>
      <p:sp>
        <p:nvSpPr>
          <p:cNvPr id="17" name="Text 15"/>
          <p:cNvSpPr/>
          <p:nvPr/>
        </p:nvSpPr>
        <p:spPr>
          <a:xfrm>
            <a:off x="12750800" y="6096000"/>
            <a:ext cx="4368800" cy="457200"/>
          </a:xfrm>
          <a:prstGeom prst="rect">
            <a:avLst/>
          </a:prstGeom>
          <a:noFill/>
          <a:ln/>
        </p:spPr>
        <p:txBody>
          <a:bodyPr wrap="none" lIns="0" tIns="0" rIns="0" bIns="0" rtlCol="0" anchor="ctr"/>
          <a:lstStyle/>
          <a:p>
            <a:pPr algn="l">
              <a:lnSpc>
                <a:spcPct val="120000"/>
              </a:lnSpc>
            </a:pPr>
            <a:r>
              <a:rPr lang="en-US" sz="2400" b="1" dirty="0">
                <a:solidFill>
                  <a:srgbClr val="E8DCC8"/>
                </a:solidFill>
                <a:latin typeface="Quattrocento Sans" pitchFamily="34" charset="0"/>
                <a:ea typeface="Quattrocento Sans" pitchFamily="34" charset="-122"/>
                <a:cs typeface="Quattrocento Sans" pitchFamily="34" charset="-120"/>
              </a:rPr>
              <a:t>Python Scripting Required</a:t>
            </a:r>
            <a:endParaRPr lang="en-US" sz="2400" dirty="0"/>
          </a:p>
        </p:txBody>
      </p:sp>
      <p:sp>
        <p:nvSpPr>
          <p:cNvPr id="18" name="Text 16"/>
          <p:cNvSpPr/>
          <p:nvPr/>
        </p:nvSpPr>
        <p:spPr>
          <a:xfrm>
            <a:off x="12750800" y="6654800"/>
            <a:ext cx="4368800" cy="1524000"/>
          </a:xfrm>
          <a:prstGeom prst="rect">
            <a:avLst/>
          </a:prstGeom>
          <a:noFill/>
          <a:ln/>
        </p:spPr>
        <p:txBody>
          <a:bodyPr wrap="square" lIns="0" tIns="0" rIns="0" bIns="0" rtlCol="0" anchor="t"/>
          <a:lstStyle/>
          <a:p>
            <a:pPr algn="l">
              <a:lnSpc>
                <a:spcPct val="150000"/>
              </a:lnSpc>
            </a:pPr>
            <a:r>
              <a:rPr lang="en-US" sz="1800" dirty="0">
                <a:solidFill>
                  <a:srgbClr val="6B5B4E"/>
                </a:solidFill>
                <a:latin typeface="Quattrocento Sans" pitchFamily="34" charset="0"/>
                <a:ea typeface="Quattrocento Sans" pitchFamily="34" charset="-122"/>
                <a:cs typeface="Quattrocento Sans" pitchFamily="34" charset="-120"/>
              </a:rPr>
              <a:t>Engineering team dependency for even simple dataset preparation tasks.</a:t>
            </a:r>
            <a:endParaRPr lang="en-US" sz="1800" dirty="0"/>
          </a:p>
        </p:txBody>
      </p:sp>
      <p:sp>
        <p:nvSpPr>
          <p:cNvPr id="19" name="Shape 17"/>
          <p:cNvSpPr/>
          <p:nvPr/>
        </p:nvSpPr>
        <p:spPr>
          <a:xfrm>
            <a:off x="17830800" y="5080000"/>
            <a:ext cx="5181600" cy="3302000"/>
          </a:xfrm>
          <a:prstGeom prst="rect">
            <a:avLst/>
          </a:prstGeom>
          <a:solidFill>
            <a:srgbClr val="1A1212"/>
          </a:solidFill>
          <a:ln w="12700">
            <a:solidFill>
              <a:srgbClr val="3D2A2A"/>
            </a:solidFill>
            <a:prstDash val="solid"/>
          </a:ln>
        </p:spPr>
      </p:sp>
      <p:sp>
        <p:nvSpPr>
          <p:cNvPr id="20" name="Shape 18"/>
          <p:cNvSpPr/>
          <p:nvPr/>
        </p:nvSpPr>
        <p:spPr>
          <a:xfrm>
            <a:off x="18237200" y="5384800"/>
            <a:ext cx="508000" cy="508000"/>
          </a:xfrm>
          <a:custGeom>
            <a:avLst/>
            <a:gdLst/>
            <a:ahLst/>
            <a:cxnLst/>
            <a:rect l="l" t="t" r="r" b="b"/>
            <a:pathLst>
              <a:path w="508000" h="508000">
                <a:moveTo>
                  <a:pt x="127000" y="476250"/>
                </a:moveTo>
                <a:cubicBezTo>
                  <a:pt x="56885" y="476250"/>
                  <a:pt x="0" y="412254"/>
                  <a:pt x="0" y="333375"/>
                </a:cubicBezTo>
                <a:cubicBezTo>
                  <a:pt x="0" y="270470"/>
                  <a:pt x="36160" y="217091"/>
                  <a:pt x="86342" y="197941"/>
                </a:cubicBezTo>
                <a:cubicBezTo>
                  <a:pt x="85196" y="190302"/>
                  <a:pt x="84667" y="182563"/>
                  <a:pt x="84667" y="174625"/>
                </a:cubicBezTo>
                <a:cubicBezTo>
                  <a:pt x="84667" y="95746"/>
                  <a:pt x="141552" y="31750"/>
                  <a:pt x="211667" y="31750"/>
                </a:cubicBezTo>
                <a:cubicBezTo>
                  <a:pt x="260526" y="31750"/>
                  <a:pt x="302948" y="62805"/>
                  <a:pt x="324203" y="108248"/>
                </a:cubicBezTo>
                <a:cubicBezTo>
                  <a:pt x="336726" y="100013"/>
                  <a:pt x="351367" y="95250"/>
                  <a:pt x="366889" y="95250"/>
                </a:cubicBezTo>
                <a:cubicBezTo>
                  <a:pt x="413632" y="95250"/>
                  <a:pt x="451556" y="137914"/>
                  <a:pt x="451556" y="190500"/>
                </a:cubicBezTo>
                <a:cubicBezTo>
                  <a:pt x="451556" y="206077"/>
                  <a:pt x="448204" y="220861"/>
                  <a:pt x="442295" y="233859"/>
                </a:cubicBezTo>
                <a:cubicBezTo>
                  <a:pt x="481101" y="254000"/>
                  <a:pt x="508000" y="298053"/>
                  <a:pt x="508000" y="349250"/>
                </a:cubicBezTo>
                <a:cubicBezTo>
                  <a:pt x="508000" y="419398"/>
                  <a:pt x="457465" y="476250"/>
                  <a:pt x="395111" y="476250"/>
                </a:cubicBezTo>
                <a:lnTo>
                  <a:pt x="127000" y="476250"/>
                </a:lnTo>
                <a:close/>
                <a:moveTo>
                  <a:pt x="268993" y="189508"/>
                </a:moveTo>
                <a:cubicBezTo>
                  <a:pt x="260703" y="180181"/>
                  <a:pt x="247297" y="180181"/>
                  <a:pt x="239095" y="189508"/>
                </a:cubicBezTo>
                <a:lnTo>
                  <a:pt x="175595" y="260945"/>
                </a:lnTo>
                <a:cubicBezTo>
                  <a:pt x="167305" y="270272"/>
                  <a:pt x="167305" y="285353"/>
                  <a:pt x="175595" y="294580"/>
                </a:cubicBezTo>
                <a:cubicBezTo>
                  <a:pt x="183885" y="303808"/>
                  <a:pt x="197291" y="303907"/>
                  <a:pt x="205493" y="294580"/>
                </a:cubicBezTo>
                <a:lnTo>
                  <a:pt x="232833" y="263823"/>
                </a:lnTo>
                <a:lnTo>
                  <a:pt x="232833" y="365125"/>
                </a:lnTo>
                <a:cubicBezTo>
                  <a:pt x="232833" y="378321"/>
                  <a:pt x="242270" y="388938"/>
                  <a:pt x="254000" y="388938"/>
                </a:cubicBezTo>
                <a:cubicBezTo>
                  <a:pt x="265730" y="388938"/>
                  <a:pt x="275167" y="378321"/>
                  <a:pt x="275167" y="365125"/>
                </a:cubicBezTo>
                <a:lnTo>
                  <a:pt x="275167" y="263823"/>
                </a:lnTo>
                <a:lnTo>
                  <a:pt x="302507" y="294580"/>
                </a:lnTo>
                <a:cubicBezTo>
                  <a:pt x="310797" y="303907"/>
                  <a:pt x="324203" y="303907"/>
                  <a:pt x="332405" y="294580"/>
                </a:cubicBezTo>
                <a:cubicBezTo>
                  <a:pt x="340607" y="285254"/>
                  <a:pt x="340695" y="270173"/>
                  <a:pt x="332405" y="260945"/>
                </a:cubicBezTo>
                <a:lnTo>
                  <a:pt x="268905" y="189508"/>
                </a:lnTo>
                <a:close/>
              </a:path>
            </a:pathLst>
          </a:custGeom>
          <a:solidFill>
            <a:srgbClr val="C81E1E"/>
          </a:solidFill>
          <a:ln/>
        </p:spPr>
      </p:sp>
      <p:sp>
        <p:nvSpPr>
          <p:cNvPr id="21" name="Text 19"/>
          <p:cNvSpPr/>
          <p:nvPr/>
        </p:nvSpPr>
        <p:spPr>
          <a:xfrm>
            <a:off x="18237200" y="6096000"/>
            <a:ext cx="4368800" cy="457200"/>
          </a:xfrm>
          <a:prstGeom prst="rect">
            <a:avLst/>
          </a:prstGeom>
          <a:noFill/>
          <a:ln/>
        </p:spPr>
        <p:txBody>
          <a:bodyPr wrap="none" lIns="0" tIns="0" rIns="0" bIns="0" rtlCol="0" anchor="ctr"/>
          <a:lstStyle/>
          <a:p>
            <a:pPr algn="l">
              <a:lnSpc>
                <a:spcPct val="120000"/>
              </a:lnSpc>
            </a:pPr>
            <a:r>
              <a:rPr lang="en-US" sz="2400" b="1" dirty="0">
                <a:solidFill>
                  <a:srgbClr val="E8DCC8"/>
                </a:solidFill>
                <a:latin typeface="Quattrocento Sans" pitchFamily="34" charset="0"/>
                <a:ea typeface="Quattrocento Sans" pitchFamily="34" charset="-122"/>
                <a:cs typeface="Quattrocento Sans" pitchFamily="34" charset="-120"/>
              </a:rPr>
              <a:t>Privacy &amp; Cost Barriers</a:t>
            </a:r>
            <a:endParaRPr lang="en-US" sz="2400" dirty="0"/>
          </a:p>
        </p:txBody>
      </p:sp>
      <p:sp>
        <p:nvSpPr>
          <p:cNvPr id="22" name="Text 20"/>
          <p:cNvSpPr/>
          <p:nvPr/>
        </p:nvSpPr>
        <p:spPr>
          <a:xfrm>
            <a:off x="18237200" y="6654800"/>
            <a:ext cx="4368800" cy="1524000"/>
          </a:xfrm>
          <a:prstGeom prst="rect">
            <a:avLst/>
          </a:prstGeom>
          <a:noFill/>
          <a:ln/>
        </p:spPr>
        <p:txBody>
          <a:bodyPr wrap="square" lIns="0" tIns="0" rIns="0" bIns="0" rtlCol="0" anchor="t"/>
          <a:lstStyle/>
          <a:p>
            <a:pPr algn="l">
              <a:lnSpc>
                <a:spcPct val="150000"/>
              </a:lnSpc>
            </a:pPr>
            <a:r>
              <a:rPr lang="en-US" sz="1800" dirty="0">
                <a:solidFill>
                  <a:srgbClr val="6B5B4E"/>
                </a:solidFill>
                <a:latin typeface="Quattrocento Sans" pitchFamily="34" charset="0"/>
                <a:ea typeface="Quattrocento Sans" pitchFamily="34" charset="-122"/>
                <a:cs typeface="Quattrocento Sans" pitchFamily="34" charset="-120"/>
              </a:rPr>
              <a:t>Cloud services expose sensitive data. Enterprise tools carry prohibitive licensing costs.</a:t>
            </a:r>
            <a:endParaRPr lang="en-US" sz="1800" dirty="0"/>
          </a:p>
        </p:txBody>
      </p:sp>
      <p:sp>
        <p:nvSpPr>
          <p:cNvPr id="23" name="Shape 21"/>
          <p:cNvSpPr/>
          <p:nvPr/>
        </p:nvSpPr>
        <p:spPr>
          <a:xfrm>
            <a:off x="1371600" y="8890000"/>
            <a:ext cx="21640800" cy="3048000"/>
          </a:xfrm>
          <a:prstGeom prst="rect">
            <a:avLst/>
          </a:prstGeom>
          <a:solidFill>
            <a:srgbClr val="C81E1E"/>
          </a:solidFill>
          <a:ln/>
        </p:spPr>
      </p:sp>
      <p:sp>
        <p:nvSpPr>
          <p:cNvPr id="24" name="Text 22"/>
          <p:cNvSpPr/>
          <p:nvPr/>
        </p:nvSpPr>
        <p:spPr>
          <a:xfrm>
            <a:off x="1778000" y="9144000"/>
            <a:ext cx="20828000" cy="2540000"/>
          </a:xfrm>
          <a:prstGeom prst="rect">
            <a:avLst/>
          </a:prstGeom>
          <a:noFill/>
          <a:ln/>
        </p:spPr>
        <p:txBody>
          <a:bodyPr wrap="square" lIns="0" tIns="0" rIns="0" bIns="0" rtlCol="0" anchor="ctr"/>
          <a:lstStyle/>
          <a:p>
            <a:pPr algn="ctr">
              <a:lnSpc>
                <a:spcPct val="140000"/>
              </a:lnSpc>
            </a:pPr>
            <a:r>
              <a:rPr lang="en-US" sz="3200" dirty="0">
                <a:solidFill>
                  <a:srgbClr val="E8DCC8"/>
                </a:solidFill>
                <a:latin typeface="Cinzel" pitchFamily="34" charset="0"/>
                <a:ea typeface="Cinzel" pitchFamily="34" charset="-122"/>
                <a:cs typeface="Cinzel" pitchFamily="34" charset="-120"/>
              </a:rPr>
              <a:t>Dataset generation should not require</a:t>
            </a:r>
            <a:endParaRPr lang="en-US" sz="3200" dirty="0"/>
          </a:p>
          <a:p>
            <a:pPr algn="ctr">
              <a:lnSpc>
                <a:spcPct val="140000"/>
              </a:lnSpc>
            </a:pPr>
            <a:r>
              <a:rPr lang="en-US" sz="3200" dirty="0">
                <a:solidFill>
                  <a:srgbClr val="E8DCC8"/>
                </a:solidFill>
                <a:latin typeface="Cinzel" pitchFamily="34" charset="0"/>
                <a:ea typeface="Cinzel" pitchFamily="34" charset="-122"/>
                <a:cs typeface="Cinzel" pitchFamily="34" charset="-120"/>
              </a:rPr>
              <a:t>a software engineering team.</a:t>
            </a:r>
            <a:endParaRPr lang="en-US" sz="32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21640800" cy="1778000"/>
          </a:xfrm>
          <a:prstGeom prst="rect">
            <a:avLst/>
          </a:prstGeom>
          <a:noFill/>
          <a:ln/>
        </p:spPr>
        <p:txBody>
          <a:bodyPr wrap="square" lIns="0" tIns="0" rIns="0" bIns="0" rtlCol="0" anchor="t"/>
          <a:lstStyle/>
          <a:p>
            <a:pPr algn="l">
              <a:lnSpc>
                <a:spcPct val="110000"/>
              </a:lnSpc>
            </a:pPr>
            <a:r>
              <a:rPr lang="en-US" sz="9000" dirty="0">
                <a:solidFill>
                  <a:srgbClr val="E8DCC8"/>
                </a:solidFill>
                <a:latin typeface="Cinzel" pitchFamily="34" charset="0"/>
                <a:ea typeface="Cinzel" pitchFamily="34" charset="-122"/>
                <a:cs typeface="Cinzel" pitchFamily="34" charset="-120"/>
              </a:rPr>
              <a:t>BROWSER-NATIVE </a:t>
            </a:r>
            <a:pPr algn="l">
              <a:lnSpc>
                <a:spcPct val="110000"/>
              </a:lnSpc>
            </a:pPr>
            <a:r>
              <a:rPr lang="en-US" sz="9000" dirty="0">
                <a:solidFill>
                  <a:srgbClr val="C81E1E"/>
                </a:solidFill>
                <a:latin typeface="Cinzel" pitchFamily="34" charset="0"/>
                <a:ea typeface="Cinzel" pitchFamily="34" charset="-122"/>
                <a:cs typeface="Cinzel" pitchFamily="34" charset="-120"/>
              </a:rPr>
              <a:t>GENERATION</a:t>
            </a:r>
            <a:endParaRPr lang="en-US" sz="9000" dirty="0"/>
          </a:p>
        </p:txBody>
      </p:sp>
      <p:sp>
        <p:nvSpPr>
          <p:cNvPr id="7" name="Shape 5"/>
          <p:cNvSpPr/>
          <p:nvPr/>
        </p:nvSpPr>
        <p:spPr>
          <a:xfrm>
            <a:off x="1371600" y="5080000"/>
            <a:ext cx="3810000" cy="1270000"/>
          </a:xfrm>
          <a:prstGeom prst="rect">
            <a:avLst/>
          </a:prstGeom>
          <a:solidFill>
            <a:srgbClr val="C81E1E"/>
          </a:solidFill>
          <a:ln/>
        </p:spPr>
      </p:sp>
      <p:sp>
        <p:nvSpPr>
          <p:cNvPr id="8" name="Text 6"/>
          <p:cNvSpPr/>
          <p:nvPr/>
        </p:nvSpPr>
        <p:spPr>
          <a:xfrm>
            <a:off x="1371600" y="5080000"/>
            <a:ext cx="3810000" cy="1270000"/>
          </a:xfrm>
          <a:prstGeom prst="rect">
            <a:avLst/>
          </a:prstGeom>
          <a:noFill/>
          <a:ln/>
        </p:spPr>
        <p:txBody>
          <a:bodyPr wrap="none" lIns="0" tIns="0" rIns="0" bIns="0" rtlCol="0" anchor="ctr"/>
          <a:lstStyle/>
          <a:p>
            <a:pPr algn="ctr">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VIDEO</a:t>
            </a:r>
            <a:endParaRPr lang="en-US" sz="2200" dirty="0"/>
          </a:p>
        </p:txBody>
      </p:sp>
      <p:sp>
        <p:nvSpPr>
          <p:cNvPr id="9" name="Shape 7"/>
          <p:cNvSpPr/>
          <p:nvPr/>
        </p:nvSpPr>
        <p:spPr>
          <a:xfrm>
            <a:off x="5181600" y="5588000"/>
            <a:ext cx="762000" cy="0"/>
          </a:xfrm>
          <a:prstGeom prst="straightConnector1">
            <a:avLst/>
          </a:prstGeom>
          <a:noFill/>
          <a:ln w="25400">
            <a:solidFill>
              <a:srgbClr val="CD7F32"/>
            </a:solidFill>
            <a:prstDash val="solid"/>
            <a:headEnd type="none"/>
            <a:tailEnd type="arrow"/>
          </a:ln>
        </p:spPr>
      </p:sp>
      <p:sp>
        <p:nvSpPr>
          <p:cNvPr id="10" name="Shape 8"/>
          <p:cNvSpPr/>
          <p:nvPr/>
        </p:nvSpPr>
        <p:spPr>
          <a:xfrm>
            <a:off x="5943600" y="5080000"/>
            <a:ext cx="3810000" cy="1270000"/>
          </a:xfrm>
          <a:prstGeom prst="rect">
            <a:avLst/>
          </a:prstGeom>
          <a:solidFill>
            <a:srgbClr val="9B1C1C"/>
          </a:solidFill>
          <a:ln/>
        </p:spPr>
      </p:sp>
      <p:sp>
        <p:nvSpPr>
          <p:cNvPr id="11" name="Text 9"/>
          <p:cNvSpPr/>
          <p:nvPr/>
        </p:nvSpPr>
        <p:spPr>
          <a:xfrm>
            <a:off x="5943600" y="5080000"/>
            <a:ext cx="3810000" cy="1270000"/>
          </a:xfrm>
          <a:prstGeom prst="rect">
            <a:avLst/>
          </a:prstGeom>
          <a:noFill/>
          <a:ln/>
        </p:spPr>
        <p:txBody>
          <a:bodyPr wrap="none" lIns="0" tIns="0" rIns="0" bIns="0" rtlCol="0" anchor="ctr"/>
          <a:lstStyle/>
          <a:p>
            <a:pPr algn="ctr">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SEGMENTATION</a:t>
            </a:r>
            <a:endParaRPr lang="en-US" sz="2200" dirty="0"/>
          </a:p>
        </p:txBody>
      </p:sp>
      <p:sp>
        <p:nvSpPr>
          <p:cNvPr id="12" name="Shape 10"/>
          <p:cNvSpPr/>
          <p:nvPr/>
        </p:nvSpPr>
        <p:spPr>
          <a:xfrm>
            <a:off x="9753600" y="5588000"/>
            <a:ext cx="762000" cy="0"/>
          </a:xfrm>
          <a:prstGeom prst="straightConnector1">
            <a:avLst/>
          </a:prstGeom>
          <a:noFill/>
          <a:ln w="25400">
            <a:solidFill>
              <a:srgbClr val="CD7F32"/>
            </a:solidFill>
            <a:prstDash val="solid"/>
            <a:headEnd type="none"/>
            <a:tailEnd type="arrow"/>
          </a:ln>
        </p:spPr>
      </p:sp>
      <p:sp>
        <p:nvSpPr>
          <p:cNvPr id="13" name="Shape 11"/>
          <p:cNvSpPr/>
          <p:nvPr/>
        </p:nvSpPr>
        <p:spPr>
          <a:xfrm>
            <a:off x="10515600" y="5080000"/>
            <a:ext cx="3810000" cy="1270000"/>
          </a:xfrm>
          <a:prstGeom prst="rect">
            <a:avLst/>
          </a:prstGeom>
          <a:solidFill>
            <a:srgbClr val="C81E1E"/>
          </a:solidFill>
          <a:ln/>
        </p:spPr>
      </p:sp>
      <p:sp>
        <p:nvSpPr>
          <p:cNvPr id="14" name="Text 12"/>
          <p:cNvSpPr/>
          <p:nvPr/>
        </p:nvSpPr>
        <p:spPr>
          <a:xfrm>
            <a:off x="10515600" y="5080000"/>
            <a:ext cx="3810000" cy="1270000"/>
          </a:xfrm>
          <a:prstGeom prst="rect">
            <a:avLst/>
          </a:prstGeom>
          <a:noFill/>
          <a:ln/>
        </p:spPr>
        <p:txBody>
          <a:bodyPr wrap="none" lIns="0" tIns="0" rIns="0" bIns="0" rtlCol="0" anchor="ctr"/>
          <a:lstStyle/>
          <a:p>
            <a:pPr algn="ctr">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FRAME EXTRACTION</a:t>
            </a:r>
            <a:endParaRPr lang="en-US" sz="2200" dirty="0"/>
          </a:p>
        </p:txBody>
      </p:sp>
      <p:sp>
        <p:nvSpPr>
          <p:cNvPr id="15" name="Shape 13"/>
          <p:cNvSpPr/>
          <p:nvPr/>
        </p:nvSpPr>
        <p:spPr>
          <a:xfrm>
            <a:off x="14325600" y="5588000"/>
            <a:ext cx="762000" cy="0"/>
          </a:xfrm>
          <a:prstGeom prst="straightConnector1">
            <a:avLst/>
          </a:prstGeom>
          <a:noFill/>
          <a:ln w="25400">
            <a:solidFill>
              <a:srgbClr val="CD7F32"/>
            </a:solidFill>
            <a:prstDash val="solid"/>
            <a:headEnd type="none"/>
            <a:tailEnd type="arrow"/>
          </a:ln>
        </p:spPr>
      </p:sp>
      <p:sp>
        <p:nvSpPr>
          <p:cNvPr id="16" name="Shape 14"/>
          <p:cNvSpPr/>
          <p:nvPr/>
        </p:nvSpPr>
        <p:spPr>
          <a:xfrm>
            <a:off x="15087600" y="5080000"/>
            <a:ext cx="3810000" cy="1270000"/>
          </a:xfrm>
          <a:prstGeom prst="rect">
            <a:avLst/>
          </a:prstGeom>
          <a:solidFill>
            <a:srgbClr val="9B1C1C"/>
          </a:solidFill>
          <a:ln/>
        </p:spPr>
      </p:sp>
      <p:sp>
        <p:nvSpPr>
          <p:cNvPr id="17" name="Text 15"/>
          <p:cNvSpPr/>
          <p:nvPr/>
        </p:nvSpPr>
        <p:spPr>
          <a:xfrm>
            <a:off x="15087600" y="5080000"/>
            <a:ext cx="3810000" cy="1270000"/>
          </a:xfrm>
          <a:prstGeom prst="rect">
            <a:avLst/>
          </a:prstGeom>
          <a:noFill/>
          <a:ln/>
        </p:spPr>
        <p:txBody>
          <a:bodyPr wrap="none" lIns="0" tIns="0" rIns="0" bIns="0" rtlCol="0" anchor="ctr"/>
          <a:lstStyle/>
          <a:p>
            <a:pPr algn="ctr">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DATASET ARCHIVE</a:t>
            </a:r>
            <a:endParaRPr lang="en-US" sz="2200" dirty="0"/>
          </a:p>
        </p:txBody>
      </p:sp>
      <p:sp>
        <p:nvSpPr>
          <p:cNvPr id="18" name="Shape 16"/>
          <p:cNvSpPr/>
          <p:nvPr/>
        </p:nvSpPr>
        <p:spPr>
          <a:xfrm>
            <a:off x="18897600" y="5588000"/>
            <a:ext cx="762000" cy="0"/>
          </a:xfrm>
          <a:prstGeom prst="straightConnector1">
            <a:avLst/>
          </a:prstGeom>
          <a:noFill/>
          <a:ln w="25400">
            <a:solidFill>
              <a:srgbClr val="CD7F32"/>
            </a:solidFill>
            <a:prstDash val="solid"/>
            <a:headEnd type="none"/>
            <a:tailEnd type="arrow"/>
          </a:ln>
        </p:spPr>
      </p:sp>
      <p:sp>
        <p:nvSpPr>
          <p:cNvPr id="19" name="Shape 17"/>
          <p:cNvSpPr/>
          <p:nvPr/>
        </p:nvSpPr>
        <p:spPr>
          <a:xfrm>
            <a:off x="19659600" y="5080000"/>
            <a:ext cx="3352800" cy="1270000"/>
          </a:xfrm>
          <a:prstGeom prst="rect">
            <a:avLst/>
          </a:prstGeom>
          <a:solidFill>
            <a:srgbClr val="CD7F32"/>
          </a:solidFill>
          <a:ln/>
        </p:spPr>
      </p:sp>
      <p:sp>
        <p:nvSpPr>
          <p:cNvPr id="20" name="Text 18"/>
          <p:cNvSpPr/>
          <p:nvPr/>
        </p:nvSpPr>
        <p:spPr>
          <a:xfrm>
            <a:off x="19659600" y="5080000"/>
            <a:ext cx="3352800" cy="1270000"/>
          </a:xfrm>
          <a:prstGeom prst="rect">
            <a:avLst/>
          </a:prstGeom>
          <a:noFill/>
          <a:ln/>
        </p:spPr>
        <p:txBody>
          <a:bodyPr wrap="none" lIns="0" tIns="0" rIns="0" bIns="0" rtlCol="0" anchor="ctr"/>
          <a:lstStyle/>
          <a:p>
            <a:pPr algn="ctr">
              <a:lnSpc>
                <a:spcPct val="120000"/>
              </a:lnSpc>
            </a:pPr>
            <a:r>
              <a:rPr lang="en-US" sz="2200" b="1" dirty="0">
                <a:solidFill>
                  <a:srgbClr val="1A0A0A"/>
                </a:solidFill>
                <a:latin typeface="Quattrocento Sans" pitchFamily="34" charset="0"/>
                <a:ea typeface="Quattrocento Sans" pitchFamily="34" charset="-122"/>
                <a:cs typeface="Quattrocento Sans" pitchFamily="34" charset="-120"/>
              </a:rPr>
              <a:t>ML READY</a:t>
            </a:r>
            <a:endParaRPr lang="en-US" sz="2200" dirty="0"/>
          </a:p>
        </p:txBody>
      </p:sp>
      <p:sp>
        <p:nvSpPr>
          <p:cNvPr id="21" name="Text 19"/>
          <p:cNvSpPr/>
          <p:nvPr/>
        </p:nvSpPr>
        <p:spPr>
          <a:xfrm>
            <a:off x="1371600" y="6858000"/>
            <a:ext cx="5080000" cy="508000"/>
          </a:xfrm>
          <a:prstGeom prst="rect">
            <a:avLst/>
          </a:prstGeom>
          <a:noFill/>
          <a:ln/>
        </p:spPr>
        <p:txBody>
          <a:bodyPr wrap="none" lIns="0" tIns="0" rIns="0" bIns="0" rtlCol="0" anchor="ctr"/>
          <a:lstStyle/>
          <a:p>
            <a:pPr algn="l">
              <a:lnSpc>
                <a:spcPct val="120000"/>
              </a:lnSpc>
            </a:pPr>
            <a:r>
              <a:rPr lang="en-US" sz="1800" spc="400" kern="0" dirty="0">
                <a:solidFill>
                  <a:srgbClr val="CD7F32"/>
                </a:solidFill>
                <a:latin typeface="Quattrocento Sans" pitchFamily="34" charset="0"/>
                <a:ea typeface="Quattrocento Sans" pitchFamily="34" charset="-122"/>
                <a:cs typeface="Quattrocento Sans" pitchFamily="34" charset="-120"/>
              </a:rPr>
              <a:t>THE THREE ZEROS</a:t>
            </a:r>
            <a:endParaRPr lang="en-US" sz="1800" dirty="0"/>
          </a:p>
        </p:txBody>
      </p:sp>
      <p:sp>
        <p:nvSpPr>
          <p:cNvPr id="22" name="Shape 20"/>
          <p:cNvSpPr/>
          <p:nvPr/>
        </p:nvSpPr>
        <p:spPr>
          <a:xfrm>
            <a:off x="1371600" y="7620000"/>
            <a:ext cx="6908800" cy="1778000"/>
          </a:xfrm>
          <a:prstGeom prst="rect">
            <a:avLst/>
          </a:prstGeom>
          <a:solidFill>
            <a:srgbClr val="1A1212"/>
          </a:solidFill>
          <a:ln w="12700">
            <a:solidFill>
              <a:srgbClr val="3D2A2A"/>
            </a:solidFill>
            <a:prstDash val="solid"/>
          </a:ln>
        </p:spPr>
      </p:sp>
      <p:sp>
        <p:nvSpPr>
          <p:cNvPr id="23" name="Shape 21"/>
          <p:cNvSpPr/>
          <p:nvPr/>
        </p:nvSpPr>
        <p:spPr>
          <a:xfrm>
            <a:off x="1778000" y="8128000"/>
            <a:ext cx="609600" cy="609600"/>
          </a:xfrm>
          <a:custGeom>
            <a:avLst/>
            <a:gdLst/>
            <a:ahLst/>
            <a:cxnLst/>
            <a:rect l="l" t="t" r="r" b="b"/>
            <a:pathLst>
              <a:path w="609600" h="609600">
                <a:moveTo>
                  <a:pt x="121920" y="38100"/>
                </a:moveTo>
                <a:cubicBezTo>
                  <a:pt x="88297" y="38100"/>
                  <a:pt x="60960" y="72271"/>
                  <a:pt x="60960" y="114300"/>
                </a:cubicBezTo>
                <a:lnTo>
                  <a:pt x="60960" y="400050"/>
                </a:lnTo>
                <a:lnTo>
                  <a:pt x="121920" y="400050"/>
                </a:lnTo>
                <a:lnTo>
                  <a:pt x="121920" y="114300"/>
                </a:lnTo>
                <a:lnTo>
                  <a:pt x="487680" y="114300"/>
                </a:lnTo>
                <a:lnTo>
                  <a:pt x="487680" y="400050"/>
                </a:lnTo>
                <a:lnTo>
                  <a:pt x="548640" y="400050"/>
                </a:lnTo>
                <a:lnTo>
                  <a:pt x="548640" y="114300"/>
                </a:lnTo>
                <a:cubicBezTo>
                  <a:pt x="548640" y="72271"/>
                  <a:pt x="521303" y="38100"/>
                  <a:pt x="487680" y="38100"/>
                </a:cubicBezTo>
                <a:lnTo>
                  <a:pt x="121920" y="38100"/>
                </a:lnTo>
                <a:close/>
                <a:moveTo>
                  <a:pt x="18288" y="457200"/>
                </a:moveTo>
                <a:cubicBezTo>
                  <a:pt x="8191" y="457200"/>
                  <a:pt x="0" y="467439"/>
                  <a:pt x="0" y="480060"/>
                </a:cubicBezTo>
                <a:cubicBezTo>
                  <a:pt x="0" y="530543"/>
                  <a:pt x="32766" y="571500"/>
                  <a:pt x="73152" y="571500"/>
                </a:cubicBezTo>
                <a:lnTo>
                  <a:pt x="536448" y="571500"/>
                </a:lnTo>
                <a:cubicBezTo>
                  <a:pt x="576834" y="571500"/>
                  <a:pt x="609600" y="530543"/>
                  <a:pt x="609600" y="480060"/>
                </a:cubicBezTo>
                <a:cubicBezTo>
                  <a:pt x="609600" y="467439"/>
                  <a:pt x="601408" y="457200"/>
                  <a:pt x="591312" y="457200"/>
                </a:cubicBezTo>
                <a:lnTo>
                  <a:pt x="18288" y="457200"/>
                </a:lnTo>
                <a:close/>
              </a:path>
            </a:pathLst>
          </a:custGeom>
          <a:solidFill>
            <a:srgbClr val="C81E1E"/>
          </a:solidFill>
          <a:ln/>
        </p:spPr>
      </p:sp>
      <p:sp>
        <p:nvSpPr>
          <p:cNvPr id="24" name="Text 22"/>
          <p:cNvSpPr/>
          <p:nvPr/>
        </p:nvSpPr>
        <p:spPr>
          <a:xfrm>
            <a:off x="2667000" y="7874000"/>
            <a:ext cx="5334000" cy="1270000"/>
          </a:xfrm>
          <a:prstGeom prst="rect">
            <a:avLst/>
          </a:prstGeom>
          <a:noFill/>
          <a:ln/>
        </p:spPr>
        <p:txBody>
          <a:bodyPr wrap="square" lIns="0" tIns="0" rIns="0" bIns="0" rtlCol="0" anchor="ctr"/>
          <a:lstStyle/>
          <a:p>
            <a:pPr algn="l">
              <a:lnSpc>
                <a:spcPct val="140000"/>
              </a:lnSpc>
            </a:pPr>
            <a:r>
              <a:rPr lang="en-US" sz="2200" b="1" dirty="0">
                <a:solidFill>
                  <a:srgbClr val="E8DCC8"/>
                </a:solidFill>
                <a:latin typeface="Quattrocento Sans" pitchFamily="34" charset="0"/>
                <a:ea typeface="Quattrocento Sans" pitchFamily="34" charset="-122"/>
                <a:cs typeface="Quattrocento Sans" pitchFamily="34" charset="-120"/>
              </a:rPr>
              <a:t>Zero</a:t>
            </a:r>
            <a:pPr algn="l">
              <a:lnSpc>
                <a:spcPct val="140000"/>
              </a:lnSpc>
            </a:pPr>
            <a:r>
              <a:rPr lang="en-US" sz="2200" dirty="0">
                <a:solidFill>
                  <a:srgbClr val="E8DCC8"/>
                </a:solidFill>
                <a:latin typeface="Quattrocento Sans" pitchFamily="34" charset="0"/>
                <a:ea typeface="Quattrocento Sans" pitchFamily="34" charset="-122"/>
                <a:cs typeface="Quattrocento Sans" pitchFamily="34" charset="-120"/>
              </a:rPr>
              <a:t> Installation</a:t>
            </a:r>
            <a:endParaRPr lang="en-US" sz="2200" dirty="0"/>
          </a:p>
          <a:p>
            <a:pPr algn="l">
              <a:lnSpc>
                <a:spcPct val="140000"/>
              </a:lnSpc>
            </a:pPr>
            <a:r>
              <a:rPr lang="en-US" sz="1600" dirty="0">
                <a:solidFill>
                  <a:srgbClr val="6B5B4E"/>
                </a:solidFill>
                <a:latin typeface="Quattrocento Sans" pitchFamily="34" charset="0"/>
                <a:ea typeface="Quattrocento Sans" pitchFamily="34" charset="-122"/>
                <a:cs typeface="Quattrocento Sans" pitchFamily="34" charset="-120"/>
              </a:rPr>
              <a:t>Open the browser and begin</a:t>
            </a:r>
            <a:endParaRPr lang="en-US" sz="2200" dirty="0"/>
          </a:p>
        </p:txBody>
      </p:sp>
      <p:sp>
        <p:nvSpPr>
          <p:cNvPr id="25" name="Shape 23"/>
          <p:cNvSpPr/>
          <p:nvPr/>
        </p:nvSpPr>
        <p:spPr>
          <a:xfrm>
            <a:off x="8534400" y="7620000"/>
            <a:ext cx="6908800" cy="1778000"/>
          </a:xfrm>
          <a:prstGeom prst="rect">
            <a:avLst/>
          </a:prstGeom>
          <a:solidFill>
            <a:srgbClr val="1A1212"/>
          </a:solidFill>
          <a:ln w="12700">
            <a:solidFill>
              <a:srgbClr val="3D2A2A"/>
            </a:solidFill>
            <a:prstDash val="solid"/>
          </a:ln>
        </p:spPr>
      </p:sp>
      <p:sp>
        <p:nvSpPr>
          <p:cNvPr id="26" name="Shape 24"/>
          <p:cNvSpPr/>
          <p:nvPr/>
        </p:nvSpPr>
        <p:spPr>
          <a:xfrm>
            <a:off x="8940800" y="8128000"/>
            <a:ext cx="609600" cy="609600"/>
          </a:xfrm>
          <a:custGeom>
            <a:avLst/>
            <a:gdLst/>
            <a:ahLst/>
            <a:cxnLst/>
            <a:rect l="l" t="t" r="r" b="b"/>
            <a:pathLst>
              <a:path w="609600" h="609600">
                <a:moveTo>
                  <a:pt x="87086" y="38100"/>
                </a:moveTo>
                <a:cubicBezTo>
                  <a:pt x="39052" y="38100"/>
                  <a:pt x="0" y="72271"/>
                  <a:pt x="0" y="114300"/>
                </a:cubicBezTo>
                <a:lnTo>
                  <a:pt x="0" y="190500"/>
                </a:lnTo>
                <a:cubicBezTo>
                  <a:pt x="0" y="232529"/>
                  <a:pt x="39052" y="266700"/>
                  <a:pt x="87086" y="266700"/>
                </a:cubicBezTo>
                <a:lnTo>
                  <a:pt x="522514" y="266700"/>
                </a:lnTo>
                <a:cubicBezTo>
                  <a:pt x="570548" y="266700"/>
                  <a:pt x="609600" y="232529"/>
                  <a:pt x="609600" y="190500"/>
                </a:cubicBezTo>
                <a:lnTo>
                  <a:pt x="609600" y="114300"/>
                </a:lnTo>
                <a:cubicBezTo>
                  <a:pt x="609600" y="72271"/>
                  <a:pt x="570548" y="38100"/>
                  <a:pt x="522514" y="38100"/>
                </a:cubicBezTo>
                <a:lnTo>
                  <a:pt x="87086" y="38100"/>
                </a:lnTo>
                <a:close/>
                <a:moveTo>
                  <a:pt x="381000" y="123825"/>
                </a:moveTo>
                <a:cubicBezTo>
                  <a:pt x="399024" y="123825"/>
                  <a:pt x="413657" y="136629"/>
                  <a:pt x="413657" y="152400"/>
                </a:cubicBezTo>
                <a:cubicBezTo>
                  <a:pt x="413657" y="168171"/>
                  <a:pt x="399024" y="180975"/>
                  <a:pt x="381000" y="180975"/>
                </a:cubicBezTo>
                <a:cubicBezTo>
                  <a:pt x="362976" y="180975"/>
                  <a:pt x="348343" y="168171"/>
                  <a:pt x="348343" y="152400"/>
                </a:cubicBezTo>
                <a:cubicBezTo>
                  <a:pt x="348343" y="136629"/>
                  <a:pt x="362976" y="123825"/>
                  <a:pt x="381000" y="123825"/>
                </a:cubicBezTo>
                <a:close/>
                <a:moveTo>
                  <a:pt x="457200" y="152400"/>
                </a:moveTo>
                <a:cubicBezTo>
                  <a:pt x="457200" y="136629"/>
                  <a:pt x="471833" y="123825"/>
                  <a:pt x="489857" y="123825"/>
                </a:cubicBezTo>
                <a:cubicBezTo>
                  <a:pt x="507881" y="123825"/>
                  <a:pt x="522514" y="136629"/>
                  <a:pt x="522514" y="152400"/>
                </a:cubicBezTo>
                <a:cubicBezTo>
                  <a:pt x="522514" y="168171"/>
                  <a:pt x="507881" y="180975"/>
                  <a:pt x="489857" y="180975"/>
                </a:cubicBezTo>
                <a:cubicBezTo>
                  <a:pt x="471833" y="180975"/>
                  <a:pt x="457200" y="168171"/>
                  <a:pt x="457200" y="152400"/>
                </a:cubicBezTo>
                <a:close/>
                <a:moveTo>
                  <a:pt x="87086" y="342900"/>
                </a:moveTo>
                <a:cubicBezTo>
                  <a:pt x="39053" y="342900"/>
                  <a:pt x="0" y="377071"/>
                  <a:pt x="0" y="419100"/>
                </a:cubicBezTo>
                <a:lnTo>
                  <a:pt x="0" y="495300"/>
                </a:lnTo>
                <a:cubicBezTo>
                  <a:pt x="0" y="537329"/>
                  <a:pt x="39052" y="571500"/>
                  <a:pt x="87086" y="571500"/>
                </a:cubicBezTo>
                <a:lnTo>
                  <a:pt x="522514" y="571500"/>
                </a:lnTo>
                <a:cubicBezTo>
                  <a:pt x="570548" y="571500"/>
                  <a:pt x="609600" y="537329"/>
                  <a:pt x="609600" y="495300"/>
                </a:cubicBezTo>
                <a:lnTo>
                  <a:pt x="609600" y="419100"/>
                </a:lnTo>
                <a:cubicBezTo>
                  <a:pt x="609600" y="377071"/>
                  <a:pt x="570548" y="342900"/>
                  <a:pt x="522514" y="342900"/>
                </a:cubicBezTo>
                <a:lnTo>
                  <a:pt x="87086" y="342900"/>
                </a:lnTo>
                <a:close/>
                <a:moveTo>
                  <a:pt x="381000" y="428625"/>
                </a:moveTo>
                <a:cubicBezTo>
                  <a:pt x="399024" y="428625"/>
                  <a:pt x="413657" y="441429"/>
                  <a:pt x="413657" y="457200"/>
                </a:cubicBezTo>
                <a:cubicBezTo>
                  <a:pt x="413657" y="472971"/>
                  <a:pt x="399024" y="485775"/>
                  <a:pt x="381000" y="485775"/>
                </a:cubicBezTo>
                <a:cubicBezTo>
                  <a:pt x="362976" y="485775"/>
                  <a:pt x="348343" y="472971"/>
                  <a:pt x="348343" y="457200"/>
                </a:cubicBezTo>
                <a:cubicBezTo>
                  <a:pt x="348343" y="441429"/>
                  <a:pt x="362976" y="428625"/>
                  <a:pt x="381000" y="428625"/>
                </a:cubicBezTo>
                <a:close/>
                <a:moveTo>
                  <a:pt x="457200" y="457200"/>
                </a:moveTo>
                <a:cubicBezTo>
                  <a:pt x="457200" y="441429"/>
                  <a:pt x="471833" y="428625"/>
                  <a:pt x="489857" y="428625"/>
                </a:cubicBezTo>
                <a:cubicBezTo>
                  <a:pt x="507881" y="428625"/>
                  <a:pt x="522514" y="441429"/>
                  <a:pt x="522514" y="457200"/>
                </a:cubicBezTo>
                <a:cubicBezTo>
                  <a:pt x="522514" y="472971"/>
                  <a:pt x="507881" y="485775"/>
                  <a:pt x="489857" y="485775"/>
                </a:cubicBezTo>
                <a:cubicBezTo>
                  <a:pt x="471833" y="485775"/>
                  <a:pt x="457200" y="472971"/>
                  <a:pt x="457200" y="457200"/>
                </a:cubicBezTo>
                <a:close/>
              </a:path>
            </a:pathLst>
          </a:custGeom>
          <a:solidFill>
            <a:srgbClr val="C81E1E"/>
          </a:solidFill>
          <a:ln/>
        </p:spPr>
      </p:sp>
      <p:sp>
        <p:nvSpPr>
          <p:cNvPr id="27" name="Text 25"/>
          <p:cNvSpPr/>
          <p:nvPr/>
        </p:nvSpPr>
        <p:spPr>
          <a:xfrm>
            <a:off x="9829800" y="7874000"/>
            <a:ext cx="5334000" cy="1270000"/>
          </a:xfrm>
          <a:prstGeom prst="rect">
            <a:avLst/>
          </a:prstGeom>
          <a:noFill/>
          <a:ln/>
        </p:spPr>
        <p:txBody>
          <a:bodyPr wrap="square" lIns="0" tIns="0" rIns="0" bIns="0" rtlCol="0" anchor="ctr"/>
          <a:lstStyle/>
          <a:p>
            <a:pPr algn="l">
              <a:lnSpc>
                <a:spcPct val="140000"/>
              </a:lnSpc>
            </a:pPr>
            <a:r>
              <a:rPr lang="en-US" sz="2200" b="1" dirty="0">
                <a:solidFill>
                  <a:srgbClr val="E8DCC8"/>
                </a:solidFill>
                <a:latin typeface="Quattrocento Sans" pitchFamily="34" charset="0"/>
                <a:ea typeface="Quattrocento Sans" pitchFamily="34" charset="-122"/>
                <a:cs typeface="Quattrocento Sans" pitchFamily="34" charset="-120"/>
              </a:rPr>
              <a:t>Zero</a:t>
            </a:r>
            <a:pPr algn="l">
              <a:lnSpc>
                <a:spcPct val="140000"/>
              </a:lnSpc>
            </a:pPr>
            <a:r>
              <a:rPr lang="en-US" sz="2200" dirty="0">
                <a:solidFill>
                  <a:srgbClr val="E8DCC8"/>
                </a:solidFill>
                <a:latin typeface="Quattrocento Sans" pitchFamily="34" charset="0"/>
                <a:ea typeface="Quattrocento Sans" pitchFamily="34" charset="-122"/>
                <a:cs typeface="Quattrocento Sans" pitchFamily="34" charset="-120"/>
              </a:rPr>
              <a:t> Backend</a:t>
            </a:r>
            <a:endParaRPr lang="en-US" sz="2200" dirty="0"/>
          </a:p>
          <a:p>
            <a:pPr algn="l">
              <a:lnSpc>
                <a:spcPct val="140000"/>
              </a:lnSpc>
            </a:pPr>
            <a:r>
              <a:rPr lang="en-US" sz="1600" dirty="0">
                <a:solidFill>
                  <a:srgbClr val="6B5B4E"/>
                </a:solidFill>
                <a:latin typeface="Quattrocento Sans" pitchFamily="34" charset="0"/>
                <a:ea typeface="Quattrocento Sans" pitchFamily="34" charset="-122"/>
                <a:cs typeface="Quattrocento Sans" pitchFamily="34" charset="-120"/>
              </a:rPr>
              <a:t>No servers, no cloud dependency</a:t>
            </a:r>
            <a:endParaRPr lang="en-US" sz="2200" dirty="0"/>
          </a:p>
        </p:txBody>
      </p:sp>
      <p:sp>
        <p:nvSpPr>
          <p:cNvPr id="28" name="Shape 26"/>
          <p:cNvSpPr/>
          <p:nvPr/>
        </p:nvSpPr>
        <p:spPr>
          <a:xfrm>
            <a:off x="15697200" y="7620000"/>
            <a:ext cx="7315200" cy="1778000"/>
          </a:xfrm>
          <a:prstGeom prst="rect">
            <a:avLst/>
          </a:prstGeom>
          <a:solidFill>
            <a:srgbClr val="1A1212"/>
          </a:solidFill>
          <a:ln w="12700">
            <a:solidFill>
              <a:srgbClr val="3D2A2A"/>
            </a:solidFill>
            <a:prstDash val="solid"/>
          </a:ln>
        </p:spPr>
      </p:sp>
      <p:sp>
        <p:nvSpPr>
          <p:cNvPr id="29" name="Shape 27"/>
          <p:cNvSpPr/>
          <p:nvPr/>
        </p:nvSpPr>
        <p:spPr>
          <a:xfrm>
            <a:off x="16103600" y="8128000"/>
            <a:ext cx="609600" cy="609600"/>
          </a:xfrm>
          <a:custGeom>
            <a:avLst/>
            <a:gdLst/>
            <a:ahLst/>
            <a:cxnLst/>
            <a:rect l="l" t="t" r="r" b="b"/>
            <a:pathLst>
              <a:path w="609600" h="609600">
                <a:moveTo>
                  <a:pt x="203200" y="114300"/>
                </a:moveTo>
                <a:lnTo>
                  <a:pt x="203200" y="190500"/>
                </a:lnTo>
                <a:lnTo>
                  <a:pt x="406400" y="190500"/>
                </a:lnTo>
                <a:lnTo>
                  <a:pt x="406400" y="114300"/>
                </a:lnTo>
                <a:cubicBezTo>
                  <a:pt x="406400" y="72271"/>
                  <a:pt x="360839" y="38100"/>
                  <a:pt x="304800" y="38100"/>
                </a:cubicBezTo>
                <a:cubicBezTo>
                  <a:pt x="248761" y="38100"/>
                  <a:pt x="203200" y="72271"/>
                  <a:pt x="203200" y="114300"/>
                </a:cubicBezTo>
                <a:close/>
                <a:moveTo>
                  <a:pt x="101600" y="190500"/>
                </a:moveTo>
                <a:lnTo>
                  <a:pt x="101600" y="114300"/>
                </a:lnTo>
                <a:cubicBezTo>
                  <a:pt x="101600" y="30123"/>
                  <a:pt x="192564" y="-38100"/>
                  <a:pt x="304800" y="-38100"/>
                </a:cubicBezTo>
                <a:cubicBezTo>
                  <a:pt x="417036" y="-38100"/>
                  <a:pt x="508000" y="30123"/>
                  <a:pt x="508000" y="114300"/>
                </a:cubicBezTo>
                <a:lnTo>
                  <a:pt x="508000" y="190500"/>
                </a:lnTo>
                <a:cubicBezTo>
                  <a:pt x="564039" y="190500"/>
                  <a:pt x="609600" y="224671"/>
                  <a:pt x="609600" y="266700"/>
                </a:cubicBezTo>
                <a:lnTo>
                  <a:pt x="609600" y="533400"/>
                </a:lnTo>
                <a:cubicBezTo>
                  <a:pt x="609600" y="575429"/>
                  <a:pt x="564039" y="609600"/>
                  <a:pt x="508000" y="609600"/>
                </a:cubicBezTo>
                <a:lnTo>
                  <a:pt x="101600" y="609600"/>
                </a:lnTo>
                <a:cubicBezTo>
                  <a:pt x="45561" y="609600"/>
                  <a:pt x="0" y="575429"/>
                  <a:pt x="0" y="533400"/>
                </a:cubicBezTo>
                <a:lnTo>
                  <a:pt x="0" y="266700"/>
                </a:lnTo>
                <a:cubicBezTo>
                  <a:pt x="0" y="224671"/>
                  <a:pt x="45561" y="190500"/>
                  <a:pt x="101600" y="190500"/>
                </a:cubicBezTo>
                <a:close/>
              </a:path>
            </a:pathLst>
          </a:custGeom>
          <a:solidFill>
            <a:srgbClr val="C81E1E"/>
          </a:solidFill>
          <a:ln/>
        </p:spPr>
      </p:sp>
      <p:sp>
        <p:nvSpPr>
          <p:cNvPr id="30" name="Text 28"/>
          <p:cNvSpPr/>
          <p:nvPr/>
        </p:nvSpPr>
        <p:spPr>
          <a:xfrm>
            <a:off x="16992600" y="7874000"/>
            <a:ext cx="5740400" cy="1270000"/>
          </a:xfrm>
          <a:prstGeom prst="rect">
            <a:avLst/>
          </a:prstGeom>
          <a:noFill/>
          <a:ln/>
        </p:spPr>
        <p:txBody>
          <a:bodyPr wrap="square" lIns="0" tIns="0" rIns="0" bIns="0" rtlCol="0" anchor="ctr"/>
          <a:lstStyle/>
          <a:p>
            <a:pPr algn="l">
              <a:lnSpc>
                <a:spcPct val="140000"/>
              </a:lnSpc>
            </a:pPr>
            <a:r>
              <a:rPr lang="en-US" sz="2200" b="1" dirty="0">
                <a:solidFill>
                  <a:srgbClr val="E8DCC8"/>
                </a:solidFill>
                <a:latin typeface="Quattrocento Sans" pitchFamily="34" charset="0"/>
                <a:ea typeface="Quattrocento Sans" pitchFamily="34" charset="-122"/>
                <a:cs typeface="Quattrocento Sans" pitchFamily="34" charset="-120"/>
              </a:rPr>
              <a:t>Zero</a:t>
            </a:r>
            <a:pPr algn="l">
              <a:lnSpc>
                <a:spcPct val="140000"/>
              </a:lnSpc>
            </a:pPr>
            <a:r>
              <a:rPr lang="en-US" sz="2200" dirty="0">
                <a:solidFill>
                  <a:srgbClr val="E8DCC8"/>
                </a:solidFill>
                <a:latin typeface="Quattrocento Sans" pitchFamily="34" charset="0"/>
                <a:ea typeface="Quattrocento Sans" pitchFamily="34" charset="-122"/>
                <a:cs typeface="Quattrocento Sans" pitchFamily="34" charset="-120"/>
              </a:rPr>
              <a:t> Data Leakage</a:t>
            </a:r>
            <a:endParaRPr lang="en-US" sz="2200" dirty="0"/>
          </a:p>
          <a:p>
            <a:pPr algn="l">
              <a:lnSpc>
                <a:spcPct val="140000"/>
              </a:lnSpc>
            </a:pPr>
            <a:r>
              <a:rPr lang="en-US" sz="1600" dirty="0">
                <a:solidFill>
                  <a:srgbClr val="6B5B4E"/>
                </a:solidFill>
                <a:latin typeface="Quattrocento Sans" pitchFamily="34" charset="0"/>
                <a:ea typeface="Quattrocento Sans" pitchFamily="34" charset="-122"/>
                <a:cs typeface="Quattrocento Sans" pitchFamily="34" charset="-120"/>
              </a:rPr>
              <a:t>Your data never leaves the device</a:t>
            </a:r>
            <a:endParaRPr lang="en-US" sz="2200" dirty="0"/>
          </a:p>
        </p:txBody>
      </p:sp>
      <p:sp>
        <p:nvSpPr>
          <p:cNvPr id="31" name="Text 29"/>
          <p:cNvSpPr/>
          <p:nvPr/>
        </p:nvSpPr>
        <p:spPr>
          <a:xfrm>
            <a:off x="1371600" y="9906000"/>
            <a:ext cx="5080000" cy="508000"/>
          </a:xfrm>
          <a:prstGeom prst="rect">
            <a:avLst/>
          </a:prstGeom>
          <a:noFill/>
          <a:ln/>
        </p:spPr>
        <p:txBody>
          <a:bodyPr wrap="none" lIns="0" tIns="0" rIns="0" bIns="0" rtlCol="0" anchor="ctr"/>
          <a:lstStyle/>
          <a:p>
            <a:pPr algn="l">
              <a:lnSpc>
                <a:spcPct val="120000"/>
              </a:lnSpc>
            </a:pPr>
            <a:r>
              <a:rPr lang="en-US" sz="1800" spc="400" kern="0" dirty="0">
                <a:solidFill>
                  <a:srgbClr val="CD7F32"/>
                </a:solidFill>
                <a:latin typeface="Quattrocento Sans" pitchFamily="34" charset="0"/>
                <a:ea typeface="Quattrocento Sans" pitchFamily="34" charset="-122"/>
                <a:cs typeface="Quattrocento Sans" pitchFamily="34" charset="-120"/>
              </a:rPr>
              <a:t>CORE FEATURES</a:t>
            </a:r>
            <a:endParaRPr lang="en-US" sz="1800" dirty="0"/>
          </a:p>
        </p:txBody>
      </p:sp>
      <p:sp>
        <p:nvSpPr>
          <p:cNvPr id="32" name="Text 30"/>
          <p:cNvSpPr/>
          <p:nvPr/>
        </p:nvSpPr>
        <p:spPr>
          <a:xfrm>
            <a:off x="1371600" y="10541000"/>
            <a:ext cx="21640800" cy="1524000"/>
          </a:xfrm>
          <a:prstGeom prst="rect">
            <a:avLst/>
          </a:prstGeom>
          <a:noFill/>
          <a:ln/>
        </p:spPr>
        <p:txBody>
          <a:bodyPr wrap="square" lIns="0" tIns="0" rIns="0" bIns="0" rtlCol="0" anchor="t"/>
          <a:lstStyle/>
          <a:p>
            <a:pPr algn="l">
              <a:lnSpc>
                <a:spcPct val="180000"/>
              </a:lnSpc>
            </a:pPr>
            <a:r>
              <a:rPr lang="en-US" sz="20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Video Upload — Drag and drop any supported video format    </a:t>
            </a:r>
            <a:pPr algn="l">
              <a:lnSpc>
                <a:spcPct val="180000"/>
              </a:lnSpc>
            </a:pPr>
            <a:r>
              <a:rPr lang="en-US" sz="20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Frame Extraction — Precise interval-based capture    </a:t>
            </a:r>
            <a:pPr algn="l">
              <a:lnSpc>
                <a:spcPct val="180000"/>
              </a:lnSpc>
            </a:pPr>
            <a:r>
              <a:rPr lang="en-US" sz="20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Segment Processing — Time-based batch organization</a:t>
            </a:r>
            <a:endParaRPr lang="en-US" sz="2000" dirty="0"/>
          </a:p>
          <a:p>
            <a:pPr algn="l">
              <a:lnSpc>
                <a:spcPct val="180000"/>
              </a:lnSpc>
            </a:pPr>
            <a:r>
              <a:rPr lang="en-US" sz="20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Dataset Packaging — Automatic ZIP archive generation    </a:t>
            </a:r>
            <a:pPr algn="l">
              <a:lnSpc>
                <a:spcPct val="180000"/>
              </a:lnSpc>
            </a:pPr>
            <a:r>
              <a:rPr lang="en-US" sz="20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Manifest Generation — Structured JSON metadata    </a:t>
            </a:r>
            <a:pPr algn="l">
              <a:lnSpc>
                <a:spcPct val="180000"/>
              </a:lnSpc>
            </a:pPr>
            <a:r>
              <a:rPr lang="en-US" sz="20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Browser-Only — Everything runs client-side</a:t>
            </a:r>
            <a:endParaRPr lang="en-US" sz="20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21640800" cy="1778000"/>
          </a:xfrm>
          <a:prstGeom prst="rect">
            <a:avLst/>
          </a:prstGeom>
          <a:noFill/>
          <a:ln/>
        </p:spPr>
        <p:txBody>
          <a:bodyPr wrap="square" lIns="0" tIns="0" rIns="0" bIns="0" rtlCol="0" anchor="t"/>
          <a:lstStyle/>
          <a:p>
            <a:pPr algn="l">
              <a:lnSpc>
                <a:spcPct val="110000"/>
              </a:lnSpc>
            </a:pPr>
            <a:r>
              <a:rPr lang="en-US" sz="10000" dirty="0">
                <a:solidFill>
                  <a:srgbClr val="E8DCC8"/>
                </a:solidFill>
                <a:latin typeface="Cinzel" pitchFamily="34" charset="0"/>
                <a:ea typeface="Cinzel" pitchFamily="34" charset="-122"/>
                <a:cs typeface="Cinzel" pitchFamily="34" charset="-120"/>
              </a:rPr>
              <a:t>ENGINEERING THE </a:t>
            </a:r>
            <a:pPr algn="l">
              <a:lnSpc>
                <a:spcPct val="110000"/>
              </a:lnSpc>
            </a:pPr>
            <a:r>
              <a:rPr lang="en-US" sz="10000" dirty="0">
                <a:solidFill>
                  <a:srgbClr val="C81E1E"/>
                </a:solidFill>
                <a:latin typeface="Cinzel" pitchFamily="34" charset="0"/>
                <a:ea typeface="Cinzel" pitchFamily="34" charset="-122"/>
                <a:cs typeface="Cinzel" pitchFamily="34" charset="-120"/>
              </a:rPr>
              <a:t>BLOODLINE</a:t>
            </a:r>
            <a:endParaRPr lang="en-US" sz="10000" dirty="0"/>
          </a:p>
        </p:txBody>
      </p:sp>
      <p:sp>
        <p:nvSpPr>
          <p:cNvPr id="7" name="Text 5"/>
          <p:cNvSpPr/>
          <p:nvPr/>
        </p:nvSpPr>
        <p:spPr>
          <a:xfrm>
            <a:off x="1371600" y="4699000"/>
            <a:ext cx="10160000" cy="508000"/>
          </a:xfrm>
          <a:prstGeom prst="rect">
            <a:avLst/>
          </a:prstGeom>
          <a:noFill/>
          <a:ln/>
        </p:spPr>
        <p:txBody>
          <a:bodyPr wrap="none" lIns="0" tIns="0" rIns="0" bIns="0" rtlCol="0" anchor="ctr"/>
          <a:lstStyle/>
          <a:p>
            <a:pPr algn="l">
              <a:lnSpc>
                <a:spcPct val="120000"/>
              </a:lnSpc>
            </a:pPr>
            <a:r>
              <a:rPr lang="en-US" sz="2200" dirty="0">
                <a:solidFill>
                  <a:srgbClr val="6B5B4E"/>
                </a:solidFill>
                <a:latin typeface="Quattrocento Sans" pitchFamily="34" charset="0"/>
                <a:ea typeface="Quattrocento Sans" pitchFamily="34" charset="-122"/>
                <a:cs typeface="Quattrocento Sans" pitchFamily="34" charset="-120"/>
              </a:rPr>
              <a:t>Technology Stack — Modern Engineering Meets Timeless Design</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371600" y="5588000"/>
          <a:ext cx="13970000" cy="6223000"/>
        </p:xfrm>
        <a:graphic>
          <a:graphicData uri="http://schemas.openxmlformats.org/drawingml/2006/table">
            <a:tbl>
              <a:tblPr/>
              <a:tblGrid>
                <a:gridCol w="3492500"/>
                <a:gridCol w="4889500"/>
                <a:gridCol w="5588000"/>
              </a:tblGrid>
              <a:tr h="777875">
                <a:tc>
                  <a:txBody>
                    <a:bodyPr/>
                    <a:lstStyle/>
                    <a:p>
                      <a:pPr algn="ctr"/>
                      <a:r>
                        <a:rPr lang="en-US" sz="1800" b="1" dirty="0">
                          <a:solidFill>
                            <a:srgbClr val="E8DCC8"/>
                          </a:solidFill>
                          <a:latin typeface="Quattrocento Sans" pitchFamily="34" charset="0"/>
                          <a:ea typeface="Quattrocento Sans" pitchFamily="34" charset="-122"/>
                          <a:cs typeface="Quattrocento Sans" pitchFamily="34" charset="-120"/>
                        </a:rPr>
                        <a:t>Layer</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C81E1E"/>
                    </a:solidFill>
                  </a:tcPr>
                </a:tc>
                <a:tc>
                  <a:txBody>
                    <a:bodyPr/>
                    <a:lstStyle/>
                    <a:p>
                      <a:pPr algn="ctr"/>
                      <a:r>
                        <a:rPr lang="en-US" sz="1800" b="1" dirty="0">
                          <a:solidFill>
                            <a:srgbClr val="E8DCC8"/>
                          </a:solidFill>
                          <a:latin typeface="Quattrocento Sans" pitchFamily="34" charset="0"/>
                          <a:ea typeface="Quattrocento Sans" pitchFamily="34" charset="-122"/>
                          <a:cs typeface="Quattrocento Sans" pitchFamily="34" charset="-120"/>
                        </a:rPr>
                        <a:t>Technology</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C81E1E"/>
                    </a:solidFill>
                  </a:tcPr>
                </a:tc>
                <a:tc>
                  <a:txBody>
                    <a:bodyPr/>
                    <a:lstStyle/>
                    <a:p>
                      <a:pPr algn="ctr"/>
                      <a:r>
                        <a:rPr lang="en-US" sz="1800" b="1" dirty="0">
                          <a:solidFill>
                            <a:srgbClr val="E8DCC8"/>
                          </a:solidFill>
                          <a:latin typeface="Quattrocento Sans" pitchFamily="34" charset="0"/>
                          <a:ea typeface="Quattrocento Sans" pitchFamily="34" charset="-122"/>
                          <a:cs typeface="Quattrocento Sans" pitchFamily="34" charset="-120"/>
                        </a:rPr>
                        <a:t>Purpose</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C81E1E"/>
                    </a:solidFill>
                  </a:tcPr>
                </a:tc>
              </a:tr>
              <a:tr h="777875">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UI Framework</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c>
                  <a:txBody>
                    <a:bodyPr/>
                    <a:lstStyle/>
                    <a:p>
                      <a:pPr algn="ctr"/>
                      <a:r>
                        <a:rPr lang="en-US" sz="1800" dirty="0">
                          <a:solidFill>
                            <a:srgbClr val="CD7F32"/>
                          </a:solidFill>
                          <a:latin typeface="Quattrocento Sans" pitchFamily="34" charset="0"/>
                          <a:ea typeface="Quattrocento Sans" pitchFamily="34" charset="-122"/>
                          <a:cs typeface="Quattrocento Sans" pitchFamily="34" charset="-120"/>
                        </a:rPr>
                        <a:t>React</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Component-based user interface</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r>
              <a:tr h="777875">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Language</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0D0D0D"/>
                    </a:solidFill>
                  </a:tcPr>
                </a:tc>
                <a:tc>
                  <a:txBody>
                    <a:bodyPr/>
                    <a:lstStyle/>
                    <a:p>
                      <a:pPr algn="ctr"/>
                      <a:r>
                        <a:rPr lang="en-US" sz="1800" dirty="0">
                          <a:solidFill>
                            <a:srgbClr val="CD7F32"/>
                          </a:solidFill>
                          <a:latin typeface="Quattrocento Sans" pitchFamily="34" charset="0"/>
                          <a:ea typeface="Quattrocento Sans" pitchFamily="34" charset="-122"/>
                          <a:cs typeface="Quattrocento Sans" pitchFamily="34" charset="-120"/>
                        </a:rPr>
                        <a:t>TypeScript</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0D0D0D"/>
                    </a:solidFill>
                  </a:tcPr>
                </a:tc>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Type-safe development</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0D0D0D"/>
                    </a:solidFill>
                  </a:tcPr>
                </a:tc>
              </a:tr>
              <a:tr h="777875">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Build Tool</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c>
                  <a:txBody>
                    <a:bodyPr/>
                    <a:lstStyle/>
                    <a:p>
                      <a:pPr algn="ctr"/>
                      <a:r>
                        <a:rPr lang="en-US" sz="1800" dirty="0">
                          <a:solidFill>
                            <a:srgbClr val="CD7F32"/>
                          </a:solidFill>
                          <a:latin typeface="Quattrocento Sans" pitchFamily="34" charset="0"/>
                          <a:ea typeface="Quattrocento Sans" pitchFamily="34" charset="-122"/>
                          <a:cs typeface="Quattrocento Sans" pitchFamily="34" charset="-120"/>
                        </a:rPr>
                        <a:t>Vite</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Fast compilation and HMR</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r>
              <a:tr h="777875">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Styling</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0D0D0D"/>
                    </a:solidFill>
                  </a:tcPr>
                </a:tc>
                <a:tc>
                  <a:txBody>
                    <a:bodyPr/>
                    <a:lstStyle/>
                    <a:p>
                      <a:pPr algn="ctr"/>
                      <a:r>
                        <a:rPr lang="en-US" sz="1800" dirty="0">
                          <a:solidFill>
                            <a:srgbClr val="CD7F32"/>
                          </a:solidFill>
                          <a:latin typeface="Quattrocento Sans" pitchFamily="34" charset="0"/>
                          <a:ea typeface="Quattrocento Sans" pitchFamily="34" charset="-122"/>
                          <a:cs typeface="Quattrocento Sans" pitchFamily="34" charset="-120"/>
                        </a:rPr>
                        <a:t>Tailwind CSS</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0D0D0D"/>
                    </a:solidFill>
                  </a:tcPr>
                </a:tc>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Utility-first CSS framework</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0D0D0D"/>
                    </a:solidFill>
                  </a:tcPr>
                </a:tc>
              </a:tr>
              <a:tr h="777875">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Video Processing</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c>
                  <a:txBody>
                    <a:bodyPr/>
                    <a:lstStyle/>
                    <a:p>
                      <a:pPr algn="ctr"/>
                      <a:r>
                        <a:rPr lang="en-US" sz="1800" dirty="0">
                          <a:solidFill>
                            <a:srgbClr val="CD7F32"/>
                          </a:solidFill>
                          <a:latin typeface="Quattrocento Sans" pitchFamily="34" charset="0"/>
                          <a:ea typeface="Quattrocento Sans" pitchFamily="34" charset="-122"/>
                          <a:cs typeface="Quattrocento Sans" pitchFamily="34" charset="-120"/>
                        </a:rPr>
                        <a:t>HTML5 Video API</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Native browser video decoding</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r>
              <a:tr h="777875">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Frame Capture</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0D0D0D"/>
                    </a:solidFill>
                  </a:tcPr>
                </a:tc>
                <a:tc>
                  <a:txBody>
                    <a:bodyPr/>
                    <a:lstStyle/>
                    <a:p>
                      <a:pPr algn="ctr"/>
                      <a:r>
                        <a:rPr lang="en-US" sz="1800" dirty="0">
                          <a:solidFill>
                            <a:srgbClr val="CD7F32"/>
                          </a:solidFill>
                          <a:latin typeface="Quattrocento Sans" pitchFamily="34" charset="0"/>
                          <a:ea typeface="Quattrocento Sans" pitchFamily="34" charset="-122"/>
                          <a:cs typeface="Quattrocento Sans" pitchFamily="34" charset="-120"/>
                        </a:rPr>
                        <a:t>Canvas API</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0D0D0D"/>
                    </a:solidFill>
                  </a:tcPr>
                </a:tc>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Pixel-perfect frame extraction</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0D0D0D"/>
                    </a:solidFill>
                  </a:tcPr>
                </a:tc>
              </a:tr>
              <a:tr h="777875">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Packaging</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c>
                  <a:txBody>
                    <a:bodyPr/>
                    <a:lstStyle/>
                    <a:p>
                      <a:pPr algn="ctr"/>
                      <a:r>
                        <a:rPr lang="en-US" sz="1800" dirty="0">
                          <a:solidFill>
                            <a:srgbClr val="CD7F32"/>
                          </a:solidFill>
                          <a:latin typeface="Quattrocento Sans" pitchFamily="34" charset="0"/>
                          <a:ea typeface="Quattrocento Sans" pitchFamily="34" charset="-122"/>
                          <a:cs typeface="Quattrocento Sans" pitchFamily="34" charset="-120"/>
                        </a:rPr>
                        <a:t>JSZip</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c>
                  <a:txBody>
                    <a:bodyPr/>
                    <a:lstStyle/>
                    <a:p>
                      <a:pPr algn="ctr"/>
                      <a:r>
                        <a:rPr lang="en-US" sz="1800" dirty="0">
                          <a:solidFill>
                            <a:srgbClr val="E8DCC8"/>
                          </a:solidFill>
                          <a:latin typeface="Quattrocento Sans" pitchFamily="34" charset="0"/>
                          <a:ea typeface="Quattrocento Sans" pitchFamily="34" charset="-122"/>
                          <a:cs typeface="Quattrocento Sans" pitchFamily="34" charset="-120"/>
                        </a:rPr>
                        <a:t>Client-side archive generation</a:t>
                      </a:r>
                      <a:endParaRPr lang="en-US" sz="1800" dirty="0">
                        <a:latin typeface="Quattrocento Sans" charset="0"/>
                        <a:ea typeface="Quattrocento Sans" charset="0"/>
                        <a:cs typeface="Quattrocento Sans" charset="0"/>
                      </a:endParaRPr>
                    </a:p>
                  </a:txBody>
                  <a:tcPr marL="54864" marR="54864" marT="0" marB="0" anchor="ctr">
                    <a:lnL w="12700" cap="flat" cmpd="sng" algn="ctr">
                      <a:solidFill>
                        <a:srgbClr val="3D2A2A"/>
                      </a:solidFill>
                      <a:prstDash val="solid"/>
                      <a:round/>
                      <a:headEnd type="none" w="med" len="med"/>
                      <a:tailEnd type="none" w="med" len="med"/>
                    </a:lnL>
                    <a:lnR w="12700" cap="flat" cmpd="sng" algn="ctr">
                      <a:solidFill>
                        <a:srgbClr val="3D2A2A"/>
                      </a:solidFill>
                      <a:prstDash val="solid"/>
                      <a:round/>
                      <a:headEnd type="none" w="med" len="med"/>
                      <a:tailEnd type="none" w="med" len="med"/>
                    </a:lnR>
                    <a:lnT w="12700" cap="flat" cmpd="sng" algn="ctr">
                      <a:solidFill>
                        <a:srgbClr val="3D2A2A"/>
                      </a:solidFill>
                      <a:prstDash val="solid"/>
                      <a:round/>
                      <a:headEnd type="none" w="med" len="med"/>
                      <a:tailEnd type="none" w="med" len="med"/>
                    </a:lnT>
                    <a:lnB w="12700" cap="flat" cmpd="sng" algn="ctr">
                      <a:solidFill>
                        <a:srgbClr val="3D2A2A"/>
                      </a:solidFill>
                      <a:prstDash val="solid"/>
                      <a:round/>
                      <a:headEnd type="none" w="med" len="med"/>
                      <a:tailEnd type="none" w="med" len="med"/>
                    </a:lnB>
                    <a:solidFill>
                      <a:srgbClr val="1A1212"/>
                    </a:solidFill>
                  </a:tcPr>
                </a:tc>
              </a:tr>
            </a:tbl>
          </a:graphicData>
        </a:graphic>
      </p:graphicFrame>
      <p:sp>
        <p:nvSpPr>
          <p:cNvPr id="9" name="Shape 6"/>
          <p:cNvSpPr/>
          <p:nvPr/>
        </p:nvSpPr>
        <p:spPr>
          <a:xfrm>
            <a:off x="15875000" y="5588000"/>
            <a:ext cx="7137400" cy="6223000"/>
          </a:xfrm>
          <a:prstGeom prst="rect">
            <a:avLst/>
          </a:prstGeom>
          <a:solidFill>
            <a:srgbClr val="1A1212"/>
          </a:solidFill>
          <a:ln w="12700">
            <a:solidFill>
              <a:srgbClr val="3D2A2A"/>
            </a:solidFill>
            <a:prstDash val="solid"/>
          </a:ln>
        </p:spPr>
      </p:sp>
      <p:sp>
        <p:nvSpPr>
          <p:cNvPr id="10" name="Shape 7"/>
          <p:cNvSpPr/>
          <p:nvPr/>
        </p:nvSpPr>
        <p:spPr>
          <a:xfrm>
            <a:off x="16281400" y="6096000"/>
            <a:ext cx="762000" cy="762000"/>
          </a:xfrm>
          <a:custGeom>
            <a:avLst/>
            <a:gdLst/>
            <a:ahLst/>
            <a:cxnLst/>
            <a:rect l="l" t="t" r="r" b="b"/>
            <a:pathLst>
              <a:path w="762000" h="762000">
                <a:moveTo>
                  <a:pt x="381000" y="0"/>
                </a:moveTo>
                <a:cubicBezTo>
                  <a:pt x="387846" y="0"/>
                  <a:pt x="394692" y="1488"/>
                  <a:pt x="400943" y="4316"/>
                </a:cubicBezTo>
                <a:lnTo>
                  <a:pt x="681335" y="123230"/>
                </a:lnTo>
                <a:cubicBezTo>
                  <a:pt x="714077" y="137071"/>
                  <a:pt x="738485" y="169366"/>
                  <a:pt x="738336" y="208359"/>
                </a:cubicBezTo>
                <a:cubicBezTo>
                  <a:pt x="737592" y="355997"/>
                  <a:pt x="676870" y="626120"/>
                  <a:pt x="420439" y="748903"/>
                </a:cubicBezTo>
                <a:cubicBezTo>
                  <a:pt x="395585" y="760809"/>
                  <a:pt x="366713" y="760809"/>
                  <a:pt x="341858" y="748903"/>
                </a:cubicBezTo>
                <a:cubicBezTo>
                  <a:pt x="85279" y="626120"/>
                  <a:pt x="24705" y="355997"/>
                  <a:pt x="23961" y="208359"/>
                </a:cubicBezTo>
                <a:cubicBezTo>
                  <a:pt x="23812" y="169366"/>
                  <a:pt x="48220" y="137071"/>
                  <a:pt x="80962" y="123230"/>
                </a:cubicBezTo>
                <a:lnTo>
                  <a:pt x="361206" y="4316"/>
                </a:lnTo>
                <a:cubicBezTo>
                  <a:pt x="367457" y="1488"/>
                  <a:pt x="374154" y="0"/>
                  <a:pt x="381000" y="0"/>
                </a:cubicBezTo>
                <a:close/>
                <a:moveTo>
                  <a:pt x="381000" y="99417"/>
                </a:moveTo>
                <a:lnTo>
                  <a:pt x="381000" y="662136"/>
                </a:lnTo>
                <a:cubicBezTo>
                  <a:pt x="586383" y="562719"/>
                  <a:pt x="641598" y="342454"/>
                  <a:pt x="642938" y="210592"/>
                </a:cubicBezTo>
                <a:lnTo>
                  <a:pt x="381000" y="99566"/>
                </a:lnTo>
                <a:lnTo>
                  <a:pt x="381000" y="99566"/>
                </a:lnTo>
                <a:close/>
              </a:path>
            </a:pathLst>
          </a:custGeom>
          <a:solidFill>
            <a:srgbClr val="C81E1E"/>
          </a:solidFill>
          <a:ln/>
        </p:spPr>
      </p:sp>
      <p:sp>
        <p:nvSpPr>
          <p:cNvPr id="11" name="Text 8"/>
          <p:cNvSpPr/>
          <p:nvPr/>
        </p:nvSpPr>
        <p:spPr>
          <a:xfrm>
            <a:off x="16281400" y="7112000"/>
            <a:ext cx="6324600" cy="508000"/>
          </a:xfrm>
          <a:prstGeom prst="rect">
            <a:avLst/>
          </a:prstGeom>
          <a:noFill/>
          <a:ln/>
        </p:spPr>
        <p:txBody>
          <a:bodyPr wrap="none" lIns="0" tIns="0" rIns="0" bIns="0" rtlCol="0" anchor="ctr"/>
          <a:lstStyle/>
          <a:p>
            <a:pPr algn="l">
              <a:lnSpc>
                <a:spcPct val="120000"/>
              </a:lnSpc>
            </a:pPr>
            <a:r>
              <a:rPr lang="en-US" sz="2400" dirty="0">
                <a:solidFill>
                  <a:srgbClr val="C81E1E"/>
                </a:solidFill>
                <a:latin typeface="Cinzel" pitchFamily="34" charset="0"/>
                <a:ea typeface="Cinzel" pitchFamily="34" charset="-122"/>
                <a:cs typeface="Cinzel" pitchFamily="34" charset="-120"/>
              </a:rPr>
              <a:t>BROWSER-NATIVE</a:t>
            </a:r>
            <a:endParaRPr lang="en-US" sz="2400" dirty="0"/>
          </a:p>
        </p:txBody>
      </p:sp>
      <p:sp>
        <p:nvSpPr>
          <p:cNvPr id="12" name="Text 9"/>
          <p:cNvSpPr/>
          <p:nvPr/>
        </p:nvSpPr>
        <p:spPr>
          <a:xfrm>
            <a:off x="16281400" y="7747000"/>
            <a:ext cx="6324600" cy="508000"/>
          </a:xfrm>
          <a:prstGeom prst="rect">
            <a:avLst/>
          </a:prstGeom>
          <a:noFill/>
          <a:ln/>
        </p:spPr>
        <p:txBody>
          <a:bodyPr wrap="none" lIns="0" tIns="0" rIns="0" bIns="0" rtlCol="0" anchor="ctr"/>
          <a:lstStyle/>
          <a:p>
            <a:pPr algn="l">
              <a:lnSpc>
                <a:spcPct val="120000"/>
              </a:lnSpc>
            </a:pPr>
            <a:r>
              <a:rPr lang="en-US" sz="2000" dirty="0">
                <a:solidFill>
                  <a:srgbClr val="CD7F32"/>
                </a:solidFill>
                <a:latin typeface="Quattrocento Sans" pitchFamily="34" charset="0"/>
                <a:ea typeface="Quattrocento Sans" pitchFamily="34" charset="-122"/>
                <a:cs typeface="Quattrocento Sans" pitchFamily="34" charset="-120"/>
              </a:rPr>
              <a:t>Entire Pipeline Runs Client-Side</a:t>
            </a:r>
            <a:endParaRPr lang="en-US" sz="2000" dirty="0"/>
          </a:p>
        </p:txBody>
      </p:sp>
      <p:sp>
        <p:nvSpPr>
          <p:cNvPr id="13" name="Text 10"/>
          <p:cNvSpPr/>
          <p:nvPr/>
        </p:nvSpPr>
        <p:spPr>
          <a:xfrm>
            <a:off x="16281400" y="8509000"/>
            <a:ext cx="6324600" cy="2921000"/>
          </a:xfrm>
          <a:prstGeom prst="rect">
            <a:avLst/>
          </a:prstGeom>
          <a:noFill/>
          <a:ln/>
        </p:spPr>
        <p:txBody>
          <a:bodyPr wrap="square" lIns="0" tIns="0" rIns="0" bIns="0" rtlCol="0" anchor="t"/>
          <a:lstStyle/>
          <a:p>
            <a:pPr algn="l">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Every step of the extraction pipeline executes within the browser environment:</a:t>
            </a:r>
            <a:endParaRPr lang="en-US" sz="1400" dirty="0"/>
          </a:p>
          <a:p>
            <a:pPr algn="l">
              <a:lnSpc>
                <a:spcPct val="150000"/>
              </a:lnSpc>
              <a:spcBef>
                <a:spcPts val="1000"/>
              </a:spcBef>
            </a:pPr>
            <a:r>
              <a:rPr lang="en-US" sz="1400" dirty="0">
                <a:solidFill>
                  <a:srgbClr val="C81E1E"/>
                </a:solidFill>
                <a:latin typeface="Quattrocento Sans" pitchFamily="34" charset="0"/>
                <a:ea typeface="Quattrocento Sans" pitchFamily="34" charset="-122"/>
                <a:cs typeface="Quattrocento Sans" pitchFamily="34" charset="-120"/>
              </a:rPr>
              <a:t>▸</a:t>
            </a:r>
            <a:pPr algn="l">
              <a:lnSpc>
                <a:spcPct val="150000"/>
              </a:lnSpc>
              <a:spcBef>
                <a:spcPts val="1000"/>
              </a:spcBef>
            </a:pPr>
            <a:r>
              <a:rPr lang="en-US" sz="1400" dirty="0">
                <a:solidFill>
                  <a:srgbClr val="E8DCC8"/>
                </a:solidFill>
                <a:latin typeface="Quattrocento Sans" pitchFamily="34" charset="0"/>
                <a:ea typeface="Quattrocento Sans" pitchFamily="34" charset="-122"/>
                <a:cs typeface="Quattrocento Sans" pitchFamily="34" charset="-120"/>
              </a:rPr>
              <a:t> No server communication</a:t>
            </a:r>
            <a:endParaRPr lang="en-US" sz="1400" dirty="0"/>
          </a:p>
          <a:p>
            <a:pPr algn="l">
              <a:lnSpc>
                <a:spcPct val="150000"/>
              </a:lnSpc>
            </a:pPr>
            <a:r>
              <a:rPr lang="en-US" sz="1400" dirty="0">
                <a:solidFill>
                  <a:srgbClr val="C81E1E"/>
                </a:solidFill>
                <a:latin typeface="Quattrocento Sans" pitchFamily="34" charset="0"/>
                <a:ea typeface="Quattrocento Sans" pitchFamily="34" charset="-122"/>
                <a:cs typeface="Quattrocento Sans" pitchFamily="34" charset="-120"/>
              </a:rPr>
              <a:t>▸</a:t>
            </a:r>
            <a:pPr algn="l">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No cloud processing</a:t>
            </a:r>
            <a:endParaRPr lang="en-US" sz="1400" dirty="0"/>
          </a:p>
          <a:p>
            <a:pPr algn="l">
              <a:lnSpc>
                <a:spcPct val="150000"/>
              </a:lnSpc>
            </a:pPr>
            <a:r>
              <a:rPr lang="en-US" sz="1400" dirty="0">
                <a:solidFill>
                  <a:srgbClr val="C81E1E"/>
                </a:solidFill>
                <a:latin typeface="Quattrocento Sans" pitchFamily="34" charset="0"/>
                <a:ea typeface="Quattrocento Sans" pitchFamily="34" charset="-122"/>
                <a:cs typeface="Quattrocento Sans" pitchFamily="34" charset="-120"/>
              </a:rPr>
              <a:t>▸</a:t>
            </a:r>
            <a:pPr algn="l">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No data transmission</a:t>
            </a:r>
            <a:endParaRPr lang="en-US" sz="1400" dirty="0"/>
          </a:p>
          <a:p>
            <a:pPr algn="l">
              <a:lnSpc>
                <a:spcPct val="150000"/>
              </a:lnSpc>
            </a:pPr>
            <a:r>
              <a:rPr lang="en-US" sz="1400" dirty="0">
                <a:solidFill>
                  <a:srgbClr val="C81E1E"/>
                </a:solidFill>
                <a:latin typeface="Quattrocento Sans" pitchFamily="34" charset="0"/>
                <a:ea typeface="Quattrocento Sans" pitchFamily="34" charset="-122"/>
                <a:cs typeface="Quattrocento Sans" pitchFamily="34" charset="-120"/>
              </a:rPr>
              <a:t>▸</a:t>
            </a:r>
            <a:pPr algn="l">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No external dependencies</a:t>
            </a:r>
            <a:endParaRPr lang="en-US" sz="1400" dirty="0"/>
          </a:p>
          <a:p>
            <a:pPr algn="l">
              <a:lnSpc>
                <a:spcPct val="150000"/>
              </a:lnSpc>
              <a:spcBef>
                <a:spcPts val="1000"/>
              </a:spcBef>
            </a:pPr>
            <a:r>
              <a:rPr lang="en-US" sz="1400" dirty="0">
                <a:solidFill>
                  <a:srgbClr val="6B5B4E"/>
                </a:solidFill>
                <a:latin typeface="Quattrocento Sans" pitchFamily="34" charset="0"/>
                <a:ea typeface="Quattrocento Sans" pitchFamily="34" charset="-122"/>
                <a:cs typeface="Quattrocento Sans" pitchFamily="34" charset="-120"/>
              </a:rPr>
              <a:t>A self-contained engine that transforms video into ML-ready datasets entirely on the client.</a:t>
            </a:r>
            <a:endParaRPr lang="en-US" sz="14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21640800" cy="1778000"/>
          </a:xfrm>
          <a:prstGeom prst="rect">
            <a:avLst/>
          </a:prstGeom>
          <a:noFill/>
          <a:ln/>
        </p:spPr>
        <p:txBody>
          <a:bodyPr wrap="square" lIns="0" tIns="0" rIns="0" bIns="0" rtlCol="0" anchor="t"/>
          <a:lstStyle/>
          <a:p>
            <a:pPr algn="l">
              <a:lnSpc>
                <a:spcPct val="110000"/>
              </a:lnSpc>
            </a:pPr>
            <a:r>
              <a:rPr lang="en-US" sz="10000" dirty="0">
                <a:solidFill>
                  <a:srgbClr val="E8DCC8"/>
                </a:solidFill>
                <a:latin typeface="Cinzel" pitchFamily="34" charset="0"/>
                <a:ea typeface="Cinzel" pitchFamily="34" charset="-122"/>
                <a:cs typeface="Cinzel" pitchFamily="34" charset="-120"/>
              </a:rPr>
              <a:t>FROM SOURCE TO </a:t>
            </a:r>
            <a:pPr algn="l">
              <a:lnSpc>
                <a:spcPct val="110000"/>
              </a:lnSpc>
            </a:pPr>
            <a:r>
              <a:rPr lang="en-US" sz="10000" dirty="0">
                <a:solidFill>
                  <a:srgbClr val="C81E1E"/>
                </a:solidFill>
                <a:latin typeface="Cinzel" pitchFamily="34" charset="0"/>
                <a:ea typeface="Cinzel" pitchFamily="34" charset="-122"/>
                <a:cs typeface="Cinzel" pitchFamily="34" charset="-120"/>
              </a:rPr>
              <a:t>DESCENDANTS</a:t>
            </a:r>
            <a:endParaRPr lang="en-US" sz="10000" dirty="0"/>
          </a:p>
        </p:txBody>
      </p:sp>
      <p:sp>
        <p:nvSpPr>
          <p:cNvPr id="7" name="Shape 5"/>
          <p:cNvSpPr/>
          <p:nvPr/>
        </p:nvSpPr>
        <p:spPr>
          <a:xfrm>
            <a:off x="1371600" y="5334000"/>
            <a:ext cx="1016000" cy="1016000"/>
          </a:xfrm>
          <a:prstGeom prst="ellipse">
            <a:avLst/>
          </a:prstGeom>
          <a:solidFill>
            <a:srgbClr val="C81E1E"/>
          </a:solidFill>
          <a:ln/>
        </p:spPr>
      </p:sp>
      <p:sp>
        <p:nvSpPr>
          <p:cNvPr id="8" name="Text 6"/>
          <p:cNvSpPr/>
          <p:nvPr/>
        </p:nvSpPr>
        <p:spPr>
          <a:xfrm>
            <a:off x="1371600" y="5334000"/>
            <a:ext cx="1016000" cy="1016000"/>
          </a:xfrm>
          <a:prstGeom prst="rect">
            <a:avLst/>
          </a:prstGeom>
          <a:noFill/>
          <a:ln/>
        </p:spPr>
        <p:txBody>
          <a:bodyPr wrap="none" lIns="0" tIns="0" rIns="0" bIns="0" rtlCol="0" anchor="ctr"/>
          <a:lstStyle/>
          <a:p>
            <a:pPr algn="ctr">
              <a:lnSpc>
                <a:spcPct val="120000"/>
              </a:lnSpc>
            </a:pPr>
            <a:r>
              <a:rPr lang="en-US" sz="3200" dirty="0">
                <a:solidFill>
                  <a:srgbClr val="E8DCC8"/>
                </a:solidFill>
                <a:latin typeface="Cinzel" pitchFamily="34" charset="0"/>
                <a:ea typeface="Cinzel" pitchFamily="34" charset="-122"/>
                <a:cs typeface="Cinzel" pitchFamily="34" charset="-120"/>
              </a:rPr>
              <a:t>01</a:t>
            </a:r>
            <a:endParaRPr lang="en-US" sz="3200" dirty="0"/>
          </a:p>
        </p:txBody>
      </p:sp>
      <p:sp>
        <p:nvSpPr>
          <p:cNvPr id="9" name="Text 7"/>
          <p:cNvSpPr/>
          <p:nvPr/>
        </p:nvSpPr>
        <p:spPr>
          <a:xfrm>
            <a:off x="1371600" y="6604000"/>
            <a:ext cx="2794000" cy="4572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Duration Detection</a:t>
            </a:r>
            <a:endParaRPr lang="en-US" sz="2200" dirty="0"/>
          </a:p>
        </p:txBody>
      </p:sp>
      <p:sp>
        <p:nvSpPr>
          <p:cNvPr id="10" name="Text 8"/>
          <p:cNvSpPr/>
          <p:nvPr/>
        </p:nvSpPr>
        <p:spPr>
          <a:xfrm>
            <a:off x="1371600" y="7162800"/>
            <a:ext cx="2794000" cy="1270000"/>
          </a:xfrm>
          <a:prstGeom prst="rect">
            <a:avLst/>
          </a:prstGeom>
          <a:noFill/>
          <a:ln/>
        </p:spPr>
        <p:txBody>
          <a:bodyPr wrap="square" lIns="0" tIns="0" rIns="0" bIns="0" rtlCol="0" anchor="t"/>
          <a:lstStyle/>
          <a:p>
            <a:pPr algn="l">
              <a:lnSpc>
                <a:spcPct val="150000"/>
              </a:lnSpc>
            </a:pPr>
            <a:r>
              <a:rPr lang="en-US" sz="1400" dirty="0">
                <a:solidFill>
                  <a:srgbClr val="6B5B4E"/>
                </a:solidFill>
                <a:latin typeface="Quattrocento Sans" pitchFamily="34" charset="0"/>
                <a:ea typeface="Quattrocento Sans" pitchFamily="34" charset="-122"/>
                <a:cs typeface="Quattrocento Sans" pitchFamily="34" charset="-120"/>
              </a:rPr>
              <a:t>Native browser APIs parse video metadata and duration.</a:t>
            </a:r>
            <a:endParaRPr lang="en-US" sz="1400" dirty="0"/>
          </a:p>
        </p:txBody>
      </p:sp>
      <p:sp>
        <p:nvSpPr>
          <p:cNvPr id="11" name="Shape 9"/>
          <p:cNvSpPr/>
          <p:nvPr/>
        </p:nvSpPr>
        <p:spPr>
          <a:xfrm>
            <a:off x="2387600" y="5842000"/>
            <a:ext cx="1016000" cy="0"/>
          </a:xfrm>
          <a:prstGeom prst="straightConnector1">
            <a:avLst/>
          </a:prstGeom>
          <a:noFill/>
          <a:ln w="25400">
            <a:solidFill>
              <a:srgbClr val="CD7F32"/>
            </a:solidFill>
            <a:prstDash val="solid"/>
            <a:headEnd type="none"/>
            <a:tailEnd type="arrow"/>
          </a:ln>
        </p:spPr>
      </p:sp>
      <p:sp>
        <p:nvSpPr>
          <p:cNvPr id="12" name="Shape 10"/>
          <p:cNvSpPr/>
          <p:nvPr/>
        </p:nvSpPr>
        <p:spPr>
          <a:xfrm>
            <a:off x="4546600" y="5334000"/>
            <a:ext cx="1016000" cy="1016000"/>
          </a:xfrm>
          <a:prstGeom prst="ellipse">
            <a:avLst/>
          </a:prstGeom>
          <a:solidFill>
            <a:srgbClr val="C81E1E"/>
          </a:solidFill>
          <a:ln/>
        </p:spPr>
      </p:sp>
      <p:sp>
        <p:nvSpPr>
          <p:cNvPr id="13" name="Text 11"/>
          <p:cNvSpPr/>
          <p:nvPr/>
        </p:nvSpPr>
        <p:spPr>
          <a:xfrm>
            <a:off x="4546600" y="5334000"/>
            <a:ext cx="1016000" cy="1016000"/>
          </a:xfrm>
          <a:prstGeom prst="rect">
            <a:avLst/>
          </a:prstGeom>
          <a:noFill/>
          <a:ln/>
        </p:spPr>
        <p:txBody>
          <a:bodyPr wrap="none" lIns="0" tIns="0" rIns="0" bIns="0" rtlCol="0" anchor="ctr"/>
          <a:lstStyle/>
          <a:p>
            <a:pPr algn="ctr">
              <a:lnSpc>
                <a:spcPct val="120000"/>
              </a:lnSpc>
            </a:pPr>
            <a:r>
              <a:rPr lang="en-US" sz="3200" dirty="0">
                <a:solidFill>
                  <a:srgbClr val="E8DCC8"/>
                </a:solidFill>
                <a:latin typeface="Cinzel" pitchFamily="34" charset="0"/>
                <a:ea typeface="Cinzel" pitchFamily="34" charset="-122"/>
                <a:cs typeface="Cinzel" pitchFamily="34" charset="-120"/>
              </a:rPr>
              <a:t>02</a:t>
            </a:r>
            <a:endParaRPr lang="en-US" sz="3200" dirty="0"/>
          </a:p>
        </p:txBody>
      </p:sp>
      <p:sp>
        <p:nvSpPr>
          <p:cNvPr id="14" name="Text 12"/>
          <p:cNvSpPr/>
          <p:nvPr/>
        </p:nvSpPr>
        <p:spPr>
          <a:xfrm>
            <a:off x="4546600" y="6604000"/>
            <a:ext cx="2794000" cy="457200"/>
          </a:xfrm>
          <a:prstGeom prst="rect">
            <a:avLst/>
          </a:prstGeom>
          <a:noFill/>
          <a:ln/>
        </p:spPr>
        <p:txBody>
          <a:bodyPr wrap="none" lIns="0" tIns="0" rIns="0" bIns="0" rtlCol="0" anchor="ctr"/>
          <a:lstStyle/>
          <a:p>
            <a:pPr algn="l">
              <a:lnSpc>
                <a:spcPct val="120000"/>
              </a:lnSpc>
            </a:pPr>
            <a:r>
              <a:rPr lang="en-US" sz="2000" b="1" dirty="0">
                <a:solidFill>
                  <a:srgbClr val="E8DCC8"/>
                </a:solidFill>
                <a:latin typeface="Quattrocento Sans" pitchFamily="34" charset="0"/>
                <a:ea typeface="Quattrocento Sans" pitchFamily="34" charset="-122"/>
                <a:cs typeface="Quattrocento Sans" pitchFamily="34" charset="-120"/>
              </a:rPr>
              <a:t>Segment Construction</a:t>
            </a:r>
            <a:endParaRPr lang="en-US" sz="2000" dirty="0"/>
          </a:p>
        </p:txBody>
      </p:sp>
      <p:sp>
        <p:nvSpPr>
          <p:cNvPr id="15" name="Text 13"/>
          <p:cNvSpPr/>
          <p:nvPr/>
        </p:nvSpPr>
        <p:spPr>
          <a:xfrm>
            <a:off x="4546600" y="7162800"/>
            <a:ext cx="2794000" cy="1270000"/>
          </a:xfrm>
          <a:prstGeom prst="rect">
            <a:avLst/>
          </a:prstGeom>
          <a:noFill/>
          <a:ln/>
        </p:spPr>
        <p:txBody>
          <a:bodyPr wrap="square" lIns="0" tIns="0" rIns="0" bIns="0" rtlCol="0" anchor="t"/>
          <a:lstStyle/>
          <a:p>
            <a:pPr algn="l">
              <a:lnSpc>
                <a:spcPct val="150000"/>
              </a:lnSpc>
            </a:pPr>
            <a:r>
              <a:rPr lang="en-US" sz="1400" dirty="0">
                <a:solidFill>
                  <a:srgbClr val="6B5B4E"/>
                </a:solidFill>
                <a:latin typeface="Quattrocento Sans" pitchFamily="34" charset="0"/>
                <a:ea typeface="Quattrocento Sans" pitchFamily="34" charset="-122"/>
                <a:cs typeface="Quattrocento Sans" pitchFamily="34" charset="-120"/>
              </a:rPr>
              <a:t>Intelligent time-based segmentation of the video timeline.</a:t>
            </a:r>
            <a:endParaRPr lang="en-US" sz="1400" dirty="0"/>
          </a:p>
        </p:txBody>
      </p:sp>
      <p:sp>
        <p:nvSpPr>
          <p:cNvPr id="16" name="Shape 14"/>
          <p:cNvSpPr/>
          <p:nvPr/>
        </p:nvSpPr>
        <p:spPr>
          <a:xfrm>
            <a:off x="5562600" y="5842000"/>
            <a:ext cx="1016000" cy="0"/>
          </a:xfrm>
          <a:prstGeom prst="straightConnector1">
            <a:avLst/>
          </a:prstGeom>
          <a:noFill/>
          <a:ln w="25400">
            <a:solidFill>
              <a:srgbClr val="CD7F32"/>
            </a:solidFill>
            <a:prstDash val="solid"/>
            <a:headEnd type="none"/>
            <a:tailEnd type="arrow"/>
          </a:ln>
        </p:spPr>
      </p:sp>
      <p:sp>
        <p:nvSpPr>
          <p:cNvPr id="17" name="Shape 15"/>
          <p:cNvSpPr/>
          <p:nvPr/>
        </p:nvSpPr>
        <p:spPr>
          <a:xfrm>
            <a:off x="7721600" y="5334000"/>
            <a:ext cx="1016000" cy="1016000"/>
          </a:xfrm>
          <a:prstGeom prst="ellipse">
            <a:avLst/>
          </a:prstGeom>
          <a:solidFill>
            <a:srgbClr val="C81E1E"/>
          </a:solidFill>
          <a:ln/>
        </p:spPr>
      </p:sp>
      <p:sp>
        <p:nvSpPr>
          <p:cNvPr id="18" name="Text 16"/>
          <p:cNvSpPr/>
          <p:nvPr/>
        </p:nvSpPr>
        <p:spPr>
          <a:xfrm>
            <a:off x="7721600" y="5334000"/>
            <a:ext cx="1016000" cy="1016000"/>
          </a:xfrm>
          <a:prstGeom prst="rect">
            <a:avLst/>
          </a:prstGeom>
          <a:noFill/>
          <a:ln/>
        </p:spPr>
        <p:txBody>
          <a:bodyPr wrap="none" lIns="0" tIns="0" rIns="0" bIns="0" rtlCol="0" anchor="ctr"/>
          <a:lstStyle/>
          <a:p>
            <a:pPr algn="ctr">
              <a:lnSpc>
                <a:spcPct val="120000"/>
              </a:lnSpc>
            </a:pPr>
            <a:r>
              <a:rPr lang="en-US" sz="3200" dirty="0">
                <a:solidFill>
                  <a:srgbClr val="E8DCC8"/>
                </a:solidFill>
                <a:latin typeface="Cinzel" pitchFamily="34" charset="0"/>
                <a:ea typeface="Cinzel" pitchFamily="34" charset="-122"/>
                <a:cs typeface="Cinzel" pitchFamily="34" charset="-120"/>
              </a:rPr>
              <a:t>03</a:t>
            </a:r>
            <a:endParaRPr lang="en-US" sz="3200" dirty="0"/>
          </a:p>
        </p:txBody>
      </p:sp>
      <p:sp>
        <p:nvSpPr>
          <p:cNvPr id="19" name="Text 17"/>
          <p:cNvSpPr/>
          <p:nvPr/>
        </p:nvSpPr>
        <p:spPr>
          <a:xfrm>
            <a:off x="7721600" y="6604000"/>
            <a:ext cx="2794000" cy="4572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Frame Extraction</a:t>
            </a:r>
            <a:endParaRPr lang="en-US" sz="2200" dirty="0"/>
          </a:p>
        </p:txBody>
      </p:sp>
      <p:sp>
        <p:nvSpPr>
          <p:cNvPr id="20" name="Text 18"/>
          <p:cNvSpPr/>
          <p:nvPr/>
        </p:nvSpPr>
        <p:spPr>
          <a:xfrm>
            <a:off x="7721600" y="7162800"/>
            <a:ext cx="2794000" cy="1270000"/>
          </a:xfrm>
          <a:prstGeom prst="rect">
            <a:avLst/>
          </a:prstGeom>
          <a:noFill/>
          <a:ln/>
        </p:spPr>
        <p:txBody>
          <a:bodyPr wrap="square" lIns="0" tIns="0" rIns="0" bIns="0" rtlCol="0" anchor="t"/>
          <a:lstStyle/>
          <a:p>
            <a:pPr algn="l">
              <a:lnSpc>
                <a:spcPct val="150000"/>
              </a:lnSpc>
            </a:pPr>
            <a:r>
              <a:rPr lang="en-US" sz="1400" dirty="0">
                <a:solidFill>
                  <a:srgbClr val="6B5B4E"/>
                </a:solidFill>
                <a:latin typeface="Quattrocento Sans" pitchFamily="34" charset="0"/>
                <a:ea typeface="Quattrocento Sans" pitchFamily="34" charset="-122"/>
                <a:cs typeface="Quattrocento Sans" pitchFamily="34" charset="-120"/>
              </a:rPr>
              <a:t>Canvas API captures frames at precise, configurable intervals.</a:t>
            </a:r>
            <a:endParaRPr lang="en-US" sz="1400" dirty="0"/>
          </a:p>
        </p:txBody>
      </p:sp>
      <p:sp>
        <p:nvSpPr>
          <p:cNvPr id="21" name="Shape 19"/>
          <p:cNvSpPr/>
          <p:nvPr/>
        </p:nvSpPr>
        <p:spPr>
          <a:xfrm>
            <a:off x="8737600" y="5842000"/>
            <a:ext cx="1016000" cy="0"/>
          </a:xfrm>
          <a:prstGeom prst="straightConnector1">
            <a:avLst/>
          </a:prstGeom>
          <a:noFill/>
          <a:ln w="25400">
            <a:solidFill>
              <a:srgbClr val="CD7F32"/>
            </a:solidFill>
            <a:prstDash val="solid"/>
            <a:headEnd type="none"/>
            <a:tailEnd type="arrow"/>
          </a:ln>
        </p:spPr>
      </p:sp>
      <p:sp>
        <p:nvSpPr>
          <p:cNvPr id="22" name="Shape 20"/>
          <p:cNvSpPr/>
          <p:nvPr/>
        </p:nvSpPr>
        <p:spPr>
          <a:xfrm>
            <a:off x="10896600" y="5334000"/>
            <a:ext cx="1016000" cy="1016000"/>
          </a:xfrm>
          <a:prstGeom prst="ellipse">
            <a:avLst/>
          </a:prstGeom>
          <a:solidFill>
            <a:srgbClr val="C81E1E"/>
          </a:solidFill>
          <a:ln/>
        </p:spPr>
      </p:sp>
      <p:sp>
        <p:nvSpPr>
          <p:cNvPr id="23" name="Text 21"/>
          <p:cNvSpPr/>
          <p:nvPr/>
        </p:nvSpPr>
        <p:spPr>
          <a:xfrm>
            <a:off x="10896600" y="5334000"/>
            <a:ext cx="1016000" cy="1016000"/>
          </a:xfrm>
          <a:prstGeom prst="rect">
            <a:avLst/>
          </a:prstGeom>
          <a:noFill/>
          <a:ln/>
        </p:spPr>
        <p:txBody>
          <a:bodyPr wrap="none" lIns="0" tIns="0" rIns="0" bIns="0" rtlCol="0" anchor="ctr"/>
          <a:lstStyle/>
          <a:p>
            <a:pPr algn="ctr">
              <a:lnSpc>
                <a:spcPct val="120000"/>
              </a:lnSpc>
            </a:pPr>
            <a:r>
              <a:rPr lang="en-US" sz="3200" dirty="0">
                <a:solidFill>
                  <a:srgbClr val="E8DCC8"/>
                </a:solidFill>
                <a:latin typeface="Cinzel" pitchFamily="34" charset="0"/>
                <a:ea typeface="Cinzel" pitchFamily="34" charset="-122"/>
                <a:cs typeface="Cinzel" pitchFamily="34" charset="-120"/>
              </a:rPr>
              <a:t>04</a:t>
            </a:r>
            <a:endParaRPr lang="en-US" sz="3200" dirty="0"/>
          </a:p>
        </p:txBody>
      </p:sp>
      <p:sp>
        <p:nvSpPr>
          <p:cNvPr id="24" name="Text 22"/>
          <p:cNvSpPr/>
          <p:nvPr/>
        </p:nvSpPr>
        <p:spPr>
          <a:xfrm>
            <a:off x="10896600" y="6604000"/>
            <a:ext cx="2794000" cy="4572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JPEG Encoding</a:t>
            </a:r>
            <a:endParaRPr lang="en-US" sz="2200" dirty="0"/>
          </a:p>
        </p:txBody>
      </p:sp>
      <p:sp>
        <p:nvSpPr>
          <p:cNvPr id="25" name="Text 23"/>
          <p:cNvSpPr/>
          <p:nvPr/>
        </p:nvSpPr>
        <p:spPr>
          <a:xfrm>
            <a:off x="10896600" y="7162800"/>
            <a:ext cx="2794000" cy="1270000"/>
          </a:xfrm>
          <a:prstGeom prst="rect">
            <a:avLst/>
          </a:prstGeom>
          <a:noFill/>
          <a:ln/>
        </p:spPr>
        <p:txBody>
          <a:bodyPr wrap="square" lIns="0" tIns="0" rIns="0" bIns="0" rtlCol="0" anchor="t"/>
          <a:lstStyle/>
          <a:p>
            <a:pPr algn="l">
              <a:lnSpc>
                <a:spcPct val="150000"/>
              </a:lnSpc>
            </a:pPr>
            <a:r>
              <a:rPr lang="en-US" sz="1400" dirty="0">
                <a:solidFill>
                  <a:srgbClr val="6B5B4E"/>
                </a:solidFill>
                <a:latin typeface="Quattrocento Sans" pitchFamily="34" charset="0"/>
                <a:ea typeface="Quattrocento Sans" pitchFamily="34" charset="-122"/>
                <a:cs typeface="Quattrocento Sans" pitchFamily="34" charset="-120"/>
              </a:rPr>
              <a:t>Quality 0.85 encoding, optimized for ML training data.</a:t>
            </a:r>
            <a:endParaRPr lang="en-US" sz="1400" dirty="0"/>
          </a:p>
        </p:txBody>
      </p:sp>
      <p:sp>
        <p:nvSpPr>
          <p:cNvPr id="26" name="Shape 24"/>
          <p:cNvSpPr/>
          <p:nvPr/>
        </p:nvSpPr>
        <p:spPr>
          <a:xfrm>
            <a:off x="11912600" y="5842000"/>
            <a:ext cx="1016000" cy="0"/>
          </a:xfrm>
          <a:prstGeom prst="straightConnector1">
            <a:avLst/>
          </a:prstGeom>
          <a:noFill/>
          <a:ln w="25400">
            <a:solidFill>
              <a:srgbClr val="CD7F32"/>
            </a:solidFill>
            <a:prstDash val="solid"/>
            <a:headEnd type="none"/>
            <a:tailEnd type="arrow"/>
          </a:ln>
        </p:spPr>
      </p:sp>
      <p:sp>
        <p:nvSpPr>
          <p:cNvPr id="27" name="Shape 25"/>
          <p:cNvSpPr/>
          <p:nvPr/>
        </p:nvSpPr>
        <p:spPr>
          <a:xfrm>
            <a:off x="14071600" y="5334000"/>
            <a:ext cx="1016000" cy="1016000"/>
          </a:xfrm>
          <a:prstGeom prst="ellipse">
            <a:avLst/>
          </a:prstGeom>
          <a:solidFill>
            <a:srgbClr val="C81E1E"/>
          </a:solidFill>
          <a:ln/>
        </p:spPr>
      </p:sp>
      <p:sp>
        <p:nvSpPr>
          <p:cNvPr id="28" name="Text 26"/>
          <p:cNvSpPr/>
          <p:nvPr/>
        </p:nvSpPr>
        <p:spPr>
          <a:xfrm>
            <a:off x="14071600" y="5334000"/>
            <a:ext cx="1016000" cy="1016000"/>
          </a:xfrm>
          <a:prstGeom prst="rect">
            <a:avLst/>
          </a:prstGeom>
          <a:noFill/>
          <a:ln/>
        </p:spPr>
        <p:txBody>
          <a:bodyPr wrap="none" lIns="0" tIns="0" rIns="0" bIns="0" rtlCol="0" anchor="ctr"/>
          <a:lstStyle/>
          <a:p>
            <a:pPr algn="ctr">
              <a:lnSpc>
                <a:spcPct val="120000"/>
              </a:lnSpc>
            </a:pPr>
            <a:r>
              <a:rPr lang="en-US" sz="3200" dirty="0">
                <a:solidFill>
                  <a:srgbClr val="E8DCC8"/>
                </a:solidFill>
                <a:latin typeface="Cinzel" pitchFamily="34" charset="0"/>
                <a:ea typeface="Cinzel" pitchFamily="34" charset="-122"/>
                <a:cs typeface="Cinzel" pitchFamily="34" charset="-120"/>
              </a:rPr>
              <a:t>05</a:t>
            </a:r>
            <a:endParaRPr lang="en-US" sz="3200" dirty="0"/>
          </a:p>
        </p:txBody>
      </p:sp>
      <p:sp>
        <p:nvSpPr>
          <p:cNvPr id="29" name="Text 27"/>
          <p:cNvSpPr/>
          <p:nvPr/>
        </p:nvSpPr>
        <p:spPr>
          <a:xfrm>
            <a:off x="14071600" y="6604000"/>
            <a:ext cx="2794000" cy="4572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Dataset Packaging</a:t>
            </a:r>
            <a:endParaRPr lang="en-US" sz="2200" dirty="0"/>
          </a:p>
        </p:txBody>
      </p:sp>
      <p:sp>
        <p:nvSpPr>
          <p:cNvPr id="30" name="Text 28"/>
          <p:cNvSpPr/>
          <p:nvPr/>
        </p:nvSpPr>
        <p:spPr>
          <a:xfrm>
            <a:off x="14071600" y="7162800"/>
            <a:ext cx="2794000" cy="1016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JSZip compresses frames into structured ZIP archives.</a:t>
            </a:r>
            <a:endParaRPr lang="en-US" sz="1600" dirty="0"/>
          </a:p>
        </p:txBody>
      </p:sp>
      <p:sp>
        <p:nvSpPr>
          <p:cNvPr id="31" name="Shape 29"/>
          <p:cNvSpPr/>
          <p:nvPr/>
        </p:nvSpPr>
        <p:spPr>
          <a:xfrm>
            <a:off x="15087600" y="5842000"/>
            <a:ext cx="1016000" cy="0"/>
          </a:xfrm>
          <a:prstGeom prst="straightConnector1">
            <a:avLst/>
          </a:prstGeom>
          <a:noFill/>
          <a:ln w="25400">
            <a:solidFill>
              <a:srgbClr val="CD7F32"/>
            </a:solidFill>
            <a:prstDash val="solid"/>
            <a:headEnd type="none"/>
            <a:tailEnd type="arrow"/>
          </a:ln>
        </p:spPr>
      </p:sp>
      <p:sp>
        <p:nvSpPr>
          <p:cNvPr id="32" name="Shape 30"/>
          <p:cNvSpPr/>
          <p:nvPr/>
        </p:nvSpPr>
        <p:spPr>
          <a:xfrm>
            <a:off x="17246600" y="5334000"/>
            <a:ext cx="1016000" cy="1016000"/>
          </a:xfrm>
          <a:prstGeom prst="ellipse">
            <a:avLst/>
          </a:prstGeom>
          <a:solidFill>
            <a:srgbClr val="CD7F32"/>
          </a:solidFill>
          <a:ln/>
        </p:spPr>
      </p:sp>
      <p:sp>
        <p:nvSpPr>
          <p:cNvPr id="33" name="Text 31"/>
          <p:cNvSpPr/>
          <p:nvPr/>
        </p:nvSpPr>
        <p:spPr>
          <a:xfrm>
            <a:off x="17246600" y="5334000"/>
            <a:ext cx="1016000" cy="1016000"/>
          </a:xfrm>
          <a:prstGeom prst="rect">
            <a:avLst/>
          </a:prstGeom>
          <a:noFill/>
          <a:ln/>
        </p:spPr>
        <p:txBody>
          <a:bodyPr wrap="none" lIns="0" tIns="0" rIns="0" bIns="0" rtlCol="0" anchor="ctr"/>
          <a:lstStyle/>
          <a:p>
            <a:pPr algn="ctr">
              <a:lnSpc>
                <a:spcPct val="120000"/>
              </a:lnSpc>
            </a:pPr>
            <a:r>
              <a:rPr lang="en-US" sz="3200" dirty="0">
                <a:solidFill>
                  <a:srgbClr val="1A0A0A"/>
                </a:solidFill>
                <a:latin typeface="Cinzel" pitchFamily="34" charset="0"/>
                <a:ea typeface="Cinzel" pitchFamily="34" charset="-122"/>
                <a:cs typeface="Cinzel" pitchFamily="34" charset="-120"/>
              </a:rPr>
              <a:t>06</a:t>
            </a:r>
            <a:endParaRPr lang="en-US" sz="3200" dirty="0"/>
          </a:p>
        </p:txBody>
      </p:sp>
      <p:sp>
        <p:nvSpPr>
          <p:cNvPr id="34" name="Text 32"/>
          <p:cNvSpPr/>
          <p:nvPr/>
        </p:nvSpPr>
        <p:spPr>
          <a:xfrm>
            <a:off x="17246600" y="6604000"/>
            <a:ext cx="2794000" cy="4572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Manifest Generation</a:t>
            </a:r>
            <a:endParaRPr lang="en-US" sz="2200" dirty="0"/>
          </a:p>
        </p:txBody>
      </p:sp>
      <p:sp>
        <p:nvSpPr>
          <p:cNvPr id="35" name="Text 33"/>
          <p:cNvSpPr/>
          <p:nvPr/>
        </p:nvSpPr>
        <p:spPr>
          <a:xfrm>
            <a:off x="17246600" y="7162800"/>
            <a:ext cx="2794000" cy="1016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JSON metadata provides full traceability for every frame.</a:t>
            </a:r>
            <a:endParaRPr lang="en-US" sz="1600" dirty="0"/>
          </a:p>
        </p:txBody>
      </p:sp>
      <p:sp>
        <p:nvSpPr>
          <p:cNvPr id="36" name="Shape 34"/>
          <p:cNvSpPr/>
          <p:nvPr/>
        </p:nvSpPr>
        <p:spPr>
          <a:xfrm>
            <a:off x="1371600" y="8890000"/>
            <a:ext cx="21640800" cy="3048000"/>
          </a:xfrm>
          <a:prstGeom prst="rect">
            <a:avLst/>
          </a:prstGeom>
          <a:solidFill>
            <a:srgbClr val="1A1212"/>
          </a:solidFill>
          <a:ln w="12700">
            <a:solidFill>
              <a:srgbClr val="3D2A2A"/>
            </a:solidFill>
            <a:prstDash val="solid"/>
          </a:ln>
        </p:spPr>
      </p:sp>
      <p:sp>
        <p:nvSpPr>
          <p:cNvPr id="37" name="Text 35"/>
          <p:cNvSpPr/>
          <p:nvPr/>
        </p:nvSpPr>
        <p:spPr>
          <a:xfrm>
            <a:off x="1778000" y="9144000"/>
            <a:ext cx="5080000" cy="457200"/>
          </a:xfrm>
          <a:prstGeom prst="rect">
            <a:avLst/>
          </a:prstGeom>
          <a:noFill/>
          <a:ln/>
        </p:spPr>
        <p:txBody>
          <a:bodyPr wrap="none" lIns="0" tIns="0" rIns="0" bIns="0" rtlCol="0" anchor="ctr"/>
          <a:lstStyle/>
          <a:p>
            <a:pPr algn="l">
              <a:lnSpc>
                <a:spcPct val="120000"/>
              </a:lnSpc>
            </a:pPr>
            <a:r>
              <a:rPr lang="en-US" sz="1800" spc="400" kern="0" dirty="0">
                <a:solidFill>
                  <a:srgbClr val="CD7F32"/>
                </a:solidFill>
                <a:latin typeface="Quattrocento Sans" pitchFamily="34" charset="0"/>
                <a:ea typeface="Quattrocento Sans" pitchFamily="34" charset="-122"/>
                <a:cs typeface="Quattrocento Sans" pitchFamily="34" charset="-120"/>
              </a:rPr>
              <a:t>TECHNICAL SPECIFICATIONS</a:t>
            </a:r>
            <a:endParaRPr lang="en-US" sz="1800" dirty="0"/>
          </a:p>
        </p:txBody>
      </p:sp>
      <p:sp>
        <p:nvSpPr>
          <p:cNvPr id="38" name="Text 36"/>
          <p:cNvSpPr/>
          <p:nvPr/>
        </p:nvSpPr>
        <p:spPr>
          <a:xfrm>
            <a:off x="1778000" y="9779000"/>
            <a:ext cx="20828000" cy="1905000"/>
          </a:xfrm>
          <a:prstGeom prst="rect">
            <a:avLst/>
          </a:prstGeom>
          <a:noFill/>
          <a:ln/>
        </p:spPr>
        <p:txBody>
          <a:bodyPr wrap="square" lIns="0" tIns="0" rIns="0" bIns="0" rtlCol="0" anchor="t"/>
          <a:lstStyle/>
          <a:p>
            <a:pPr algn="l">
              <a:lnSpc>
                <a:spcPct val="180000"/>
              </a:lnSpc>
            </a:pPr>
            <a:r>
              <a:rPr lang="en-US" sz="18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1800" dirty="0">
                <a:solidFill>
                  <a:srgbClr val="E8DCC8"/>
                </a:solidFill>
                <a:latin typeface="Quattrocento Sans" pitchFamily="34" charset="0"/>
                <a:ea typeface="Quattrocento Sans" pitchFamily="34" charset="-122"/>
                <a:cs typeface="Quattrocento Sans" pitchFamily="34" charset="-120"/>
              </a:rPr>
              <a:t>  </a:t>
            </a:r>
            <a:pPr algn="l">
              <a:lnSpc>
                <a:spcPct val="180000"/>
              </a:lnSpc>
            </a:pPr>
            <a:r>
              <a:rPr lang="en-US" sz="1800" b="1" dirty="0">
                <a:solidFill>
                  <a:srgbClr val="E8DCC8"/>
                </a:solidFill>
                <a:latin typeface="Quattrocento Sans" pitchFamily="34" charset="0"/>
                <a:ea typeface="Quattrocento Sans" pitchFamily="34" charset="-122"/>
                <a:cs typeface="Quattrocento Sans" pitchFamily="34" charset="-120"/>
              </a:rPr>
              <a:t>Native Browser APIs</a:t>
            </a:r>
            <a:pPr algn="l">
              <a:lnSpc>
                <a:spcPct val="180000"/>
              </a:lnSpc>
            </a:pPr>
            <a:r>
              <a:rPr lang="en-US" sz="1800" dirty="0">
                <a:solidFill>
                  <a:srgbClr val="E8DCC8"/>
                </a:solidFill>
                <a:latin typeface="Quattrocento Sans" pitchFamily="34" charset="0"/>
                <a:ea typeface="Quattrocento Sans" pitchFamily="34" charset="-122"/>
                <a:cs typeface="Quattrocento Sans" pitchFamily="34" charset="-120"/>
              </a:rPr>
              <a:t> — HTML5 Video API for decoding, Canvas API for frame capture, Blob API for binary handling</a:t>
            </a:r>
            <a:endParaRPr lang="en-US" sz="1800" dirty="0"/>
          </a:p>
          <a:p>
            <a:pPr algn="l">
              <a:lnSpc>
                <a:spcPct val="180000"/>
              </a:lnSpc>
            </a:pPr>
            <a:r>
              <a:rPr lang="en-US" sz="18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1800" dirty="0">
                <a:solidFill>
                  <a:srgbClr val="E8DCC8"/>
                </a:solidFill>
                <a:latin typeface="Quattrocento Sans" pitchFamily="34" charset="0"/>
                <a:ea typeface="Quattrocento Sans" pitchFamily="34" charset="-122"/>
                <a:cs typeface="Quattrocento Sans" pitchFamily="34" charset="-120"/>
              </a:rPr>
              <a:t>  </a:t>
            </a:r>
            <a:pPr algn="l">
              <a:lnSpc>
                <a:spcPct val="180000"/>
              </a:lnSpc>
            </a:pPr>
            <a:r>
              <a:rPr lang="en-US" sz="1800" b="1" dirty="0">
                <a:solidFill>
                  <a:srgbClr val="E8DCC8"/>
                </a:solidFill>
                <a:latin typeface="Quattrocento Sans" pitchFamily="34" charset="0"/>
                <a:ea typeface="Quattrocento Sans" pitchFamily="34" charset="-122"/>
                <a:cs typeface="Quattrocento Sans" pitchFamily="34" charset="-120"/>
              </a:rPr>
              <a:t>JPEG Quality 0.85</a:t>
            </a:r>
            <a:pPr algn="l">
              <a:lnSpc>
                <a:spcPct val="180000"/>
              </a:lnSpc>
            </a:pPr>
            <a:r>
              <a:rPr lang="en-US" sz="1800" dirty="0">
                <a:solidFill>
                  <a:srgbClr val="E8DCC8"/>
                </a:solidFill>
                <a:latin typeface="Quattrocento Sans" pitchFamily="34" charset="0"/>
                <a:ea typeface="Quattrocento Sans" pitchFamily="34" charset="-122"/>
                <a:cs typeface="Quattrocento Sans" pitchFamily="34" charset="-120"/>
              </a:rPr>
              <a:t> — Optimal balance between file size and image fidelity for machine learning training data</a:t>
            </a:r>
            <a:endParaRPr lang="en-US" sz="1800" dirty="0"/>
          </a:p>
          <a:p>
            <a:pPr algn="l">
              <a:lnSpc>
                <a:spcPct val="180000"/>
              </a:lnSpc>
            </a:pPr>
            <a:r>
              <a:rPr lang="en-US" sz="18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1800" dirty="0">
                <a:solidFill>
                  <a:srgbClr val="E8DCC8"/>
                </a:solidFill>
                <a:latin typeface="Quattrocento Sans" pitchFamily="34" charset="0"/>
                <a:ea typeface="Quattrocento Sans" pitchFamily="34" charset="-122"/>
                <a:cs typeface="Quattrocento Sans" pitchFamily="34" charset="-120"/>
              </a:rPr>
              <a:t>  </a:t>
            </a:r>
            <a:pPr algn="l">
              <a:lnSpc>
                <a:spcPct val="180000"/>
              </a:lnSpc>
            </a:pPr>
            <a:r>
              <a:rPr lang="en-US" sz="1800" b="1" dirty="0">
                <a:solidFill>
                  <a:srgbClr val="E8DCC8"/>
                </a:solidFill>
                <a:latin typeface="Quattrocento Sans" pitchFamily="34" charset="0"/>
                <a:ea typeface="Quattrocento Sans" pitchFamily="34" charset="-122"/>
                <a:cs typeface="Quattrocento Sans" pitchFamily="34" charset="-120"/>
              </a:rPr>
              <a:t>Real-Time Extraction</a:t>
            </a:r>
            <a:pPr algn="l">
              <a:lnSpc>
                <a:spcPct val="180000"/>
              </a:lnSpc>
            </a:pPr>
            <a:r>
              <a:rPr lang="en-US" sz="1800" dirty="0">
                <a:solidFill>
                  <a:srgbClr val="E8DCC8"/>
                </a:solidFill>
                <a:latin typeface="Quattrocento Sans" pitchFamily="34" charset="0"/>
                <a:ea typeface="Quattrocento Sans" pitchFamily="34" charset="-122"/>
                <a:cs typeface="Quattrocento Sans" pitchFamily="34" charset="-120"/>
              </a:rPr>
              <a:t> — Progressive frame capture with live progress tracking and memory-efficient streaming</a:t>
            </a:r>
            <a:endParaRPr lang="en-US" sz="18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21640800" cy="1778000"/>
          </a:xfrm>
          <a:prstGeom prst="rect">
            <a:avLst/>
          </a:prstGeom>
          <a:noFill/>
          <a:ln/>
        </p:spPr>
        <p:txBody>
          <a:bodyPr wrap="square" lIns="0" tIns="0" rIns="0" bIns="0" rtlCol="0" anchor="t"/>
          <a:lstStyle/>
          <a:p>
            <a:pPr algn="l">
              <a:lnSpc>
                <a:spcPct val="110000"/>
              </a:lnSpc>
            </a:pPr>
            <a:r>
              <a:rPr lang="en-US" sz="10000" dirty="0">
                <a:solidFill>
                  <a:srgbClr val="E8DCC8"/>
                </a:solidFill>
                <a:latin typeface="Cinzel" pitchFamily="34" charset="0"/>
                <a:ea typeface="Cinzel" pitchFamily="34" charset="-122"/>
                <a:cs typeface="Cinzel" pitchFamily="34" charset="-120"/>
              </a:rPr>
              <a:t>THE </a:t>
            </a:r>
            <a:pPr algn="l">
              <a:lnSpc>
                <a:spcPct val="110000"/>
              </a:lnSpc>
            </a:pPr>
            <a:r>
              <a:rPr lang="en-US" sz="10000" dirty="0">
                <a:solidFill>
                  <a:srgbClr val="C81E1E"/>
                </a:solidFill>
                <a:latin typeface="Cinzel" pitchFamily="34" charset="0"/>
                <a:ea typeface="Cinzel" pitchFamily="34" charset="-122"/>
                <a:cs typeface="Cinzel" pitchFamily="34" charset="-120"/>
              </a:rPr>
              <a:t>LIFECYCLE</a:t>
            </a:r>
            <a:pPr algn="l">
              <a:lnSpc>
                <a:spcPct val="110000"/>
              </a:lnSpc>
            </a:pPr>
            <a:r>
              <a:rPr lang="en-US" sz="10000" dirty="0">
                <a:solidFill>
                  <a:srgbClr val="E8DCC8"/>
                </a:solidFill>
                <a:latin typeface="Cinzel" pitchFamily="34" charset="0"/>
                <a:ea typeface="Cinzel" pitchFamily="34" charset="-122"/>
                <a:cs typeface="Cinzel" pitchFamily="34" charset="-120"/>
              </a:rPr>
              <a:t> OF A DATASET</a:t>
            </a:r>
            <a:endParaRPr lang="en-US" sz="10000" dirty="0"/>
          </a:p>
        </p:txBody>
      </p:sp>
      <p:sp>
        <p:nvSpPr>
          <p:cNvPr id="7" name="Shape 5"/>
          <p:cNvSpPr/>
          <p:nvPr/>
        </p:nvSpPr>
        <p:spPr>
          <a:xfrm>
            <a:off x="1371600" y="5334000"/>
            <a:ext cx="3810000" cy="1524000"/>
          </a:xfrm>
          <a:prstGeom prst="rect">
            <a:avLst/>
          </a:prstGeom>
          <a:solidFill>
            <a:srgbClr val="1A1212"/>
          </a:solidFill>
          <a:ln w="12700">
            <a:solidFill>
              <a:srgbClr val="6B5B4E"/>
            </a:solidFill>
            <a:prstDash val="solid"/>
          </a:ln>
        </p:spPr>
      </p:sp>
      <p:sp>
        <p:nvSpPr>
          <p:cNvPr id="8" name="Text 6"/>
          <p:cNvSpPr/>
          <p:nvPr/>
        </p:nvSpPr>
        <p:spPr>
          <a:xfrm>
            <a:off x="1371600" y="5461000"/>
            <a:ext cx="3810000" cy="508000"/>
          </a:xfrm>
          <a:prstGeom prst="rect">
            <a:avLst/>
          </a:prstGeom>
          <a:noFill/>
          <a:ln/>
        </p:spPr>
        <p:txBody>
          <a:bodyPr wrap="none" lIns="0" tIns="0" rIns="0" bIns="0" rtlCol="0" anchor="ctr"/>
          <a:lstStyle/>
          <a:p>
            <a:pPr algn="ctr">
              <a:lnSpc>
                <a:spcPct val="120000"/>
              </a:lnSpc>
            </a:pPr>
            <a:r>
              <a:rPr lang="en-US" sz="2800" dirty="0">
                <a:solidFill>
                  <a:srgbClr val="6B5B4E"/>
                </a:solidFill>
                <a:latin typeface="Cinzel" pitchFamily="34" charset="0"/>
                <a:ea typeface="Cinzel" pitchFamily="34" charset="-122"/>
                <a:cs typeface="Cinzel" pitchFamily="34" charset="-120"/>
              </a:rPr>
              <a:t>IDLE</a:t>
            </a:r>
            <a:endParaRPr lang="en-US" sz="2800" dirty="0"/>
          </a:p>
        </p:txBody>
      </p:sp>
      <p:sp>
        <p:nvSpPr>
          <p:cNvPr id="9" name="Text 7"/>
          <p:cNvSpPr/>
          <p:nvPr/>
        </p:nvSpPr>
        <p:spPr>
          <a:xfrm>
            <a:off x="1371600" y="6070600"/>
            <a:ext cx="3810000" cy="381000"/>
          </a:xfrm>
          <a:prstGeom prst="rect">
            <a:avLst/>
          </a:prstGeom>
          <a:noFill/>
          <a:ln/>
        </p:spPr>
        <p:txBody>
          <a:bodyPr wrap="square" lIns="0" tIns="0" rIns="0" bIns="0" rtlCol="0" anchor="ctr"/>
          <a:lstStyle/>
          <a:p>
            <a:pPr algn="ctr">
              <a:lnSpc>
                <a:spcPct val="120000"/>
              </a:lnSpc>
            </a:pPr>
            <a:r>
              <a:rPr lang="en-US" sz="1600" dirty="0">
                <a:solidFill>
                  <a:srgbClr val="6B5B4E"/>
                </a:solidFill>
                <a:latin typeface="Quattrocento Sans" pitchFamily="34" charset="0"/>
                <a:ea typeface="Quattrocento Sans" pitchFamily="34" charset="-122"/>
                <a:cs typeface="Quattrocento Sans" pitchFamily="34" charset="-120"/>
              </a:rPr>
              <a:t>Waiting for video upload</a:t>
            </a:r>
            <a:endParaRPr lang="en-US" sz="1600" dirty="0"/>
          </a:p>
        </p:txBody>
      </p:sp>
      <p:sp>
        <p:nvSpPr>
          <p:cNvPr id="10" name="Shape 8"/>
          <p:cNvSpPr/>
          <p:nvPr/>
        </p:nvSpPr>
        <p:spPr>
          <a:xfrm>
            <a:off x="5181600" y="5969000"/>
            <a:ext cx="1016000" cy="0"/>
          </a:xfrm>
          <a:prstGeom prst="straightConnector1">
            <a:avLst/>
          </a:prstGeom>
          <a:noFill/>
          <a:ln w="25400">
            <a:solidFill>
              <a:srgbClr val="CD7F32"/>
            </a:solidFill>
            <a:prstDash val="solid"/>
            <a:headEnd type="none"/>
            <a:tailEnd type="arrow"/>
          </a:ln>
        </p:spPr>
      </p:sp>
      <p:sp>
        <p:nvSpPr>
          <p:cNvPr id="11" name="Shape 9"/>
          <p:cNvSpPr/>
          <p:nvPr/>
        </p:nvSpPr>
        <p:spPr>
          <a:xfrm>
            <a:off x="6197600" y="5334000"/>
            <a:ext cx="3810000" cy="1524000"/>
          </a:xfrm>
          <a:prstGeom prst="rect">
            <a:avLst/>
          </a:prstGeom>
          <a:solidFill>
            <a:srgbClr val="1A1212"/>
          </a:solidFill>
          <a:ln w="12700">
            <a:solidFill>
              <a:srgbClr val="C81E1E"/>
            </a:solidFill>
            <a:prstDash val="solid"/>
          </a:ln>
        </p:spPr>
      </p:sp>
      <p:sp>
        <p:nvSpPr>
          <p:cNvPr id="12" name="Text 10"/>
          <p:cNvSpPr/>
          <p:nvPr/>
        </p:nvSpPr>
        <p:spPr>
          <a:xfrm>
            <a:off x="6197600" y="5461000"/>
            <a:ext cx="3810000" cy="508000"/>
          </a:xfrm>
          <a:prstGeom prst="rect">
            <a:avLst/>
          </a:prstGeom>
          <a:noFill/>
          <a:ln/>
        </p:spPr>
        <p:txBody>
          <a:bodyPr wrap="none" lIns="0" tIns="0" rIns="0" bIns="0" rtlCol="0" anchor="ctr"/>
          <a:lstStyle/>
          <a:p>
            <a:pPr algn="ctr">
              <a:lnSpc>
                <a:spcPct val="120000"/>
              </a:lnSpc>
            </a:pPr>
            <a:r>
              <a:rPr lang="en-US" sz="2800" dirty="0">
                <a:solidFill>
                  <a:srgbClr val="C81E1E"/>
                </a:solidFill>
                <a:latin typeface="Cinzel" pitchFamily="34" charset="0"/>
                <a:ea typeface="Cinzel" pitchFamily="34" charset="-122"/>
                <a:cs typeface="Cinzel" pitchFamily="34" charset="-120"/>
              </a:rPr>
              <a:t>LOADING</a:t>
            </a:r>
            <a:endParaRPr lang="en-US" sz="2800" dirty="0"/>
          </a:p>
        </p:txBody>
      </p:sp>
      <p:sp>
        <p:nvSpPr>
          <p:cNvPr id="13" name="Text 11"/>
          <p:cNvSpPr/>
          <p:nvPr/>
        </p:nvSpPr>
        <p:spPr>
          <a:xfrm>
            <a:off x="6197600" y="6070600"/>
            <a:ext cx="3810000" cy="381000"/>
          </a:xfrm>
          <a:prstGeom prst="rect">
            <a:avLst/>
          </a:prstGeom>
          <a:noFill/>
          <a:ln/>
        </p:spPr>
        <p:txBody>
          <a:bodyPr wrap="square" lIns="0" tIns="0" rIns="0" bIns="0" rtlCol="0" anchor="ctr"/>
          <a:lstStyle/>
          <a:p>
            <a:pPr algn="ctr">
              <a:lnSpc>
                <a:spcPct val="120000"/>
              </a:lnSpc>
            </a:pPr>
            <a:r>
              <a:rPr lang="en-US" sz="1600" dirty="0">
                <a:solidFill>
                  <a:srgbClr val="6B5B4E"/>
                </a:solidFill>
                <a:latin typeface="Quattrocento Sans" pitchFamily="34" charset="0"/>
                <a:ea typeface="Quattrocento Sans" pitchFamily="34" charset="-122"/>
                <a:cs typeface="Quattrocento Sans" pitchFamily="34" charset="-120"/>
              </a:rPr>
              <a:t>Parsing video metadata</a:t>
            </a:r>
            <a:endParaRPr lang="en-US" sz="1600" dirty="0"/>
          </a:p>
        </p:txBody>
      </p:sp>
      <p:sp>
        <p:nvSpPr>
          <p:cNvPr id="14" name="Shape 12"/>
          <p:cNvSpPr/>
          <p:nvPr/>
        </p:nvSpPr>
        <p:spPr>
          <a:xfrm>
            <a:off x="10007600" y="5969000"/>
            <a:ext cx="1016000" cy="0"/>
          </a:xfrm>
          <a:prstGeom prst="straightConnector1">
            <a:avLst/>
          </a:prstGeom>
          <a:noFill/>
          <a:ln w="25400">
            <a:solidFill>
              <a:srgbClr val="CD7F32"/>
            </a:solidFill>
            <a:prstDash val="solid"/>
            <a:headEnd type="none"/>
            <a:tailEnd type="arrow"/>
          </a:ln>
        </p:spPr>
      </p:sp>
      <p:sp>
        <p:nvSpPr>
          <p:cNvPr id="15" name="Shape 13"/>
          <p:cNvSpPr/>
          <p:nvPr/>
        </p:nvSpPr>
        <p:spPr>
          <a:xfrm>
            <a:off x="11023600" y="5334000"/>
            <a:ext cx="3810000" cy="1524000"/>
          </a:xfrm>
          <a:prstGeom prst="rect">
            <a:avLst/>
          </a:prstGeom>
          <a:solidFill>
            <a:srgbClr val="C81E1E"/>
          </a:solidFill>
          <a:ln/>
        </p:spPr>
      </p:sp>
      <p:sp>
        <p:nvSpPr>
          <p:cNvPr id="16" name="Text 14"/>
          <p:cNvSpPr/>
          <p:nvPr/>
        </p:nvSpPr>
        <p:spPr>
          <a:xfrm>
            <a:off x="11023600" y="5461000"/>
            <a:ext cx="3810000" cy="508000"/>
          </a:xfrm>
          <a:prstGeom prst="rect">
            <a:avLst/>
          </a:prstGeom>
          <a:noFill/>
          <a:ln/>
        </p:spPr>
        <p:txBody>
          <a:bodyPr wrap="none" lIns="0" tIns="0" rIns="0" bIns="0" rtlCol="0" anchor="ctr"/>
          <a:lstStyle/>
          <a:p>
            <a:pPr algn="ctr">
              <a:lnSpc>
                <a:spcPct val="120000"/>
              </a:lnSpc>
            </a:pPr>
            <a:r>
              <a:rPr lang="en-US" sz="2800" dirty="0">
                <a:solidFill>
                  <a:srgbClr val="E8DCC8"/>
                </a:solidFill>
                <a:latin typeface="Cinzel" pitchFamily="34" charset="0"/>
                <a:ea typeface="Cinzel" pitchFamily="34" charset="-122"/>
                <a:cs typeface="Cinzel" pitchFamily="34" charset="-120"/>
              </a:rPr>
              <a:t>EXTRACTING</a:t>
            </a:r>
            <a:endParaRPr lang="en-US" sz="2800" dirty="0"/>
          </a:p>
        </p:txBody>
      </p:sp>
      <p:sp>
        <p:nvSpPr>
          <p:cNvPr id="17" name="Text 15"/>
          <p:cNvSpPr/>
          <p:nvPr/>
        </p:nvSpPr>
        <p:spPr>
          <a:xfrm>
            <a:off x="11023600" y="6070600"/>
            <a:ext cx="3810000" cy="381000"/>
          </a:xfrm>
          <a:prstGeom prst="rect">
            <a:avLst/>
          </a:prstGeom>
          <a:noFill/>
          <a:ln/>
        </p:spPr>
        <p:txBody>
          <a:bodyPr wrap="square" lIns="0" tIns="0" rIns="0" bIns="0" rtlCol="0" anchor="ctr"/>
          <a:lstStyle/>
          <a:p>
            <a:pPr algn="ctr">
              <a:lnSpc>
                <a:spcPct val="120000"/>
              </a:lnSpc>
            </a:pPr>
            <a:r>
              <a:rPr lang="en-US" sz="1600" dirty="0">
                <a:solidFill>
                  <a:srgbClr val="E8DCC8"/>
                </a:solidFill>
                <a:latin typeface="Quattrocento Sans" pitchFamily="34" charset="0"/>
                <a:ea typeface="Quattrocento Sans" pitchFamily="34" charset="-122"/>
                <a:cs typeface="Quattrocento Sans" pitchFamily="34" charset="-120"/>
              </a:rPr>
              <a:t>Frame capture in progress</a:t>
            </a:r>
            <a:endParaRPr lang="en-US" sz="1600" dirty="0"/>
          </a:p>
        </p:txBody>
      </p:sp>
      <p:sp>
        <p:nvSpPr>
          <p:cNvPr id="18" name="Shape 16"/>
          <p:cNvSpPr/>
          <p:nvPr/>
        </p:nvSpPr>
        <p:spPr>
          <a:xfrm>
            <a:off x="14833600" y="5969000"/>
            <a:ext cx="1016000" cy="0"/>
          </a:xfrm>
          <a:prstGeom prst="straightConnector1">
            <a:avLst/>
          </a:prstGeom>
          <a:noFill/>
          <a:ln w="25400">
            <a:solidFill>
              <a:srgbClr val="CD7F32"/>
            </a:solidFill>
            <a:prstDash val="solid"/>
            <a:headEnd type="none"/>
            <a:tailEnd type="arrow"/>
          </a:ln>
        </p:spPr>
      </p:sp>
      <p:sp>
        <p:nvSpPr>
          <p:cNvPr id="19" name="Shape 17"/>
          <p:cNvSpPr/>
          <p:nvPr/>
        </p:nvSpPr>
        <p:spPr>
          <a:xfrm>
            <a:off x="15849600" y="5334000"/>
            <a:ext cx="3810000" cy="1524000"/>
          </a:xfrm>
          <a:prstGeom prst="rect">
            <a:avLst/>
          </a:prstGeom>
          <a:solidFill>
            <a:srgbClr val="CD7F32"/>
          </a:solidFill>
          <a:ln/>
        </p:spPr>
      </p:sp>
      <p:sp>
        <p:nvSpPr>
          <p:cNvPr id="20" name="Text 18"/>
          <p:cNvSpPr/>
          <p:nvPr/>
        </p:nvSpPr>
        <p:spPr>
          <a:xfrm>
            <a:off x="15849600" y="5461000"/>
            <a:ext cx="3810000" cy="508000"/>
          </a:xfrm>
          <a:prstGeom prst="rect">
            <a:avLst/>
          </a:prstGeom>
          <a:noFill/>
          <a:ln/>
        </p:spPr>
        <p:txBody>
          <a:bodyPr wrap="none" lIns="0" tIns="0" rIns="0" bIns="0" rtlCol="0" anchor="ctr"/>
          <a:lstStyle/>
          <a:p>
            <a:pPr algn="ctr">
              <a:lnSpc>
                <a:spcPct val="120000"/>
              </a:lnSpc>
            </a:pPr>
            <a:r>
              <a:rPr lang="en-US" sz="2800" dirty="0">
                <a:solidFill>
                  <a:srgbClr val="1A0A0A"/>
                </a:solidFill>
                <a:latin typeface="Cinzel" pitchFamily="34" charset="0"/>
                <a:ea typeface="Cinzel" pitchFamily="34" charset="-122"/>
                <a:cs typeface="Cinzel" pitchFamily="34" charset="-120"/>
              </a:rPr>
              <a:t>DONE</a:t>
            </a:r>
            <a:endParaRPr lang="en-US" sz="2800" dirty="0"/>
          </a:p>
        </p:txBody>
      </p:sp>
      <p:sp>
        <p:nvSpPr>
          <p:cNvPr id="21" name="Text 19"/>
          <p:cNvSpPr/>
          <p:nvPr/>
        </p:nvSpPr>
        <p:spPr>
          <a:xfrm>
            <a:off x="15849600" y="6070600"/>
            <a:ext cx="3810000" cy="381000"/>
          </a:xfrm>
          <a:prstGeom prst="rect">
            <a:avLst/>
          </a:prstGeom>
          <a:noFill/>
          <a:ln/>
        </p:spPr>
        <p:txBody>
          <a:bodyPr wrap="square" lIns="0" tIns="0" rIns="0" bIns="0" rtlCol="0" anchor="ctr"/>
          <a:lstStyle/>
          <a:p>
            <a:pPr algn="ctr">
              <a:lnSpc>
                <a:spcPct val="120000"/>
              </a:lnSpc>
            </a:pPr>
            <a:r>
              <a:rPr lang="en-US" sz="1600" dirty="0">
                <a:solidFill>
                  <a:srgbClr val="1A0A0A"/>
                </a:solidFill>
                <a:latin typeface="Quattrocento Sans" pitchFamily="34" charset="0"/>
                <a:ea typeface="Quattrocento Sans" pitchFamily="34" charset="-122"/>
                <a:cs typeface="Quattrocento Sans" pitchFamily="34" charset="-120"/>
              </a:rPr>
              <a:t>Dataset ready for download</a:t>
            </a:r>
            <a:endParaRPr lang="en-US" sz="1600" dirty="0"/>
          </a:p>
        </p:txBody>
      </p:sp>
      <p:sp>
        <p:nvSpPr>
          <p:cNvPr id="22" name="Shape 20"/>
          <p:cNvSpPr/>
          <p:nvPr/>
        </p:nvSpPr>
        <p:spPr>
          <a:xfrm>
            <a:off x="11023600" y="6858000"/>
            <a:ext cx="0" cy="1016000"/>
          </a:xfrm>
          <a:prstGeom prst="straightConnector1">
            <a:avLst/>
          </a:prstGeom>
          <a:noFill/>
          <a:ln w="25400">
            <a:solidFill>
              <a:srgbClr val="C81E1E"/>
            </a:solidFill>
            <a:prstDash val="dash"/>
            <a:headEnd type="none"/>
            <a:tailEnd type="arrow"/>
          </a:ln>
        </p:spPr>
      </p:sp>
      <p:sp>
        <p:nvSpPr>
          <p:cNvPr id="23" name="Shape 21"/>
          <p:cNvSpPr/>
          <p:nvPr/>
        </p:nvSpPr>
        <p:spPr>
          <a:xfrm>
            <a:off x="9118600" y="7874000"/>
            <a:ext cx="5080000" cy="1270000"/>
          </a:xfrm>
          <a:prstGeom prst="rect">
            <a:avLst/>
          </a:prstGeom>
          <a:solidFill>
            <a:srgbClr val="9B1C1C"/>
          </a:solidFill>
          <a:ln w="12700">
            <a:solidFill>
              <a:srgbClr val="C81E1E"/>
            </a:solidFill>
            <a:prstDash val="solid"/>
          </a:ln>
        </p:spPr>
      </p:sp>
      <p:sp>
        <p:nvSpPr>
          <p:cNvPr id="24" name="Text 22"/>
          <p:cNvSpPr/>
          <p:nvPr/>
        </p:nvSpPr>
        <p:spPr>
          <a:xfrm>
            <a:off x="9118600" y="8001000"/>
            <a:ext cx="5080000" cy="508000"/>
          </a:xfrm>
          <a:prstGeom prst="rect">
            <a:avLst/>
          </a:prstGeom>
          <a:noFill/>
          <a:ln/>
        </p:spPr>
        <p:txBody>
          <a:bodyPr wrap="none" lIns="0" tIns="0" rIns="0" bIns="0" rtlCol="0" anchor="ctr"/>
          <a:lstStyle/>
          <a:p>
            <a:pPr algn="ctr">
              <a:lnSpc>
                <a:spcPct val="120000"/>
              </a:lnSpc>
            </a:pPr>
            <a:r>
              <a:rPr lang="en-US" sz="2400" dirty="0">
                <a:solidFill>
                  <a:srgbClr val="E8DCC8"/>
                </a:solidFill>
                <a:latin typeface="Cinzel" pitchFamily="34" charset="0"/>
                <a:ea typeface="Cinzel" pitchFamily="34" charset="-122"/>
                <a:cs typeface="Cinzel" pitchFamily="34" charset="-120"/>
              </a:rPr>
              <a:t>ERROR</a:t>
            </a:r>
            <a:endParaRPr lang="en-US" sz="2400" dirty="0"/>
          </a:p>
        </p:txBody>
      </p:sp>
      <p:sp>
        <p:nvSpPr>
          <p:cNvPr id="25" name="Text 23"/>
          <p:cNvSpPr/>
          <p:nvPr/>
        </p:nvSpPr>
        <p:spPr>
          <a:xfrm>
            <a:off x="9118600" y="8559800"/>
            <a:ext cx="5080000" cy="508000"/>
          </a:xfrm>
          <a:prstGeom prst="rect">
            <a:avLst/>
          </a:prstGeom>
          <a:noFill/>
          <a:ln/>
        </p:spPr>
        <p:txBody>
          <a:bodyPr wrap="square" lIns="0" tIns="0" rIns="0" bIns="0" rtlCol="0" anchor="ctr"/>
          <a:lstStyle/>
          <a:p>
            <a:pPr algn="ctr">
              <a:lnSpc>
                <a:spcPct val="120000"/>
              </a:lnSpc>
            </a:pPr>
            <a:r>
              <a:rPr lang="en-US" sz="1600" dirty="0">
                <a:solidFill>
                  <a:srgbClr val="E8DCC8"/>
                </a:solidFill>
                <a:latin typeface="Quattrocento Sans" pitchFamily="34" charset="0"/>
                <a:ea typeface="Quattrocento Sans" pitchFamily="34" charset="-122"/>
                <a:cs typeface="Quattrocento Sans" pitchFamily="34" charset="-120"/>
              </a:rPr>
              <a:t>Graceful recovery and cleanup</a:t>
            </a:r>
            <a:endParaRPr lang="en-US" sz="1600" dirty="0"/>
          </a:p>
        </p:txBody>
      </p:sp>
      <p:sp>
        <p:nvSpPr>
          <p:cNvPr id="26" name="Shape 24"/>
          <p:cNvSpPr/>
          <p:nvPr/>
        </p:nvSpPr>
        <p:spPr>
          <a:xfrm>
            <a:off x="1371600" y="9652000"/>
            <a:ext cx="21640800" cy="2286000"/>
          </a:xfrm>
          <a:prstGeom prst="rect">
            <a:avLst/>
          </a:prstGeom>
          <a:solidFill>
            <a:srgbClr val="1A1212"/>
          </a:solidFill>
          <a:ln w="12700">
            <a:solidFill>
              <a:srgbClr val="3D2A2A"/>
            </a:solidFill>
            <a:prstDash val="solid"/>
          </a:ln>
        </p:spPr>
      </p:sp>
      <p:sp>
        <p:nvSpPr>
          <p:cNvPr id="27" name="Text 25"/>
          <p:cNvSpPr/>
          <p:nvPr/>
        </p:nvSpPr>
        <p:spPr>
          <a:xfrm>
            <a:off x="1778000" y="9906000"/>
            <a:ext cx="20828000" cy="1778000"/>
          </a:xfrm>
          <a:prstGeom prst="rect">
            <a:avLst/>
          </a:prstGeom>
          <a:noFill/>
          <a:ln/>
        </p:spPr>
        <p:txBody>
          <a:bodyPr wrap="square" lIns="0" tIns="0" rIns="0" bIns="0" rtlCol="0" anchor="t"/>
          <a:lstStyle/>
          <a:p>
            <a:pPr algn="l">
              <a:lnSpc>
                <a:spcPct val="170000"/>
              </a:lnSpc>
            </a:pPr>
            <a:r>
              <a:rPr lang="en-US" sz="2000" b="1" dirty="0">
                <a:solidFill>
                  <a:srgbClr val="E8DCC8"/>
                </a:solidFill>
                <a:latin typeface="Quattrocento Sans" pitchFamily="34" charset="0"/>
                <a:ea typeface="Quattrocento Sans" pitchFamily="34" charset="-122"/>
                <a:cs typeface="Quattrocento Sans" pitchFamily="34" charset="-120"/>
              </a:rPr>
              <a:t>Controlled State Transitions:</a:t>
            </a:r>
            <a:pPr algn="l">
              <a:lnSpc>
                <a:spcPct val="170000"/>
              </a:lnSpc>
            </a:pPr>
            <a:r>
              <a:rPr lang="en-US" sz="2000" dirty="0">
                <a:solidFill>
                  <a:srgbClr val="E8DCC8"/>
                </a:solidFill>
                <a:latin typeface="Quattrocento Sans" pitchFamily="34" charset="0"/>
                <a:ea typeface="Quattrocento Sans" pitchFamily="34" charset="-122"/>
                <a:cs typeface="Quattrocento Sans" pitchFamily="34" charset="-120"/>
              </a:rPr>
              <a:t> The system moves predictably through each phase. No state can be skipped, and every transition is validated. The </a:t>
            </a:r>
            <a:pPr algn="l">
              <a:lnSpc>
                <a:spcPct val="170000"/>
              </a:lnSpc>
            </a:pPr>
            <a:r>
              <a:rPr lang="en-US" sz="2000" b="1" dirty="0">
                <a:solidFill>
                  <a:srgbClr val="E8DCC8"/>
                </a:solidFill>
                <a:latin typeface="Quattrocento Sans" pitchFamily="34" charset="0"/>
                <a:ea typeface="Quattrocento Sans" pitchFamily="34" charset="-122"/>
                <a:cs typeface="Quattrocento Sans" pitchFamily="34" charset="-120"/>
              </a:rPr>
              <a:t>Error</a:t>
            </a:r>
            <a:pPr algn="l">
              <a:lnSpc>
                <a:spcPct val="170000"/>
              </a:lnSpc>
            </a:pPr>
            <a:r>
              <a:rPr lang="en-US" sz="2000" dirty="0">
                <a:solidFill>
                  <a:srgbClr val="E8DCC8"/>
                </a:solidFill>
                <a:latin typeface="Quattrocento Sans" pitchFamily="34" charset="0"/>
                <a:ea typeface="Quattrocento Sans" pitchFamily="34" charset="-122"/>
                <a:cs typeface="Quattrocento Sans" pitchFamily="34" charset="-120"/>
              </a:rPr>
              <a:t> state provides a safety net — if anything goes wrong at any stage, the system gracefully recovers, cleans up resources, and returns to Idle.</a:t>
            </a:r>
            <a:endParaRPr lang="en-US" sz="2000" dirty="0"/>
          </a:p>
          <a:p>
            <a:pPr algn="l">
              <a:lnSpc>
                <a:spcPct val="170000"/>
              </a:lnSpc>
              <a:spcBef>
                <a:spcPts val="800"/>
              </a:spcBef>
            </a:pPr>
            <a:r>
              <a:rPr lang="en-US" sz="2000" dirty="0">
                <a:solidFill>
                  <a:srgbClr val="6B5B4E"/>
                </a:solidFill>
                <a:latin typeface="Quattrocento Sans" pitchFamily="34" charset="0"/>
                <a:ea typeface="Quattrocento Sans" pitchFamily="34" charset="-122"/>
                <a:cs typeface="Quattrocento Sans" pitchFamily="34" charset="-120"/>
              </a:rPr>
              <a:t>Abort support is available at any processing stage, ensuring the user always maintains control.</a:t>
            </a:r>
            <a:endParaRPr lang="en-US" sz="20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21640800" cy="1778000"/>
          </a:xfrm>
          <a:prstGeom prst="rect">
            <a:avLst/>
          </a:prstGeom>
          <a:noFill/>
          <a:ln/>
        </p:spPr>
        <p:txBody>
          <a:bodyPr wrap="square" lIns="0" tIns="0" rIns="0" bIns="0" rtlCol="0" anchor="t"/>
          <a:lstStyle/>
          <a:p>
            <a:pPr algn="l">
              <a:lnSpc>
                <a:spcPct val="110000"/>
              </a:lnSpc>
            </a:pPr>
            <a:r>
              <a:rPr lang="en-US" sz="10000" dirty="0">
                <a:solidFill>
                  <a:srgbClr val="E8DCC8"/>
                </a:solidFill>
                <a:latin typeface="Cinzel" pitchFamily="34" charset="0"/>
                <a:ea typeface="Cinzel" pitchFamily="34" charset="-122"/>
                <a:cs typeface="Cinzel" pitchFamily="34" charset="-120"/>
              </a:rPr>
              <a:t>WEAPONS OF THE </a:t>
            </a:r>
            <a:pPr algn="l">
              <a:lnSpc>
                <a:spcPct val="110000"/>
              </a:lnSpc>
            </a:pPr>
            <a:r>
              <a:rPr lang="en-US" sz="10000" dirty="0">
                <a:solidFill>
                  <a:srgbClr val="C81E1E"/>
                </a:solidFill>
                <a:latin typeface="Cinzel" pitchFamily="34" charset="0"/>
                <a:ea typeface="Cinzel" pitchFamily="34" charset="-122"/>
                <a:cs typeface="Cinzel" pitchFamily="34" charset="-120"/>
              </a:rPr>
              <a:t>ENGINE</a:t>
            </a:r>
            <a:endParaRPr lang="en-US" sz="10000" dirty="0"/>
          </a:p>
        </p:txBody>
      </p:sp>
      <p:sp>
        <p:nvSpPr>
          <p:cNvPr id="7" name="Shape 5"/>
          <p:cNvSpPr/>
          <p:nvPr/>
        </p:nvSpPr>
        <p:spPr>
          <a:xfrm>
            <a:off x="1371600" y="5080000"/>
            <a:ext cx="6908800" cy="762000"/>
          </a:xfrm>
          <a:prstGeom prst="rect">
            <a:avLst/>
          </a:prstGeom>
          <a:solidFill>
            <a:srgbClr val="C81E1E"/>
          </a:solidFill>
          <a:ln/>
        </p:spPr>
      </p:sp>
      <p:sp>
        <p:nvSpPr>
          <p:cNvPr id="8" name="Text 6"/>
          <p:cNvSpPr/>
          <p:nvPr/>
        </p:nvSpPr>
        <p:spPr>
          <a:xfrm>
            <a:off x="1371600" y="5080000"/>
            <a:ext cx="6908800" cy="762000"/>
          </a:xfrm>
          <a:prstGeom prst="rect">
            <a:avLst/>
          </a:prstGeom>
          <a:noFill/>
          <a:ln/>
        </p:spPr>
        <p:txBody>
          <a:bodyPr wrap="none" lIns="0" tIns="0" rIns="0" bIns="0" rtlCol="0" anchor="ctr"/>
          <a:lstStyle/>
          <a:p>
            <a:pPr algn="ctr">
              <a:lnSpc>
                <a:spcPct val="120000"/>
              </a:lnSpc>
            </a:pPr>
            <a:r>
              <a:rPr lang="en-US" sz="2400" spc="400" kern="0" dirty="0">
                <a:solidFill>
                  <a:srgbClr val="E8DCC8"/>
                </a:solidFill>
                <a:latin typeface="Cinzel" pitchFamily="34" charset="0"/>
                <a:ea typeface="Cinzel" pitchFamily="34" charset="-122"/>
                <a:cs typeface="Cinzel" pitchFamily="34" charset="-120"/>
              </a:rPr>
              <a:t>INPUT</a:t>
            </a:r>
            <a:endParaRPr lang="en-US" sz="2400" dirty="0"/>
          </a:p>
        </p:txBody>
      </p:sp>
      <p:sp>
        <p:nvSpPr>
          <p:cNvPr id="9" name="Shape 7"/>
          <p:cNvSpPr/>
          <p:nvPr/>
        </p:nvSpPr>
        <p:spPr>
          <a:xfrm>
            <a:off x="1371600" y="5969000"/>
            <a:ext cx="6908800" cy="1778000"/>
          </a:xfrm>
          <a:prstGeom prst="rect">
            <a:avLst/>
          </a:prstGeom>
          <a:solidFill>
            <a:srgbClr val="1A1212"/>
          </a:solidFill>
          <a:ln w="12700">
            <a:solidFill>
              <a:srgbClr val="3D2A2A"/>
            </a:solidFill>
            <a:prstDash val="solid"/>
          </a:ln>
        </p:spPr>
      </p:sp>
      <p:sp>
        <p:nvSpPr>
          <p:cNvPr id="10" name="Shape 8"/>
          <p:cNvSpPr/>
          <p:nvPr/>
        </p:nvSpPr>
        <p:spPr>
          <a:xfrm>
            <a:off x="1778000" y="6350000"/>
            <a:ext cx="457200" cy="457200"/>
          </a:xfrm>
          <a:custGeom>
            <a:avLst/>
            <a:gdLst/>
            <a:ahLst/>
            <a:cxnLst/>
            <a:rect l="l" t="t" r="r" b="b"/>
            <a:pathLst>
              <a:path w="457200" h="457200">
                <a:moveTo>
                  <a:pt x="0" y="57150"/>
                </a:moveTo>
                <a:cubicBezTo>
                  <a:pt x="0" y="25628"/>
                  <a:pt x="34171" y="0"/>
                  <a:pt x="76200" y="0"/>
                </a:cubicBezTo>
                <a:lnTo>
                  <a:pt x="254198" y="0"/>
                </a:lnTo>
                <a:cubicBezTo>
                  <a:pt x="274439" y="0"/>
                  <a:pt x="293846" y="5983"/>
                  <a:pt x="308134" y="16699"/>
                </a:cubicBezTo>
                <a:lnTo>
                  <a:pt x="434935" y="111889"/>
                </a:lnTo>
                <a:cubicBezTo>
                  <a:pt x="449223" y="122605"/>
                  <a:pt x="457200" y="137160"/>
                  <a:pt x="457200" y="152340"/>
                </a:cubicBezTo>
                <a:lnTo>
                  <a:pt x="457200" y="400050"/>
                </a:lnTo>
                <a:cubicBezTo>
                  <a:pt x="457200" y="431572"/>
                  <a:pt x="423029" y="457200"/>
                  <a:pt x="381000" y="457200"/>
                </a:cubicBezTo>
                <a:lnTo>
                  <a:pt x="76200" y="457200"/>
                </a:lnTo>
                <a:cubicBezTo>
                  <a:pt x="34171" y="457200"/>
                  <a:pt x="0" y="431572"/>
                  <a:pt x="0" y="400050"/>
                </a:cubicBezTo>
                <a:lnTo>
                  <a:pt x="0" y="57150"/>
                </a:lnTo>
                <a:close/>
                <a:moveTo>
                  <a:pt x="247650" y="52239"/>
                </a:moveTo>
                <a:lnTo>
                  <a:pt x="247650" y="135731"/>
                </a:lnTo>
                <a:cubicBezTo>
                  <a:pt x="247650" y="147608"/>
                  <a:pt x="260390" y="157163"/>
                  <a:pt x="276225" y="157163"/>
                </a:cubicBezTo>
                <a:lnTo>
                  <a:pt x="387548" y="157163"/>
                </a:lnTo>
                <a:lnTo>
                  <a:pt x="247650" y="52239"/>
                </a:lnTo>
                <a:close/>
                <a:moveTo>
                  <a:pt x="95250" y="271463"/>
                </a:moveTo>
                <a:lnTo>
                  <a:pt x="95250" y="357188"/>
                </a:lnTo>
                <a:cubicBezTo>
                  <a:pt x="95250" y="372993"/>
                  <a:pt x="112276" y="385763"/>
                  <a:pt x="133350" y="385763"/>
                </a:cubicBezTo>
                <a:lnTo>
                  <a:pt x="247650" y="385763"/>
                </a:lnTo>
                <a:cubicBezTo>
                  <a:pt x="268724" y="385763"/>
                  <a:pt x="285750" y="372993"/>
                  <a:pt x="285750" y="357188"/>
                </a:cubicBezTo>
                <a:lnTo>
                  <a:pt x="285750" y="335756"/>
                </a:lnTo>
                <a:lnTo>
                  <a:pt x="327422" y="367010"/>
                </a:lnTo>
                <a:cubicBezTo>
                  <a:pt x="331232" y="369868"/>
                  <a:pt x="336352" y="371475"/>
                  <a:pt x="341709" y="371475"/>
                </a:cubicBezTo>
                <a:cubicBezTo>
                  <a:pt x="352901" y="371475"/>
                  <a:pt x="361950" y="364688"/>
                  <a:pt x="361950" y="356295"/>
                </a:cubicBezTo>
                <a:lnTo>
                  <a:pt x="361950" y="272266"/>
                </a:lnTo>
                <a:cubicBezTo>
                  <a:pt x="361950" y="263872"/>
                  <a:pt x="352901" y="257086"/>
                  <a:pt x="341709" y="257086"/>
                </a:cubicBezTo>
                <a:cubicBezTo>
                  <a:pt x="336352" y="257086"/>
                  <a:pt x="331232" y="258693"/>
                  <a:pt x="327422" y="261551"/>
                </a:cubicBezTo>
                <a:lnTo>
                  <a:pt x="285750" y="292804"/>
                </a:lnTo>
                <a:lnTo>
                  <a:pt x="285750" y="271373"/>
                </a:lnTo>
                <a:cubicBezTo>
                  <a:pt x="285750" y="255568"/>
                  <a:pt x="268724" y="242798"/>
                  <a:pt x="247650" y="242798"/>
                </a:cubicBezTo>
                <a:lnTo>
                  <a:pt x="133350" y="242798"/>
                </a:lnTo>
                <a:cubicBezTo>
                  <a:pt x="112276" y="242798"/>
                  <a:pt x="95250" y="255568"/>
                  <a:pt x="95250" y="271373"/>
                </a:cubicBezTo>
                <a:close/>
              </a:path>
            </a:pathLst>
          </a:custGeom>
          <a:solidFill>
            <a:srgbClr val="CD7F32"/>
          </a:solidFill>
          <a:ln/>
        </p:spPr>
      </p:sp>
      <p:sp>
        <p:nvSpPr>
          <p:cNvPr id="11" name="Text 9"/>
          <p:cNvSpPr/>
          <p:nvPr/>
        </p:nvSpPr>
        <p:spPr>
          <a:xfrm>
            <a:off x="2413000" y="6223000"/>
            <a:ext cx="5588000" cy="3810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Video Upload</a:t>
            </a:r>
            <a:endParaRPr lang="en-US" sz="2200" dirty="0"/>
          </a:p>
        </p:txBody>
      </p:sp>
      <p:sp>
        <p:nvSpPr>
          <p:cNvPr id="12" name="Text 10"/>
          <p:cNvSpPr/>
          <p:nvPr/>
        </p:nvSpPr>
        <p:spPr>
          <a:xfrm>
            <a:off x="2413000" y="6680200"/>
            <a:ext cx="5588000" cy="762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Drag and drop video files directly into the browser interface.</a:t>
            </a:r>
            <a:endParaRPr lang="en-US" sz="1600" dirty="0"/>
          </a:p>
        </p:txBody>
      </p:sp>
      <p:sp>
        <p:nvSpPr>
          <p:cNvPr id="13" name="Shape 11"/>
          <p:cNvSpPr/>
          <p:nvPr/>
        </p:nvSpPr>
        <p:spPr>
          <a:xfrm>
            <a:off x="1371600" y="8001000"/>
            <a:ext cx="6908800" cy="1778000"/>
          </a:xfrm>
          <a:prstGeom prst="rect">
            <a:avLst/>
          </a:prstGeom>
          <a:solidFill>
            <a:srgbClr val="1A1212"/>
          </a:solidFill>
          <a:ln w="12700">
            <a:solidFill>
              <a:srgbClr val="3D2A2A"/>
            </a:solidFill>
            <a:prstDash val="solid"/>
          </a:ln>
        </p:spPr>
      </p:sp>
      <p:sp>
        <p:nvSpPr>
          <p:cNvPr id="14" name="Shape 12"/>
          <p:cNvSpPr/>
          <p:nvPr/>
        </p:nvSpPr>
        <p:spPr>
          <a:xfrm>
            <a:off x="1778000" y="8382000"/>
            <a:ext cx="457200" cy="457200"/>
          </a:xfrm>
          <a:custGeom>
            <a:avLst/>
            <a:gdLst/>
            <a:ahLst/>
            <a:cxnLst/>
            <a:rect l="l" t="t" r="r" b="b"/>
            <a:pathLst>
              <a:path w="457200" h="457200">
                <a:moveTo>
                  <a:pt x="0" y="57150"/>
                </a:moveTo>
                <a:cubicBezTo>
                  <a:pt x="0" y="25628"/>
                  <a:pt x="34171" y="0"/>
                  <a:pt x="76200" y="0"/>
                </a:cubicBezTo>
                <a:lnTo>
                  <a:pt x="254198" y="0"/>
                </a:lnTo>
                <a:cubicBezTo>
                  <a:pt x="274439" y="0"/>
                  <a:pt x="293846" y="5983"/>
                  <a:pt x="308134" y="16699"/>
                </a:cubicBezTo>
                <a:lnTo>
                  <a:pt x="434935" y="111889"/>
                </a:lnTo>
                <a:cubicBezTo>
                  <a:pt x="449223" y="122605"/>
                  <a:pt x="457200" y="137160"/>
                  <a:pt x="457200" y="152340"/>
                </a:cubicBezTo>
                <a:lnTo>
                  <a:pt x="457200" y="400050"/>
                </a:lnTo>
                <a:cubicBezTo>
                  <a:pt x="457200" y="431572"/>
                  <a:pt x="423029" y="457200"/>
                  <a:pt x="381000" y="457200"/>
                </a:cubicBezTo>
                <a:lnTo>
                  <a:pt x="76200" y="457200"/>
                </a:lnTo>
                <a:cubicBezTo>
                  <a:pt x="34171" y="457200"/>
                  <a:pt x="0" y="431572"/>
                  <a:pt x="0" y="400050"/>
                </a:cubicBezTo>
                <a:lnTo>
                  <a:pt x="0" y="57150"/>
                </a:lnTo>
                <a:close/>
                <a:moveTo>
                  <a:pt x="247650" y="52239"/>
                </a:moveTo>
                <a:lnTo>
                  <a:pt x="247650" y="135731"/>
                </a:lnTo>
                <a:cubicBezTo>
                  <a:pt x="247650" y="147608"/>
                  <a:pt x="260390" y="157163"/>
                  <a:pt x="276225" y="157163"/>
                </a:cubicBezTo>
                <a:lnTo>
                  <a:pt x="387548" y="157163"/>
                </a:lnTo>
                <a:lnTo>
                  <a:pt x="247650" y="52239"/>
                </a:lnTo>
                <a:close/>
                <a:moveTo>
                  <a:pt x="76200" y="64294"/>
                </a:moveTo>
                <a:cubicBezTo>
                  <a:pt x="76200" y="76170"/>
                  <a:pt x="88940" y="85725"/>
                  <a:pt x="104775" y="85725"/>
                </a:cubicBezTo>
                <a:lnTo>
                  <a:pt x="161925" y="85725"/>
                </a:lnTo>
                <a:cubicBezTo>
                  <a:pt x="177760" y="85725"/>
                  <a:pt x="190500" y="76170"/>
                  <a:pt x="190500" y="64294"/>
                </a:cubicBezTo>
                <a:cubicBezTo>
                  <a:pt x="190500" y="52417"/>
                  <a:pt x="177760" y="42863"/>
                  <a:pt x="161925" y="42863"/>
                </a:cubicBezTo>
                <a:lnTo>
                  <a:pt x="104775" y="42863"/>
                </a:lnTo>
                <a:cubicBezTo>
                  <a:pt x="88940" y="42863"/>
                  <a:pt x="76200" y="52417"/>
                  <a:pt x="76200" y="64294"/>
                </a:cubicBezTo>
                <a:close/>
                <a:moveTo>
                  <a:pt x="76200" y="150019"/>
                </a:moveTo>
                <a:cubicBezTo>
                  <a:pt x="76200" y="161895"/>
                  <a:pt x="88940" y="171450"/>
                  <a:pt x="104775" y="171450"/>
                </a:cubicBezTo>
                <a:lnTo>
                  <a:pt x="161925" y="171450"/>
                </a:lnTo>
                <a:cubicBezTo>
                  <a:pt x="177760" y="171450"/>
                  <a:pt x="190500" y="161895"/>
                  <a:pt x="190500" y="150019"/>
                </a:cubicBezTo>
                <a:cubicBezTo>
                  <a:pt x="190500" y="138142"/>
                  <a:pt x="177760" y="128588"/>
                  <a:pt x="161925" y="128588"/>
                </a:cubicBezTo>
                <a:lnTo>
                  <a:pt x="104775" y="128588"/>
                </a:lnTo>
                <a:cubicBezTo>
                  <a:pt x="88940" y="128588"/>
                  <a:pt x="76200" y="138142"/>
                  <a:pt x="76200" y="150019"/>
                </a:cubicBezTo>
                <a:close/>
                <a:moveTo>
                  <a:pt x="152400" y="214313"/>
                </a:moveTo>
                <a:lnTo>
                  <a:pt x="114300" y="214313"/>
                </a:lnTo>
                <a:cubicBezTo>
                  <a:pt x="93226" y="214313"/>
                  <a:pt x="76200" y="227082"/>
                  <a:pt x="76200" y="242888"/>
                </a:cubicBezTo>
                <a:lnTo>
                  <a:pt x="76200" y="285750"/>
                </a:lnTo>
                <a:cubicBezTo>
                  <a:pt x="76200" y="309414"/>
                  <a:pt x="101798" y="328613"/>
                  <a:pt x="133350" y="328613"/>
                </a:cubicBezTo>
                <a:cubicBezTo>
                  <a:pt x="164902" y="328613"/>
                  <a:pt x="190500" y="309414"/>
                  <a:pt x="190500" y="285750"/>
                </a:cubicBezTo>
                <a:lnTo>
                  <a:pt x="190500" y="242888"/>
                </a:lnTo>
                <a:cubicBezTo>
                  <a:pt x="190500" y="227082"/>
                  <a:pt x="173474" y="214313"/>
                  <a:pt x="152400" y="214313"/>
                </a:cubicBezTo>
                <a:close/>
                <a:moveTo>
                  <a:pt x="133350" y="271463"/>
                </a:moveTo>
                <a:cubicBezTo>
                  <a:pt x="143864" y="271463"/>
                  <a:pt x="152400" y="277865"/>
                  <a:pt x="152400" y="285750"/>
                </a:cubicBezTo>
                <a:cubicBezTo>
                  <a:pt x="152400" y="293635"/>
                  <a:pt x="143864" y="300038"/>
                  <a:pt x="133350" y="300038"/>
                </a:cubicBezTo>
                <a:cubicBezTo>
                  <a:pt x="122836" y="300038"/>
                  <a:pt x="114300" y="293635"/>
                  <a:pt x="114300" y="285750"/>
                </a:cubicBezTo>
                <a:cubicBezTo>
                  <a:pt x="114300" y="277865"/>
                  <a:pt x="122836" y="271463"/>
                  <a:pt x="133350" y="271463"/>
                </a:cubicBezTo>
                <a:close/>
              </a:path>
            </a:pathLst>
          </a:custGeom>
          <a:solidFill>
            <a:srgbClr val="CD7F32"/>
          </a:solidFill>
          <a:ln/>
        </p:spPr>
      </p:sp>
      <p:sp>
        <p:nvSpPr>
          <p:cNvPr id="15" name="Text 13"/>
          <p:cNvSpPr/>
          <p:nvPr/>
        </p:nvSpPr>
        <p:spPr>
          <a:xfrm>
            <a:off x="2413000" y="8255000"/>
            <a:ext cx="5588000" cy="3810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ZIP Support</a:t>
            </a:r>
            <a:endParaRPr lang="en-US" sz="2200" dirty="0"/>
          </a:p>
        </p:txBody>
      </p:sp>
      <p:sp>
        <p:nvSpPr>
          <p:cNvPr id="16" name="Text 14"/>
          <p:cNvSpPr/>
          <p:nvPr/>
        </p:nvSpPr>
        <p:spPr>
          <a:xfrm>
            <a:off x="2413000" y="8712200"/>
            <a:ext cx="5588000" cy="762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Import and process archived video collections in batch.</a:t>
            </a:r>
            <a:endParaRPr lang="en-US" sz="1600" dirty="0"/>
          </a:p>
        </p:txBody>
      </p:sp>
      <p:sp>
        <p:nvSpPr>
          <p:cNvPr id="17" name="Shape 15"/>
          <p:cNvSpPr/>
          <p:nvPr/>
        </p:nvSpPr>
        <p:spPr>
          <a:xfrm>
            <a:off x="1371600" y="10033000"/>
            <a:ext cx="6908800" cy="1778000"/>
          </a:xfrm>
          <a:prstGeom prst="rect">
            <a:avLst/>
          </a:prstGeom>
          <a:solidFill>
            <a:srgbClr val="1A1212"/>
          </a:solidFill>
          <a:ln w="12700">
            <a:solidFill>
              <a:srgbClr val="3D2A2A"/>
            </a:solidFill>
            <a:prstDash val="solid"/>
          </a:ln>
        </p:spPr>
      </p:sp>
      <p:sp>
        <p:nvSpPr>
          <p:cNvPr id="18" name="Shape 16"/>
          <p:cNvSpPr/>
          <p:nvPr/>
        </p:nvSpPr>
        <p:spPr>
          <a:xfrm>
            <a:off x="1778000" y="10414000"/>
            <a:ext cx="457200" cy="457200"/>
          </a:xfrm>
          <a:custGeom>
            <a:avLst/>
            <a:gdLst/>
            <a:ahLst/>
            <a:cxnLst/>
            <a:rect l="l" t="t" r="r" b="b"/>
            <a:pathLst>
              <a:path w="457200" h="457200">
                <a:moveTo>
                  <a:pt x="0" y="85725"/>
                </a:moveTo>
                <a:cubicBezTo>
                  <a:pt x="0" y="54203"/>
                  <a:pt x="29289" y="28575"/>
                  <a:pt x="65314" y="28575"/>
                </a:cubicBezTo>
                <a:lnTo>
                  <a:pt x="391886" y="28575"/>
                </a:lnTo>
                <a:cubicBezTo>
                  <a:pt x="427911" y="28575"/>
                  <a:pt x="457200" y="54203"/>
                  <a:pt x="457200" y="85725"/>
                </a:cubicBezTo>
                <a:lnTo>
                  <a:pt x="457200" y="371475"/>
                </a:lnTo>
                <a:cubicBezTo>
                  <a:pt x="457200" y="402997"/>
                  <a:pt x="427911" y="428625"/>
                  <a:pt x="391886" y="428625"/>
                </a:cubicBezTo>
                <a:lnTo>
                  <a:pt x="65314" y="428625"/>
                </a:lnTo>
                <a:cubicBezTo>
                  <a:pt x="29289" y="428625"/>
                  <a:pt x="0" y="402997"/>
                  <a:pt x="0" y="371475"/>
                </a:cubicBezTo>
                <a:lnTo>
                  <a:pt x="0" y="85725"/>
                </a:lnTo>
                <a:close/>
                <a:moveTo>
                  <a:pt x="48986" y="328613"/>
                </a:moveTo>
                <a:lnTo>
                  <a:pt x="48986" y="357188"/>
                </a:lnTo>
                <a:cubicBezTo>
                  <a:pt x="48986" y="365046"/>
                  <a:pt x="56334" y="371475"/>
                  <a:pt x="65314" y="371475"/>
                </a:cubicBezTo>
                <a:lnTo>
                  <a:pt x="97971" y="371475"/>
                </a:lnTo>
                <a:cubicBezTo>
                  <a:pt x="106952" y="371475"/>
                  <a:pt x="114300" y="365046"/>
                  <a:pt x="114300" y="357188"/>
                </a:cubicBezTo>
                <a:lnTo>
                  <a:pt x="114300" y="328613"/>
                </a:lnTo>
                <a:cubicBezTo>
                  <a:pt x="114300" y="320754"/>
                  <a:pt x="106952" y="314325"/>
                  <a:pt x="97971" y="314325"/>
                </a:cubicBezTo>
                <a:lnTo>
                  <a:pt x="65314" y="314325"/>
                </a:lnTo>
                <a:cubicBezTo>
                  <a:pt x="56334" y="314325"/>
                  <a:pt x="48986" y="320754"/>
                  <a:pt x="48986" y="328613"/>
                </a:cubicBezTo>
                <a:close/>
                <a:moveTo>
                  <a:pt x="359229" y="314325"/>
                </a:moveTo>
                <a:cubicBezTo>
                  <a:pt x="350248" y="314325"/>
                  <a:pt x="342900" y="320754"/>
                  <a:pt x="342900" y="328613"/>
                </a:cubicBezTo>
                <a:lnTo>
                  <a:pt x="342900" y="357188"/>
                </a:lnTo>
                <a:cubicBezTo>
                  <a:pt x="342900" y="365046"/>
                  <a:pt x="350248" y="371475"/>
                  <a:pt x="359229" y="371475"/>
                </a:cubicBezTo>
                <a:lnTo>
                  <a:pt x="391886" y="371475"/>
                </a:lnTo>
                <a:cubicBezTo>
                  <a:pt x="400866" y="371475"/>
                  <a:pt x="408214" y="365046"/>
                  <a:pt x="408214" y="357188"/>
                </a:cubicBezTo>
                <a:lnTo>
                  <a:pt x="408214" y="328613"/>
                </a:lnTo>
                <a:cubicBezTo>
                  <a:pt x="408214" y="320754"/>
                  <a:pt x="400866" y="314325"/>
                  <a:pt x="391886" y="314325"/>
                </a:cubicBezTo>
                <a:lnTo>
                  <a:pt x="359229" y="314325"/>
                </a:lnTo>
                <a:close/>
                <a:moveTo>
                  <a:pt x="48986" y="214313"/>
                </a:moveTo>
                <a:lnTo>
                  <a:pt x="48986" y="242888"/>
                </a:lnTo>
                <a:cubicBezTo>
                  <a:pt x="48986" y="250746"/>
                  <a:pt x="56334" y="257175"/>
                  <a:pt x="65314" y="257175"/>
                </a:cubicBezTo>
                <a:lnTo>
                  <a:pt x="97971" y="257175"/>
                </a:lnTo>
                <a:cubicBezTo>
                  <a:pt x="106952" y="257175"/>
                  <a:pt x="114300" y="250746"/>
                  <a:pt x="114300" y="242888"/>
                </a:cubicBezTo>
                <a:lnTo>
                  <a:pt x="114300" y="214313"/>
                </a:lnTo>
                <a:cubicBezTo>
                  <a:pt x="114300" y="206454"/>
                  <a:pt x="106952" y="200025"/>
                  <a:pt x="97971" y="200025"/>
                </a:cubicBezTo>
                <a:lnTo>
                  <a:pt x="65314" y="200025"/>
                </a:lnTo>
                <a:cubicBezTo>
                  <a:pt x="56334" y="200025"/>
                  <a:pt x="48986" y="206454"/>
                  <a:pt x="48986" y="214313"/>
                </a:cubicBezTo>
                <a:close/>
                <a:moveTo>
                  <a:pt x="359229" y="200025"/>
                </a:moveTo>
                <a:cubicBezTo>
                  <a:pt x="350248" y="200025"/>
                  <a:pt x="342900" y="206454"/>
                  <a:pt x="342900" y="214313"/>
                </a:cubicBezTo>
                <a:lnTo>
                  <a:pt x="342900" y="242888"/>
                </a:lnTo>
                <a:cubicBezTo>
                  <a:pt x="342900" y="250746"/>
                  <a:pt x="350248" y="257175"/>
                  <a:pt x="359229" y="257175"/>
                </a:cubicBezTo>
                <a:lnTo>
                  <a:pt x="391886" y="257175"/>
                </a:lnTo>
                <a:cubicBezTo>
                  <a:pt x="400866" y="257175"/>
                  <a:pt x="408214" y="250746"/>
                  <a:pt x="408214" y="242888"/>
                </a:cubicBezTo>
                <a:lnTo>
                  <a:pt x="408214" y="214313"/>
                </a:lnTo>
                <a:cubicBezTo>
                  <a:pt x="408214" y="206454"/>
                  <a:pt x="400866" y="200025"/>
                  <a:pt x="391886" y="200025"/>
                </a:cubicBezTo>
                <a:lnTo>
                  <a:pt x="359229" y="200025"/>
                </a:lnTo>
                <a:close/>
                <a:moveTo>
                  <a:pt x="48986" y="100013"/>
                </a:moveTo>
                <a:lnTo>
                  <a:pt x="48986" y="128588"/>
                </a:lnTo>
                <a:cubicBezTo>
                  <a:pt x="48986" y="136446"/>
                  <a:pt x="56334" y="142875"/>
                  <a:pt x="65314" y="142875"/>
                </a:cubicBezTo>
                <a:lnTo>
                  <a:pt x="97971" y="142875"/>
                </a:lnTo>
                <a:cubicBezTo>
                  <a:pt x="106952" y="142875"/>
                  <a:pt x="114300" y="136446"/>
                  <a:pt x="114300" y="128588"/>
                </a:cubicBezTo>
                <a:lnTo>
                  <a:pt x="114300" y="100013"/>
                </a:lnTo>
                <a:cubicBezTo>
                  <a:pt x="114300" y="92154"/>
                  <a:pt x="106952" y="85725"/>
                  <a:pt x="97971" y="85725"/>
                </a:cubicBezTo>
                <a:lnTo>
                  <a:pt x="65314" y="85725"/>
                </a:lnTo>
                <a:cubicBezTo>
                  <a:pt x="56334" y="85725"/>
                  <a:pt x="48986" y="92154"/>
                  <a:pt x="48986" y="100013"/>
                </a:cubicBezTo>
                <a:close/>
                <a:moveTo>
                  <a:pt x="359229" y="85725"/>
                </a:moveTo>
                <a:cubicBezTo>
                  <a:pt x="350248" y="85725"/>
                  <a:pt x="342900" y="92154"/>
                  <a:pt x="342900" y="100013"/>
                </a:cubicBezTo>
                <a:lnTo>
                  <a:pt x="342900" y="128588"/>
                </a:lnTo>
                <a:cubicBezTo>
                  <a:pt x="342900" y="136446"/>
                  <a:pt x="350248" y="142875"/>
                  <a:pt x="359229" y="142875"/>
                </a:cubicBezTo>
                <a:lnTo>
                  <a:pt x="391886" y="142875"/>
                </a:lnTo>
                <a:cubicBezTo>
                  <a:pt x="400866" y="142875"/>
                  <a:pt x="408214" y="136446"/>
                  <a:pt x="408214" y="128588"/>
                </a:cubicBezTo>
                <a:lnTo>
                  <a:pt x="408214" y="100013"/>
                </a:lnTo>
                <a:cubicBezTo>
                  <a:pt x="408214" y="92154"/>
                  <a:pt x="400866" y="85725"/>
                  <a:pt x="391886" y="85725"/>
                </a:cubicBezTo>
                <a:lnTo>
                  <a:pt x="359229" y="85725"/>
                </a:lnTo>
                <a:close/>
              </a:path>
            </a:pathLst>
          </a:custGeom>
          <a:solidFill>
            <a:srgbClr val="CD7F32"/>
          </a:solidFill>
          <a:ln/>
        </p:spPr>
      </p:sp>
      <p:sp>
        <p:nvSpPr>
          <p:cNvPr id="19" name="Text 17"/>
          <p:cNvSpPr/>
          <p:nvPr/>
        </p:nvSpPr>
        <p:spPr>
          <a:xfrm>
            <a:off x="2413000" y="10287000"/>
            <a:ext cx="5588000" cy="3810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Multiple Formats</a:t>
            </a:r>
            <a:endParaRPr lang="en-US" sz="2200" dirty="0"/>
          </a:p>
        </p:txBody>
      </p:sp>
      <p:sp>
        <p:nvSpPr>
          <p:cNvPr id="20" name="Text 18"/>
          <p:cNvSpPr/>
          <p:nvPr/>
        </p:nvSpPr>
        <p:spPr>
          <a:xfrm>
            <a:off x="2413000" y="10744200"/>
            <a:ext cx="5588000" cy="762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MP4, WebM, MOV, and other popular video formats supported.</a:t>
            </a:r>
            <a:endParaRPr lang="en-US" sz="1600" dirty="0"/>
          </a:p>
        </p:txBody>
      </p:sp>
      <p:sp>
        <p:nvSpPr>
          <p:cNvPr id="21" name="Shape 19"/>
          <p:cNvSpPr/>
          <p:nvPr/>
        </p:nvSpPr>
        <p:spPr>
          <a:xfrm>
            <a:off x="8534400" y="5080000"/>
            <a:ext cx="6908800" cy="762000"/>
          </a:xfrm>
          <a:prstGeom prst="rect">
            <a:avLst/>
          </a:prstGeom>
          <a:solidFill>
            <a:srgbClr val="9B1C1C"/>
          </a:solidFill>
          <a:ln/>
        </p:spPr>
      </p:sp>
      <p:sp>
        <p:nvSpPr>
          <p:cNvPr id="22" name="Text 20"/>
          <p:cNvSpPr/>
          <p:nvPr/>
        </p:nvSpPr>
        <p:spPr>
          <a:xfrm>
            <a:off x="8534400" y="5080000"/>
            <a:ext cx="6908800" cy="762000"/>
          </a:xfrm>
          <a:prstGeom prst="rect">
            <a:avLst/>
          </a:prstGeom>
          <a:noFill/>
          <a:ln/>
        </p:spPr>
        <p:txBody>
          <a:bodyPr wrap="none" lIns="0" tIns="0" rIns="0" bIns="0" rtlCol="0" anchor="ctr"/>
          <a:lstStyle/>
          <a:p>
            <a:pPr algn="ctr">
              <a:lnSpc>
                <a:spcPct val="120000"/>
              </a:lnSpc>
            </a:pPr>
            <a:r>
              <a:rPr lang="en-US" sz="2400" spc="400" kern="0" dirty="0">
                <a:solidFill>
                  <a:srgbClr val="E8DCC8"/>
                </a:solidFill>
                <a:latin typeface="Cinzel" pitchFamily="34" charset="0"/>
                <a:ea typeface="Cinzel" pitchFamily="34" charset="-122"/>
                <a:cs typeface="Cinzel" pitchFamily="34" charset="-120"/>
              </a:rPr>
              <a:t>PROCESSING</a:t>
            </a:r>
            <a:endParaRPr lang="en-US" sz="2400" dirty="0"/>
          </a:p>
        </p:txBody>
      </p:sp>
      <p:sp>
        <p:nvSpPr>
          <p:cNvPr id="23" name="Shape 21"/>
          <p:cNvSpPr/>
          <p:nvPr/>
        </p:nvSpPr>
        <p:spPr>
          <a:xfrm>
            <a:off x="8534400" y="5969000"/>
            <a:ext cx="6908800" cy="1778000"/>
          </a:xfrm>
          <a:prstGeom prst="rect">
            <a:avLst/>
          </a:prstGeom>
          <a:solidFill>
            <a:srgbClr val="1A1212"/>
          </a:solidFill>
          <a:ln w="12700">
            <a:solidFill>
              <a:srgbClr val="3D2A2A"/>
            </a:solidFill>
            <a:prstDash val="solid"/>
          </a:ln>
        </p:spPr>
      </p:sp>
      <p:sp>
        <p:nvSpPr>
          <p:cNvPr id="24" name="Shape 22"/>
          <p:cNvSpPr/>
          <p:nvPr/>
        </p:nvSpPr>
        <p:spPr>
          <a:xfrm>
            <a:off x="8940800" y="6350000"/>
            <a:ext cx="457200" cy="457200"/>
          </a:xfrm>
          <a:custGeom>
            <a:avLst/>
            <a:gdLst/>
            <a:ahLst/>
            <a:cxnLst/>
            <a:rect l="l" t="t" r="r" b="b"/>
            <a:pathLst>
              <a:path w="457200" h="457200">
                <a:moveTo>
                  <a:pt x="57150" y="57150"/>
                </a:moveTo>
                <a:cubicBezTo>
                  <a:pt x="57150" y="41344"/>
                  <a:pt x="44381" y="28575"/>
                  <a:pt x="28575" y="28575"/>
                </a:cubicBezTo>
                <a:cubicBezTo>
                  <a:pt x="12769" y="28575"/>
                  <a:pt x="0" y="41344"/>
                  <a:pt x="0" y="57150"/>
                </a:cubicBezTo>
                <a:lnTo>
                  <a:pt x="0" y="357188"/>
                </a:lnTo>
                <a:cubicBezTo>
                  <a:pt x="0" y="396657"/>
                  <a:pt x="31968" y="428625"/>
                  <a:pt x="71438" y="428625"/>
                </a:cubicBezTo>
                <a:lnTo>
                  <a:pt x="428625" y="428625"/>
                </a:lnTo>
                <a:cubicBezTo>
                  <a:pt x="444431" y="428625"/>
                  <a:pt x="457200" y="415856"/>
                  <a:pt x="457200" y="400050"/>
                </a:cubicBezTo>
                <a:cubicBezTo>
                  <a:pt x="457200" y="384244"/>
                  <a:pt x="444431" y="371475"/>
                  <a:pt x="428625" y="371475"/>
                </a:cubicBezTo>
                <a:lnTo>
                  <a:pt x="71438" y="371475"/>
                </a:lnTo>
                <a:cubicBezTo>
                  <a:pt x="63579" y="371475"/>
                  <a:pt x="57150" y="365046"/>
                  <a:pt x="57150" y="357188"/>
                </a:cubicBezTo>
                <a:lnTo>
                  <a:pt x="57150" y="57150"/>
                </a:lnTo>
                <a:close/>
                <a:moveTo>
                  <a:pt x="420231" y="134481"/>
                </a:moveTo>
                <a:cubicBezTo>
                  <a:pt x="431393" y="123319"/>
                  <a:pt x="431393" y="105192"/>
                  <a:pt x="420231" y="94030"/>
                </a:cubicBezTo>
                <a:cubicBezTo>
                  <a:pt x="409069" y="82867"/>
                  <a:pt x="390942" y="82867"/>
                  <a:pt x="379780" y="94030"/>
                </a:cubicBezTo>
                <a:lnTo>
                  <a:pt x="285750" y="188149"/>
                </a:lnTo>
                <a:lnTo>
                  <a:pt x="234494" y="136981"/>
                </a:lnTo>
                <a:cubicBezTo>
                  <a:pt x="223331" y="125819"/>
                  <a:pt x="205204" y="125819"/>
                  <a:pt x="194042" y="136981"/>
                </a:cubicBezTo>
                <a:lnTo>
                  <a:pt x="108317" y="222706"/>
                </a:lnTo>
                <a:cubicBezTo>
                  <a:pt x="97155" y="233869"/>
                  <a:pt x="97155" y="251996"/>
                  <a:pt x="108317" y="263158"/>
                </a:cubicBezTo>
                <a:cubicBezTo>
                  <a:pt x="119479" y="274320"/>
                  <a:pt x="137606" y="274320"/>
                  <a:pt x="148769" y="263158"/>
                </a:cubicBezTo>
                <a:lnTo>
                  <a:pt x="214313" y="197614"/>
                </a:lnTo>
                <a:lnTo>
                  <a:pt x="265569" y="248870"/>
                </a:lnTo>
                <a:cubicBezTo>
                  <a:pt x="276731" y="260033"/>
                  <a:pt x="294858" y="260033"/>
                  <a:pt x="306020" y="248870"/>
                </a:cubicBezTo>
                <a:lnTo>
                  <a:pt x="420320" y="134570"/>
                </a:lnTo>
                <a:close/>
              </a:path>
            </a:pathLst>
          </a:custGeom>
          <a:solidFill>
            <a:srgbClr val="CD7F32"/>
          </a:solidFill>
          <a:ln/>
        </p:spPr>
      </p:sp>
      <p:sp>
        <p:nvSpPr>
          <p:cNvPr id="25" name="Text 23"/>
          <p:cNvSpPr/>
          <p:nvPr/>
        </p:nvSpPr>
        <p:spPr>
          <a:xfrm>
            <a:off x="9575800" y="6223000"/>
            <a:ext cx="5588000" cy="3810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Live Progress</a:t>
            </a:r>
            <a:endParaRPr lang="en-US" sz="2200" dirty="0"/>
          </a:p>
        </p:txBody>
      </p:sp>
      <p:sp>
        <p:nvSpPr>
          <p:cNvPr id="26" name="Text 24"/>
          <p:cNvSpPr/>
          <p:nvPr/>
        </p:nvSpPr>
        <p:spPr>
          <a:xfrm>
            <a:off x="9575800" y="6680200"/>
            <a:ext cx="5588000" cy="762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Real-time progress bar with segment and frame counters.</a:t>
            </a:r>
            <a:endParaRPr lang="en-US" sz="1600" dirty="0"/>
          </a:p>
        </p:txBody>
      </p:sp>
      <p:sp>
        <p:nvSpPr>
          <p:cNvPr id="27" name="Shape 25"/>
          <p:cNvSpPr/>
          <p:nvPr/>
        </p:nvSpPr>
        <p:spPr>
          <a:xfrm>
            <a:off x="8534400" y="8001000"/>
            <a:ext cx="6908800" cy="1778000"/>
          </a:xfrm>
          <a:prstGeom prst="rect">
            <a:avLst/>
          </a:prstGeom>
          <a:solidFill>
            <a:srgbClr val="1A1212"/>
          </a:solidFill>
          <a:ln w="12700">
            <a:solidFill>
              <a:srgbClr val="3D2A2A"/>
            </a:solidFill>
            <a:prstDash val="solid"/>
          </a:ln>
        </p:spPr>
      </p:sp>
      <p:sp>
        <p:nvSpPr>
          <p:cNvPr id="28" name="Shape 26"/>
          <p:cNvSpPr/>
          <p:nvPr/>
        </p:nvSpPr>
        <p:spPr>
          <a:xfrm>
            <a:off x="8940800" y="8382000"/>
            <a:ext cx="457200" cy="457200"/>
          </a:xfrm>
          <a:custGeom>
            <a:avLst/>
            <a:gdLst/>
            <a:ahLst/>
            <a:cxnLst/>
            <a:rect l="l" t="t" r="r" b="b"/>
            <a:pathLst>
              <a:path w="457200" h="457200">
                <a:moveTo>
                  <a:pt x="76200" y="85725"/>
                </a:moveTo>
                <a:cubicBezTo>
                  <a:pt x="76200" y="54203"/>
                  <a:pt x="98981" y="28575"/>
                  <a:pt x="127000" y="28575"/>
                </a:cubicBezTo>
                <a:lnTo>
                  <a:pt x="381000" y="28575"/>
                </a:lnTo>
                <a:cubicBezTo>
                  <a:pt x="409019" y="28575"/>
                  <a:pt x="431800" y="54203"/>
                  <a:pt x="431800" y="85725"/>
                </a:cubicBezTo>
                <a:lnTo>
                  <a:pt x="431800" y="314325"/>
                </a:lnTo>
                <a:cubicBezTo>
                  <a:pt x="431800" y="345847"/>
                  <a:pt x="409019" y="371475"/>
                  <a:pt x="381000" y="371475"/>
                </a:cubicBezTo>
                <a:lnTo>
                  <a:pt x="127000" y="371475"/>
                </a:lnTo>
                <a:cubicBezTo>
                  <a:pt x="98981" y="371475"/>
                  <a:pt x="76200" y="345847"/>
                  <a:pt x="76200" y="314325"/>
                </a:cubicBezTo>
                <a:lnTo>
                  <a:pt x="76200" y="85725"/>
                </a:lnTo>
                <a:close/>
                <a:moveTo>
                  <a:pt x="19050" y="114300"/>
                </a:moveTo>
                <a:cubicBezTo>
                  <a:pt x="29607" y="114300"/>
                  <a:pt x="38100" y="123855"/>
                  <a:pt x="38100" y="135731"/>
                </a:cubicBezTo>
                <a:lnTo>
                  <a:pt x="38100" y="400050"/>
                </a:lnTo>
                <a:cubicBezTo>
                  <a:pt x="38100" y="407908"/>
                  <a:pt x="43815" y="414338"/>
                  <a:pt x="50800" y="414338"/>
                </a:cubicBezTo>
                <a:lnTo>
                  <a:pt x="336550" y="414338"/>
                </a:lnTo>
                <a:cubicBezTo>
                  <a:pt x="347107" y="414338"/>
                  <a:pt x="355600" y="423892"/>
                  <a:pt x="355600" y="435769"/>
                </a:cubicBezTo>
                <a:cubicBezTo>
                  <a:pt x="355600" y="447645"/>
                  <a:pt x="347107" y="457200"/>
                  <a:pt x="336550" y="457200"/>
                </a:cubicBezTo>
                <a:lnTo>
                  <a:pt x="50800" y="457200"/>
                </a:lnTo>
                <a:cubicBezTo>
                  <a:pt x="22781" y="457200"/>
                  <a:pt x="0" y="431572"/>
                  <a:pt x="0" y="400050"/>
                </a:cubicBezTo>
                <a:lnTo>
                  <a:pt x="0" y="135731"/>
                </a:lnTo>
                <a:cubicBezTo>
                  <a:pt x="0" y="123855"/>
                  <a:pt x="8493" y="114300"/>
                  <a:pt x="19050" y="114300"/>
                </a:cubicBezTo>
                <a:close/>
                <a:moveTo>
                  <a:pt x="152400" y="142875"/>
                </a:moveTo>
                <a:cubicBezTo>
                  <a:pt x="166419" y="142875"/>
                  <a:pt x="177800" y="130071"/>
                  <a:pt x="177800" y="114300"/>
                </a:cubicBezTo>
                <a:cubicBezTo>
                  <a:pt x="177800" y="98529"/>
                  <a:pt x="166419" y="85725"/>
                  <a:pt x="152400" y="85725"/>
                </a:cubicBezTo>
                <a:cubicBezTo>
                  <a:pt x="138381" y="85725"/>
                  <a:pt x="127000" y="98529"/>
                  <a:pt x="127000" y="114300"/>
                </a:cubicBezTo>
                <a:cubicBezTo>
                  <a:pt x="127000" y="130071"/>
                  <a:pt x="138381" y="142875"/>
                  <a:pt x="152400" y="142875"/>
                </a:cubicBezTo>
                <a:close/>
                <a:moveTo>
                  <a:pt x="308372" y="153144"/>
                </a:moveTo>
                <a:cubicBezTo>
                  <a:pt x="304879" y="146804"/>
                  <a:pt x="298768" y="142875"/>
                  <a:pt x="292100" y="142875"/>
                </a:cubicBezTo>
                <a:cubicBezTo>
                  <a:pt x="285433" y="142875"/>
                  <a:pt x="279321" y="146804"/>
                  <a:pt x="275828" y="153144"/>
                </a:cubicBezTo>
                <a:lnTo>
                  <a:pt x="231140" y="235387"/>
                </a:lnTo>
                <a:lnTo>
                  <a:pt x="211693" y="208062"/>
                </a:lnTo>
                <a:cubicBezTo>
                  <a:pt x="208042" y="202972"/>
                  <a:pt x="202644" y="200025"/>
                  <a:pt x="196850" y="200025"/>
                </a:cubicBezTo>
                <a:cubicBezTo>
                  <a:pt x="191056" y="200025"/>
                  <a:pt x="185579" y="202972"/>
                  <a:pt x="182007" y="208062"/>
                </a:cubicBezTo>
                <a:lnTo>
                  <a:pt x="131207" y="279499"/>
                </a:lnTo>
                <a:cubicBezTo>
                  <a:pt x="126603" y="285929"/>
                  <a:pt x="125730" y="294769"/>
                  <a:pt x="128905" y="302181"/>
                </a:cubicBezTo>
                <a:cubicBezTo>
                  <a:pt x="132080" y="309592"/>
                  <a:pt x="138748" y="314325"/>
                  <a:pt x="146050" y="314325"/>
                </a:cubicBezTo>
                <a:lnTo>
                  <a:pt x="361950" y="314325"/>
                </a:lnTo>
                <a:cubicBezTo>
                  <a:pt x="368856" y="314325"/>
                  <a:pt x="375206" y="310128"/>
                  <a:pt x="378539" y="303341"/>
                </a:cubicBezTo>
                <a:cubicBezTo>
                  <a:pt x="381873" y="296555"/>
                  <a:pt x="381794" y="288340"/>
                  <a:pt x="378143" y="281642"/>
                </a:cubicBezTo>
                <a:lnTo>
                  <a:pt x="308292" y="153055"/>
                </a:lnTo>
                <a:close/>
              </a:path>
            </a:pathLst>
          </a:custGeom>
          <a:solidFill>
            <a:srgbClr val="CD7F32"/>
          </a:solidFill>
          <a:ln/>
        </p:spPr>
      </p:sp>
      <p:sp>
        <p:nvSpPr>
          <p:cNvPr id="29" name="Text 27"/>
          <p:cNvSpPr/>
          <p:nvPr/>
        </p:nvSpPr>
        <p:spPr>
          <a:xfrm>
            <a:off x="9575800" y="8255000"/>
            <a:ext cx="5588000" cy="3810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Real-Time Gallery</a:t>
            </a:r>
            <a:endParaRPr lang="en-US" sz="2200" dirty="0"/>
          </a:p>
        </p:txBody>
      </p:sp>
      <p:sp>
        <p:nvSpPr>
          <p:cNvPr id="30" name="Text 28"/>
          <p:cNvSpPr/>
          <p:nvPr/>
        </p:nvSpPr>
        <p:spPr>
          <a:xfrm>
            <a:off x="9575800" y="8712200"/>
            <a:ext cx="5588000" cy="762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Preview extracted frames as they are generated in the browser.</a:t>
            </a:r>
            <a:endParaRPr lang="en-US" sz="1600" dirty="0"/>
          </a:p>
        </p:txBody>
      </p:sp>
      <p:sp>
        <p:nvSpPr>
          <p:cNvPr id="31" name="Shape 29"/>
          <p:cNvSpPr/>
          <p:nvPr/>
        </p:nvSpPr>
        <p:spPr>
          <a:xfrm>
            <a:off x="8534400" y="10033000"/>
            <a:ext cx="6908800" cy="1778000"/>
          </a:xfrm>
          <a:prstGeom prst="rect">
            <a:avLst/>
          </a:prstGeom>
          <a:solidFill>
            <a:srgbClr val="1A1212"/>
          </a:solidFill>
          <a:ln w="12700">
            <a:solidFill>
              <a:srgbClr val="3D2A2A"/>
            </a:solidFill>
            <a:prstDash val="solid"/>
          </a:ln>
        </p:spPr>
      </p:sp>
      <p:sp>
        <p:nvSpPr>
          <p:cNvPr id="32" name="Shape 30"/>
          <p:cNvSpPr/>
          <p:nvPr/>
        </p:nvSpPr>
        <p:spPr>
          <a:xfrm>
            <a:off x="8940800" y="10414000"/>
            <a:ext cx="457200" cy="457200"/>
          </a:xfrm>
          <a:custGeom>
            <a:avLst/>
            <a:gdLst/>
            <a:ahLst/>
            <a:cxnLst/>
            <a:rect l="l" t="t" r="r" b="b"/>
            <a:pathLst>
              <a:path w="457200" h="457200">
                <a:moveTo>
                  <a:pt x="257175" y="28575"/>
                </a:moveTo>
                <a:cubicBezTo>
                  <a:pt x="257175" y="12769"/>
                  <a:pt x="244406" y="0"/>
                  <a:pt x="228600" y="0"/>
                </a:cubicBezTo>
                <a:cubicBezTo>
                  <a:pt x="212794" y="0"/>
                  <a:pt x="200025" y="12769"/>
                  <a:pt x="200025" y="28575"/>
                </a:cubicBezTo>
                <a:lnTo>
                  <a:pt x="200025" y="214313"/>
                </a:lnTo>
                <a:cubicBezTo>
                  <a:pt x="200025" y="222171"/>
                  <a:pt x="193596" y="228600"/>
                  <a:pt x="185738" y="228600"/>
                </a:cubicBezTo>
                <a:cubicBezTo>
                  <a:pt x="177879" y="228600"/>
                  <a:pt x="171450" y="222171"/>
                  <a:pt x="171450" y="214313"/>
                </a:cubicBezTo>
                <a:lnTo>
                  <a:pt x="171450" y="57150"/>
                </a:lnTo>
                <a:cubicBezTo>
                  <a:pt x="171450" y="41344"/>
                  <a:pt x="158681" y="28575"/>
                  <a:pt x="142875" y="28575"/>
                </a:cubicBezTo>
                <a:cubicBezTo>
                  <a:pt x="127069" y="28575"/>
                  <a:pt x="114300" y="41344"/>
                  <a:pt x="114300" y="57150"/>
                </a:cubicBezTo>
                <a:lnTo>
                  <a:pt x="114300" y="300038"/>
                </a:lnTo>
                <a:cubicBezTo>
                  <a:pt x="114300" y="301377"/>
                  <a:pt x="114300" y="302806"/>
                  <a:pt x="114389" y="304145"/>
                </a:cubicBezTo>
                <a:lnTo>
                  <a:pt x="60365" y="252710"/>
                </a:lnTo>
                <a:cubicBezTo>
                  <a:pt x="46077" y="239137"/>
                  <a:pt x="23485" y="239673"/>
                  <a:pt x="9823" y="253960"/>
                </a:cubicBezTo>
                <a:cubicBezTo>
                  <a:pt x="-3840" y="268248"/>
                  <a:pt x="-3215" y="290840"/>
                  <a:pt x="11073" y="304502"/>
                </a:cubicBezTo>
                <a:lnTo>
                  <a:pt x="111443" y="400050"/>
                </a:lnTo>
                <a:cubicBezTo>
                  <a:pt x="149929" y="436751"/>
                  <a:pt x="201097" y="457200"/>
                  <a:pt x="254318" y="457200"/>
                </a:cubicBezTo>
                <a:lnTo>
                  <a:pt x="271463" y="457200"/>
                </a:lnTo>
                <a:cubicBezTo>
                  <a:pt x="358259" y="457200"/>
                  <a:pt x="428625" y="386834"/>
                  <a:pt x="428625" y="300038"/>
                </a:cubicBezTo>
                <a:lnTo>
                  <a:pt x="428625" y="114300"/>
                </a:lnTo>
                <a:cubicBezTo>
                  <a:pt x="428625" y="98494"/>
                  <a:pt x="415856" y="85725"/>
                  <a:pt x="400050" y="85725"/>
                </a:cubicBezTo>
                <a:cubicBezTo>
                  <a:pt x="384244" y="85725"/>
                  <a:pt x="371475" y="98494"/>
                  <a:pt x="371475" y="114300"/>
                </a:cubicBezTo>
                <a:lnTo>
                  <a:pt x="371475" y="214313"/>
                </a:lnTo>
                <a:cubicBezTo>
                  <a:pt x="371475" y="222171"/>
                  <a:pt x="365046" y="228600"/>
                  <a:pt x="357188" y="228600"/>
                </a:cubicBezTo>
                <a:cubicBezTo>
                  <a:pt x="349329" y="228600"/>
                  <a:pt x="342900" y="222171"/>
                  <a:pt x="342900" y="214313"/>
                </a:cubicBezTo>
                <a:lnTo>
                  <a:pt x="342900" y="57150"/>
                </a:lnTo>
                <a:cubicBezTo>
                  <a:pt x="342900" y="41344"/>
                  <a:pt x="330131" y="28575"/>
                  <a:pt x="314325" y="28575"/>
                </a:cubicBezTo>
                <a:cubicBezTo>
                  <a:pt x="298519" y="28575"/>
                  <a:pt x="285750" y="41344"/>
                  <a:pt x="285750" y="57150"/>
                </a:cubicBezTo>
                <a:lnTo>
                  <a:pt x="285750" y="214313"/>
                </a:lnTo>
                <a:cubicBezTo>
                  <a:pt x="285750" y="222171"/>
                  <a:pt x="279321" y="228600"/>
                  <a:pt x="271463" y="228600"/>
                </a:cubicBezTo>
                <a:cubicBezTo>
                  <a:pt x="263604" y="228600"/>
                  <a:pt x="257175" y="222171"/>
                  <a:pt x="257175" y="214313"/>
                </a:cubicBezTo>
                <a:lnTo>
                  <a:pt x="257175" y="28575"/>
                </a:lnTo>
                <a:close/>
              </a:path>
            </a:pathLst>
          </a:custGeom>
          <a:solidFill>
            <a:srgbClr val="CD7F32"/>
          </a:solidFill>
          <a:ln/>
        </p:spPr>
      </p:sp>
      <p:sp>
        <p:nvSpPr>
          <p:cNvPr id="33" name="Text 31"/>
          <p:cNvSpPr/>
          <p:nvPr/>
        </p:nvSpPr>
        <p:spPr>
          <a:xfrm>
            <a:off x="9575800" y="10287000"/>
            <a:ext cx="5588000" cy="3810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Abort Support</a:t>
            </a:r>
            <a:endParaRPr lang="en-US" sz="2200" dirty="0"/>
          </a:p>
        </p:txBody>
      </p:sp>
      <p:sp>
        <p:nvSpPr>
          <p:cNvPr id="34" name="Text 32"/>
          <p:cNvSpPr/>
          <p:nvPr/>
        </p:nvSpPr>
        <p:spPr>
          <a:xfrm>
            <a:off x="9575800" y="10744200"/>
            <a:ext cx="5588000" cy="762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Cancel extraction at any time with graceful resource cleanup.</a:t>
            </a:r>
            <a:endParaRPr lang="en-US" sz="1600" dirty="0"/>
          </a:p>
        </p:txBody>
      </p:sp>
      <p:sp>
        <p:nvSpPr>
          <p:cNvPr id="35" name="Shape 33"/>
          <p:cNvSpPr/>
          <p:nvPr/>
        </p:nvSpPr>
        <p:spPr>
          <a:xfrm>
            <a:off x="15697200" y="5080000"/>
            <a:ext cx="7315200" cy="762000"/>
          </a:xfrm>
          <a:prstGeom prst="rect">
            <a:avLst/>
          </a:prstGeom>
          <a:solidFill>
            <a:srgbClr val="CD7F32"/>
          </a:solidFill>
          <a:ln/>
        </p:spPr>
      </p:sp>
      <p:sp>
        <p:nvSpPr>
          <p:cNvPr id="36" name="Text 34"/>
          <p:cNvSpPr/>
          <p:nvPr/>
        </p:nvSpPr>
        <p:spPr>
          <a:xfrm>
            <a:off x="15697200" y="5080000"/>
            <a:ext cx="7315200" cy="762000"/>
          </a:xfrm>
          <a:prstGeom prst="rect">
            <a:avLst/>
          </a:prstGeom>
          <a:noFill/>
          <a:ln/>
        </p:spPr>
        <p:txBody>
          <a:bodyPr wrap="none" lIns="0" tIns="0" rIns="0" bIns="0" rtlCol="0" anchor="ctr"/>
          <a:lstStyle/>
          <a:p>
            <a:pPr algn="ctr">
              <a:lnSpc>
                <a:spcPct val="120000"/>
              </a:lnSpc>
            </a:pPr>
            <a:r>
              <a:rPr lang="en-US" sz="2400" spc="400" kern="0" dirty="0">
                <a:solidFill>
                  <a:srgbClr val="1A0A0A"/>
                </a:solidFill>
                <a:latin typeface="Cinzel" pitchFamily="34" charset="0"/>
                <a:ea typeface="Cinzel" pitchFamily="34" charset="-122"/>
                <a:cs typeface="Cinzel" pitchFamily="34" charset="-120"/>
              </a:rPr>
              <a:t>OUTPUT</a:t>
            </a:r>
            <a:endParaRPr lang="en-US" sz="2400" dirty="0"/>
          </a:p>
        </p:txBody>
      </p:sp>
      <p:sp>
        <p:nvSpPr>
          <p:cNvPr id="37" name="Shape 35"/>
          <p:cNvSpPr/>
          <p:nvPr/>
        </p:nvSpPr>
        <p:spPr>
          <a:xfrm>
            <a:off x="15697200" y="5969000"/>
            <a:ext cx="7315200" cy="1778000"/>
          </a:xfrm>
          <a:prstGeom prst="rect">
            <a:avLst/>
          </a:prstGeom>
          <a:solidFill>
            <a:srgbClr val="1A1212"/>
          </a:solidFill>
          <a:ln w="12700">
            <a:solidFill>
              <a:srgbClr val="3D2A2A"/>
            </a:solidFill>
            <a:prstDash val="solid"/>
          </a:ln>
        </p:spPr>
      </p:sp>
      <p:sp>
        <p:nvSpPr>
          <p:cNvPr id="38" name="Shape 36"/>
          <p:cNvSpPr/>
          <p:nvPr/>
        </p:nvSpPr>
        <p:spPr>
          <a:xfrm>
            <a:off x="16103600" y="6350000"/>
            <a:ext cx="457200" cy="457200"/>
          </a:xfrm>
          <a:custGeom>
            <a:avLst/>
            <a:gdLst/>
            <a:ahLst/>
            <a:cxnLst/>
            <a:rect l="l" t="t" r="r" b="b"/>
            <a:pathLst>
              <a:path w="457200" h="457200">
                <a:moveTo>
                  <a:pt x="0" y="57150"/>
                </a:moveTo>
                <a:cubicBezTo>
                  <a:pt x="0" y="25628"/>
                  <a:pt x="34171" y="0"/>
                  <a:pt x="76200" y="0"/>
                </a:cubicBezTo>
                <a:lnTo>
                  <a:pt x="254198" y="0"/>
                </a:lnTo>
                <a:cubicBezTo>
                  <a:pt x="274439" y="0"/>
                  <a:pt x="293846" y="5983"/>
                  <a:pt x="308134" y="16699"/>
                </a:cubicBezTo>
                <a:lnTo>
                  <a:pt x="434935" y="111889"/>
                </a:lnTo>
                <a:cubicBezTo>
                  <a:pt x="449223" y="122605"/>
                  <a:pt x="457200" y="137160"/>
                  <a:pt x="457200" y="152340"/>
                </a:cubicBezTo>
                <a:lnTo>
                  <a:pt x="457200" y="400050"/>
                </a:lnTo>
                <a:cubicBezTo>
                  <a:pt x="457200" y="431572"/>
                  <a:pt x="423029" y="457200"/>
                  <a:pt x="381000" y="457200"/>
                </a:cubicBezTo>
                <a:lnTo>
                  <a:pt x="76200" y="457200"/>
                </a:lnTo>
                <a:cubicBezTo>
                  <a:pt x="34171" y="457200"/>
                  <a:pt x="0" y="431572"/>
                  <a:pt x="0" y="400050"/>
                </a:cubicBezTo>
                <a:lnTo>
                  <a:pt x="0" y="57150"/>
                </a:lnTo>
                <a:close/>
                <a:moveTo>
                  <a:pt x="247650" y="52239"/>
                </a:moveTo>
                <a:lnTo>
                  <a:pt x="247650" y="135731"/>
                </a:lnTo>
                <a:cubicBezTo>
                  <a:pt x="247650" y="147608"/>
                  <a:pt x="260390" y="157163"/>
                  <a:pt x="276225" y="157163"/>
                </a:cubicBezTo>
                <a:lnTo>
                  <a:pt x="387548" y="157163"/>
                </a:lnTo>
                <a:lnTo>
                  <a:pt x="247650" y="52239"/>
                </a:lnTo>
                <a:close/>
                <a:moveTo>
                  <a:pt x="76200" y="64294"/>
                </a:moveTo>
                <a:cubicBezTo>
                  <a:pt x="76200" y="76170"/>
                  <a:pt x="88940" y="85725"/>
                  <a:pt x="104775" y="85725"/>
                </a:cubicBezTo>
                <a:lnTo>
                  <a:pt x="161925" y="85725"/>
                </a:lnTo>
                <a:cubicBezTo>
                  <a:pt x="177760" y="85725"/>
                  <a:pt x="190500" y="76170"/>
                  <a:pt x="190500" y="64294"/>
                </a:cubicBezTo>
                <a:cubicBezTo>
                  <a:pt x="190500" y="52417"/>
                  <a:pt x="177760" y="42863"/>
                  <a:pt x="161925" y="42863"/>
                </a:cubicBezTo>
                <a:lnTo>
                  <a:pt x="104775" y="42863"/>
                </a:lnTo>
                <a:cubicBezTo>
                  <a:pt x="88940" y="42863"/>
                  <a:pt x="76200" y="52417"/>
                  <a:pt x="76200" y="64294"/>
                </a:cubicBezTo>
                <a:close/>
                <a:moveTo>
                  <a:pt x="76200" y="150019"/>
                </a:moveTo>
                <a:cubicBezTo>
                  <a:pt x="76200" y="161895"/>
                  <a:pt x="88940" y="171450"/>
                  <a:pt x="104775" y="171450"/>
                </a:cubicBezTo>
                <a:lnTo>
                  <a:pt x="161925" y="171450"/>
                </a:lnTo>
                <a:cubicBezTo>
                  <a:pt x="177760" y="171450"/>
                  <a:pt x="190500" y="161895"/>
                  <a:pt x="190500" y="150019"/>
                </a:cubicBezTo>
                <a:cubicBezTo>
                  <a:pt x="190500" y="138142"/>
                  <a:pt x="177760" y="128588"/>
                  <a:pt x="161925" y="128588"/>
                </a:cubicBezTo>
                <a:lnTo>
                  <a:pt x="104775" y="128588"/>
                </a:lnTo>
                <a:cubicBezTo>
                  <a:pt x="88940" y="128588"/>
                  <a:pt x="76200" y="138142"/>
                  <a:pt x="76200" y="150019"/>
                </a:cubicBezTo>
                <a:close/>
                <a:moveTo>
                  <a:pt x="152400" y="214313"/>
                </a:moveTo>
                <a:lnTo>
                  <a:pt x="114300" y="214313"/>
                </a:lnTo>
                <a:cubicBezTo>
                  <a:pt x="93226" y="214313"/>
                  <a:pt x="76200" y="227082"/>
                  <a:pt x="76200" y="242888"/>
                </a:cubicBezTo>
                <a:lnTo>
                  <a:pt x="76200" y="285750"/>
                </a:lnTo>
                <a:cubicBezTo>
                  <a:pt x="76200" y="309414"/>
                  <a:pt x="101798" y="328613"/>
                  <a:pt x="133350" y="328613"/>
                </a:cubicBezTo>
                <a:cubicBezTo>
                  <a:pt x="164902" y="328613"/>
                  <a:pt x="190500" y="309414"/>
                  <a:pt x="190500" y="285750"/>
                </a:cubicBezTo>
                <a:lnTo>
                  <a:pt x="190500" y="242888"/>
                </a:lnTo>
                <a:cubicBezTo>
                  <a:pt x="190500" y="227082"/>
                  <a:pt x="173474" y="214313"/>
                  <a:pt x="152400" y="214313"/>
                </a:cubicBezTo>
                <a:close/>
                <a:moveTo>
                  <a:pt x="133350" y="271463"/>
                </a:moveTo>
                <a:cubicBezTo>
                  <a:pt x="143864" y="271463"/>
                  <a:pt x="152400" y="277865"/>
                  <a:pt x="152400" y="285750"/>
                </a:cubicBezTo>
                <a:cubicBezTo>
                  <a:pt x="152400" y="293635"/>
                  <a:pt x="143864" y="300038"/>
                  <a:pt x="133350" y="300038"/>
                </a:cubicBezTo>
                <a:cubicBezTo>
                  <a:pt x="122836" y="300038"/>
                  <a:pt x="114300" y="293635"/>
                  <a:pt x="114300" y="285750"/>
                </a:cubicBezTo>
                <a:cubicBezTo>
                  <a:pt x="114300" y="277865"/>
                  <a:pt x="122836" y="271463"/>
                  <a:pt x="133350" y="271463"/>
                </a:cubicBezTo>
                <a:close/>
              </a:path>
            </a:pathLst>
          </a:custGeom>
          <a:solidFill>
            <a:srgbClr val="CD7F32"/>
          </a:solidFill>
          <a:ln/>
        </p:spPr>
      </p:sp>
      <p:sp>
        <p:nvSpPr>
          <p:cNvPr id="39" name="Text 37"/>
          <p:cNvSpPr/>
          <p:nvPr/>
        </p:nvSpPr>
        <p:spPr>
          <a:xfrm>
            <a:off x="16738600" y="6223000"/>
            <a:ext cx="5867400" cy="3810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Dataset ZIP</a:t>
            </a:r>
            <a:endParaRPr lang="en-US" sz="2200" dirty="0"/>
          </a:p>
        </p:txBody>
      </p:sp>
      <p:sp>
        <p:nvSpPr>
          <p:cNvPr id="40" name="Text 38"/>
          <p:cNvSpPr/>
          <p:nvPr/>
        </p:nvSpPr>
        <p:spPr>
          <a:xfrm>
            <a:off x="16738600" y="6680200"/>
            <a:ext cx="5867400" cy="762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Complete packaged dataset with all extracted frames and metadata.</a:t>
            </a:r>
            <a:endParaRPr lang="en-US" sz="1600" dirty="0"/>
          </a:p>
        </p:txBody>
      </p:sp>
      <p:sp>
        <p:nvSpPr>
          <p:cNvPr id="41" name="Shape 39"/>
          <p:cNvSpPr/>
          <p:nvPr/>
        </p:nvSpPr>
        <p:spPr>
          <a:xfrm>
            <a:off x="15697200" y="8001000"/>
            <a:ext cx="7315200" cy="1778000"/>
          </a:xfrm>
          <a:prstGeom prst="rect">
            <a:avLst/>
          </a:prstGeom>
          <a:solidFill>
            <a:srgbClr val="1A1212"/>
          </a:solidFill>
          <a:ln w="12700">
            <a:solidFill>
              <a:srgbClr val="3D2A2A"/>
            </a:solidFill>
            <a:prstDash val="solid"/>
          </a:ln>
        </p:spPr>
      </p:sp>
      <p:sp>
        <p:nvSpPr>
          <p:cNvPr id="42" name="Shape 40"/>
          <p:cNvSpPr/>
          <p:nvPr/>
        </p:nvSpPr>
        <p:spPr>
          <a:xfrm>
            <a:off x="16103600" y="8382000"/>
            <a:ext cx="457200" cy="457200"/>
          </a:xfrm>
          <a:custGeom>
            <a:avLst/>
            <a:gdLst/>
            <a:ahLst/>
            <a:cxnLst/>
            <a:rect l="l" t="t" r="r" b="b"/>
            <a:pathLst>
              <a:path w="457200" h="457200">
                <a:moveTo>
                  <a:pt x="200025" y="0"/>
                </a:moveTo>
                <a:cubicBezTo>
                  <a:pt x="231547" y="0"/>
                  <a:pt x="257175" y="19199"/>
                  <a:pt x="257175" y="42863"/>
                </a:cubicBezTo>
                <a:cubicBezTo>
                  <a:pt x="257175" y="52149"/>
                  <a:pt x="253246" y="60722"/>
                  <a:pt x="246459" y="67776"/>
                </a:cubicBezTo>
                <a:cubicBezTo>
                  <a:pt x="240566" y="73938"/>
                  <a:pt x="235744" y="81439"/>
                  <a:pt x="235744" y="90011"/>
                </a:cubicBezTo>
                <a:cubicBezTo>
                  <a:pt x="235744" y="103406"/>
                  <a:pt x="246638" y="114300"/>
                  <a:pt x="260033" y="114300"/>
                </a:cubicBezTo>
                <a:lnTo>
                  <a:pt x="300038" y="114300"/>
                </a:lnTo>
                <a:cubicBezTo>
                  <a:pt x="323701" y="114300"/>
                  <a:pt x="342900" y="133499"/>
                  <a:pt x="342900" y="157163"/>
                </a:cubicBezTo>
                <a:lnTo>
                  <a:pt x="342900" y="197168"/>
                </a:lnTo>
                <a:cubicBezTo>
                  <a:pt x="342900" y="210562"/>
                  <a:pt x="353794" y="221456"/>
                  <a:pt x="367189" y="221456"/>
                </a:cubicBezTo>
                <a:cubicBezTo>
                  <a:pt x="375672" y="221456"/>
                  <a:pt x="383262" y="216634"/>
                  <a:pt x="389424" y="210741"/>
                </a:cubicBezTo>
                <a:cubicBezTo>
                  <a:pt x="396478" y="204043"/>
                  <a:pt x="405051" y="200025"/>
                  <a:pt x="414337" y="200025"/>
                </a:cubicBezTo>
                <a:cubicBezTo>
                  <a:pt x="438001" y="200025"/>
                  <a:pt x="457200" y="225653"/>
                  <a:pt x="457200" y="257175"/>
                </a:cubicBezTo>
                <a:cubicBezTo>
                  <a:pt x="457200" y="288697"/>
                  <a:pt x="438001" y="314325"/>
                  <a:pt x="414337" y="314325"/>
                </a:cubicBezTo>
                <a:cubicBezTo>
                  <a:pt x="405051" y="314325"/>
                  <a:pt x="396389" y="310396"/>
                  <a:pt x="389424" y="303609"/>
                </a:cubicBezTo>
                <a:cubicBezTo>
                  <a:pt x="383262" y="297716"/>
                  <a:pt x="375761" y="292894"/>
                  <a:pt x="367189" y="292894"/>
                </a:cubicBezTo>
                <a:cubicBezTo>
                  <a:pt x="353794" y="292894"/>
                  <a:pt x="342900" y="303788"/>
                  <a:pt x="342900" y="317183"/>
                </a:cubicBezTo>
                <a:lnTo>
                  <a:pt x="342900" y="414338"/>
                </a:lnTo>
                <a:cubicBezTo>
                  <a:pt x="342900" y="438001"/>
                  <a:pt x="323701" y="457200"/>
                  <a:pt x="300038" y="457200"/>
                </a:cubicBezTo>
                <a:lnTo>
                  <a:pt x="249317" y="457200"/>
                </a:lnTo>
                <a:cubicBezTo>
                  <a:pt x="237887" y="457200"/>
                  <a:pt x="228600" y="447913"/>
                  <a:pt x="228600" y="436483"/>
                </a:cubicBezTo>
                <a:cubicBezTo>
                  <a:pt x="228600" y="428268"/>
                  <a:pt x="233779" y="421035"/>
                  <a:pt x="240387" y="416123"/>
                </a:cubicBezTo>
                <a:cubicBezTo>
                  <a:pt x="250746" y="408355"/>
                  <a:pt x="257175" y="397639"/>
                  <a:pt x="257175" y="385763"/>
                </a:cubicBezTo>
                <a:cubicBezTo>
                  <a:pt x="257175" y="362099"/>
                  <a:pt x="231547" y="342900"/>
                  <a:pt x="200025" y="342900"/>
                </a:cubicBezTo>
                <a:cubicBezTo>
                  <a:pt x="168503" y="342900"/>
                  <a:pt x="142875" y="362099"/>
                  <a:pt x="142875" y="385763"/>
                </a:cubicBezTo>
                <a:cubicBezTo>
                  <a:pt x="142875" y="397639"/>
                  <a:pt x="149304" y="408355"/>
                  <a:pt x="159663" y="416123"/>
                </a:cubicBezTo>
                <a:cubicBezTo>
                  <a:pt x="166271" y="421035"/>
                  <a:pt x="171450" y="428179"/>
                  <a:pt x="171450" y="436483"/>
                </a:cubicBezTo>
                <a:cubicBezTo>
                  <a:pt x="171450" y="447913"/>
                  <a:pt x="162163" y="457200"/>
                  <a:pt x="150733" y="457200"/>
                </a:cubicBezTo>
                <a:lnTo>
                  <a:pt x="42863" y="457200"/>
                </a:lnTo>
                <a:cubicBezTo>
                  <a:pt x="19199" y="457200"/>
                  <a:pt x="0" y="438001"/>
                  <a:pt x="0" y="414338"/>
                </a:cubicBezTo>
                <a:lnTo>
                  <a:pt x="0" y="306467"/>
                </a:lnTo>
                <a:cubicBezTo>
                  <a:pt x="0" y="295037"/>
                  <a:pt x="9287" y="285750"/>
                  <a:pt x="20717" y="285750"/>
                </a:cubicBezTo>
                <a:cubicBezTo>
                  <a:pt x="28932" y="285750"/>
                  <a:pt x="36165" y="290929"/>
                  <a:pt x="41077" y="297537"/>
                </a:cubicBezTo>
                <a:cubicBezTo>
                  <a:pt x="48845" y="307896"/>
                  <a:pt x="59561" y="314325"/>
                  <a:pt x="71438" y="314325"/>
                </a:cubicBezTo>
                <a:cubicBezTo>
                  <a:pt x="95101" y="314325"/>
                  <a:pt x="114300" y="288697"/>
                  <a:pt x="114300" y="257175"/>
                </a:cubicBezTo>
                <a:cubicBezTo>
                  <a:pt x="114300" y="225653"/>
                  <a:pt x="95101" y="200025"/>
                  <a:pt x="71438" y="200025"/>
                </a:cubicBezTo>
                <a:cubicBezTo>
                  <a:pt x="59561" y="200025"/>
                  <a:pt x="48845" y="206454"/>
                  <a:pt x="41077" y="216813"/>
                </a:cubicBezTo>
                <a:cubicBezTo>
                  <a:pt x="36165" y="223421"/>
                  <a:pt x="29021" y="228600"/>
                  <a:pt x="20717" y="228600"/>
                </a:cubicBezTo>
                <a:cubicBezTo>
                  <a:pt x="9287" y="228600"/>
                  <a:pt x="0" y="219313"/>
                  <a:pt x="0" y="207883"/>
                </a:cubicBezTo>
                <a:lnTo>
                  <a:pt x="0" y="157163"/>
                </a:lnTo>
                <a:cubicBezTo>
                  <a:pt x="0" y="133499"/>
                  <a:pt x="19199" y="114300"/>
                  <a:pt x="42863" y="114300"/>
                </a:cubicBezTo>
                <a:lnTo>
                  <a:pt x="140018" y="114300"/>
                </a:lnTo>
                <a:cubicBezTo>
                  <a:pt x="153412" y="114300"/>
                  <a:pt x="164306" y="103406"/>
                  <a:pt x="164306" y="90011"/>
                </a:cubicBezTo>
                <a:cubicBezTo>
                  <a:pt x="164306" y="81528"/>
                  <a:pt x="159484" y="73938"/>
                  <a:pt x="153591" y="67776"/>
                </a:cubicBezTo>
                <a:cubicBezTo>
                  <a:pt x="146893" y="60722"/>
                  <a:pt x="142875" y="52149"/>
                  <a:pt x="142875" y="42863"/>
                </a:cubicBezTo>
                <a:cubicBezTo>
                  <a:pt x="142875" y="19199"/>
                  <a:pt x="168503" y="0"/>
                  <a:pt x="200025" y="0"/>
                </a:cubicBezTo>
                <a:close/>
              </a:path>
            </a:pathLst>
          </a:custGeom>
          <a:solidFill>
            <a:srgbClr val="CD7F32"/>
          </a:solidFill>
          <a:ln/>
        </p:spPr>
      </p:sp>
      <p:sp>
        <p:nvSpPr>
          <p:cNvPr id="43" name="Text 41"/>
          <p:cNvSpPr/>
          <p:nvPr/>
        </p:nvSpPr>
        <p:spPr>
          <a:xfrm>
            <a:off x="16738600" y="8255000"/>
            <a:ext cx="5867400" cy="3810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Segment ZIP</a:t>
            </a:r>
            <a:endParaRPr lang="en-US" sz="2200" dirty="0"/>
          </a:p>
        </p:txBody>
      </p:sp>
      <p:sp>
        <p:nvSpPr>
          <p:cNvPr id="44" name="Text 42"/>
          <p:cNvSpPr/>
          <p:nvPr/>
        </p:nvSpPr>
        <p:spPr>
          <a:xfrm>
            <a:off x="16738600" y="8712200"/>
            <a:ext cx="5867400" cy="762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Individual segment archives for modular dataset organization.</a:t>
            </a:r>
            <a:endParaRPr lang="en-US" sz="1600" dirty="0"/>
          </a:p>
        </p:txBody>
      </p:sp>
      <p:sp>
        <p:nvSpPr>
          <p:cNvPr id="45" name="Shape 43"/>
          <p:cNvSpPr/>
          <p:nvPr/>
        </p:nvSpPr>
        <p:spPr>
          <a:xfrm>
            <a:off x="15697200" y="10033000"/>
            <a:ext cx="7315200" cy="1778000"/>
          </a:xfrm>
          <a:prstGeom prst="rect">
            <a:avLst/>
          </a:prstGeom>
          <a:solidFill>
            <a:srgbClr val="1A1212"/>
          </a:solidFill>
          <a:ln w="12700">
            <a:solidFill>
              <a:srgbClr val="3D2A2A"/>
            </a:solidFill>
            <a:prstDash val="solid"/>
          </a:ln>
        </p:spPr>
      </p:sp>
      <p:sp>
        <p:nvSpPr>
          <p:cNvPr id="46" name="Shape 44"/>
          <p:cNvSpPr/>
          <p:nvPr/>
        </p:nvSpPr>
        <p:spPr>
          <a:xfrm>
            <a:off x="16103600" y="10414000"/>
            <a:ext cx="457200" cy="457200"/>
          </a:xfrm>
          <a:custGeom>
            <a:avLst/>
            <a:gdLst/>
            <a:ahLst/>
            <a:cxnLst/>
            <a:rect l="l" t="t" r="r" b="b"/>
            <a:pathLst>
              <a:path w="457200" h="457200">
                <a:moveTo>
                  <a:pt x="0" y="57150"/>
                </a:moveTo>
                <a:cubicBezTo>
                  <a:pt x="0" y="25628"/>
                  <a:pt x="34171" y="0"/>
                  <a:pt x="76200" y="0"/>
                </a:cubicBezTo>
                <a:lnTo>
                  <a:pt x="254198" y="0"/>
                </a:lnTo>
                <a:cubicBezTo>
                  <a:pt x="274439" y="0"/>
                  <a:pt x="293846" y="5983"/>
                  <a:pt x="308134" y="16699"/>
                </a:cubicBezTo>
                <a:lnTo>
                  <a:pt x="434935" y="111889"/>
                </a:lnTo>
                <a:cubicBezTo>
                  <a:pt x="449223" y="122605"/>
                  <a:pt x="457200" y="137160"/>
                  <a:pt x="457200" y="152340"/>
                </a:cubicBezTo>
                <a:lnTo>
                  <a:pt x="457200" y="400050"/>
                </a:lnTo>
                <a:cubicBezTo>
                  <a:pt x="457200" y="431572"/>
                  <a:pt x="423029" y="457200"/>
                  <a:pt x="381000" y="457200"/>
                </a:cubicBezTo>
                <a:lnTo>
                  <a:pt x="76200" y="457200"/>
                </a:lnTo>
                <a:cubicBezTo>
                  <a:pt x="34171" y="457200"/>
                  <a:pt x="0" y="431572"/>
                  <a:pt x="0" y="400050"/>
                </a:cubicBezTo>
                <a:lnTo>
                  <a:pt x="0" y="57150"/>
                </a:lnTo>
                <a:close/>
                <a:moveTo>
                  <a:pt x="247650" y="52239"/>
                </a:moveTo>
                <a:lnTo>
                  <a:pt x="247650" y="135731"/>
                </a:lnTo>
                <a:cubicBezTo>
                  <a:pt x="247650" y="147608"/>
                  <a:pt x="260390" y="157163"/>
                  <a:pt x="276225" y="157163"/>
                </a:cubicBezTo>
                <a:lnTo>
                  <a:pt x="387548" y="157163"/>
                </a:lnTo>
                <a:lnTo>
                  <a:pt x="247650" y="52239"/>
                </a:lnTo>
                <a:close/>
                <a:moveTo>
                  <a:pt x="183594" y="263962"/>
                </a:moveTo>
                <a:cubicBezTo>
                  <a:pt x="193834" y="254943"/>
                  <a:pt x="192524" y="241459"/>
                  <a:pt x="180499" y="233779"/>
                </a:cubicBezTo>
                <a:cubicBezTo>
                  <a:pt x="168473" y="226100"/>
                  <a:pt x="150495" y="227082"/>
                  <a:pt x="140256" y="236101"/>
                </a:cubicBezTo>
                <a:lnTo>
                  <a:pt x="83106" y="286107"/>
                </a:lnTo>
                <a:cubicBezTo>
                  <a:pt x="73938" y="294144"/>
                  <a:pt x="73938" y="305931"/>
                  <a:pt x="83106" y="313968"/>
                </a:cubicBezTo>
                <a:lnTo>
                  <a:pt x="140256" y="363974"/>
                </a:lnTo>
                <a:cubicBezTo>
                  <a:pt x="150495" y="372993"/>
                  <a:pt x="168592" y="373975"/>
                  <a:pt x="180499" y="366296"/>
                </a:cubicBezTo>
                <a:cubicBezTo>
                  <a:pt x="192405" y="358616"/>
                  <a:pt x="193834" y="345043"/>
                  <a:pt x="183594" y="336113"/>
                </a:cubicBezTo>
                <a:lnTo>
                  <a:pt x="142399" y="300038"/>
                </a:lnTo>
                <a:lnTo>
                  <a:pt x="183594" y="263962"/>
                </a:lnTo>
                <a:close/>
                <a:moveTo>
                  <a:pt x="316944" y="236101"/>
                </a:moveTo>
                <a:cubicBezTo>
                  <a:pt x="306705" y="227082"/>
                  <a:pt x="288607" y="226100"/>
                  <a:pt x="276701" y="233779"/>
                </a:cubicBezTo>
                <a:cubicBezTo>
                  <a:pt x="264795" y="241459"/>
                  <a:pt x="263366" y="255032"/>
                  <a:pt x="273606" y="263962"/>
                </a:cubicBezTo>
                <a:lnTo>
                  <a:pt x="314801" y="300038"/>
                </a:lnTo>
                <a:lnTo>
                  <a:pt x="273606" y="336113"/>
                </a:lnTo>
                <a:cubicBezTo>
                  <a:pt x="263366" y="345132"/>
                  <a:pt x="264676" y="358616"/>
                  <a:pt x="276701" y="366296"/>
                </a:cubicBezTo>
                <a:cubicBezTo>
                  <a:pt x="288727" y="373975"/>
                  <a:pt x="306705" y="372993"/>
                  <a:pt x="316944" y="363974"/>
                </a:cubicBezTo>
                <a:lnTo>
                  <a:pt x="374094" y="313968"/>
                </a:lnTo>
                <a:cubicBezTo>
                  <a:pt x="383262" y="305931"/>
                  <a:pt x="383262" y="294144"/>
                  <a:pt x="374094" y="286107"/>
                </a:cubicBezTo>
                <a:lnTo>
                  <a:pt x="316944" y="236101"/>
                </a:lnTo>
                <a:close/>
              </a:path>
            </a:pathLst>
          </a:custGeom>
          <a:solidFill>
            <a:srgbClr val="CD7F32"/>
          </a:solidFill>
          <a:ln/>
        </p:spPr>
      </p:sp>
      <p:sp>
        <p:nvSpPr>
          <p:cNvPr id="47" name="Text 45"/>
          <p:cNvSpPr/>
          <p:nvPr/>
        </p:nvSpPr>
        <p:spPr>
          <a:xfrm>
            <a:off x="16738600" y="10287000"/>
            <a:ext cx="5867400" cy="3810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Manifest JSON</a:t>
            </a:r>
            <a:endParaRPr lang="en-US" sz="2200" dirty="0"/>
          </a:p>
        </p:txBody>
      </p:sp>
      <p:sp>
        <p:nvSpPr>
          <p:cNvPr id="48" name="Text 46"/>
          <p:cNvSpPr/>
          <p:nvPr/>
        </p:nvSpPr>
        <p:spPr>
          <a:xfrm>
            <a:off x="16738600" y="10744200"/>
            <a:ext cx="5867400" cy="762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Structured metadata with full frame traceability and indexing.</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21640800" cy="1778000"/>
          </a:xfrm>
          <a:prstGeom prst="rect">
            <a:avLst/>
          </a:prstGeom>
          <a:noFill/>
          <a:ln/>
        </p:spPr>
        <p:txBody>
          <a:bodyPr wrap="square" lIns="0" tIns="0" rIns="0" bIns="0" rtlCol="0" anchor="t"/>
          <a:lstStyle/>
          <a:p>
            <a:pPr algn="l">
              <a:lnSpc>
                <a:spcPct val="110000"/>
              </a:lnSpc>
            </a:pPr>
            <a:r>
              <a:rPr lang="en-US" sz="10000" dirty="0">
                <a:solidFill>
                  <a:srgbClr val="E8DCC8"/>
                </a:solidFill>
                <a:latin typeface="Cinzel" pitchFamily="34" charset="0"/>
                <a:ea typeface="Cinzel" pitchFamily="34" charset="-122"/>
                <a:cs typeface="Cinzel" pitchFamily="34" charset="-120"/>
              </a:rPr>
              <a:t>THE </a:t>
            </a:r>
            <a:pPr algn="l">
              <a:lnSpc>
                <a:spcPct val="110000"/>
              </a:lnSpc>
            </a:pPr>
            <a:r>
              <a:rPr lang="en-US" sz="10000" dirty="0">
                <a:solidFill>
                  <a:srgbClr val="C81E1E"/>
                </a:solidFill>
                <a:latin typeface="Cinzel" pitchFamily="34" charset="0"/>
                <a:ea typeface="Cinzel" pitchFamily="34" charset="-122"/>
                <a:cs typeface="Cinzel" pitchFamily="34" charset="-120"/>
              </a:rPr>
              <a:t>LINEAGE</a:t>
            </a:r>
            <a:pPr algn="l">
              <a:lnSpc>
                <a:spcPct val="110000"/>
              </a:lnSpc>
            </a:pPr>
            <a:r>
              <a:rPr lang="en-US" sz="10000" dirty="0">
                <a:solidFill>
                  <a:srgbClr val="E8DCC8"/>
                </a:solidFill>
                <a:latin typeface="Cinzel" pitchFamily="34" charset="0"/>
                <a:ea typeface="Cinzel" pitchFamily="34" charset="-122"/>
                <a:cs typeface="Cinzel" pitchFamily="34" charset="-120"/>
              </a:rPr>
              <a:t> MANIFEST</a:t>
            </a:r>
            <a:endParaRPr lang="en-US" sz="10000" dirty="0"/>
          </a:p>
        </p:txBody>
      </p:sp>
      <p:sp>
        <p:nvSpPr>
          <p:cNvPr id="7" name="Text 5"/>
          <p:cNvSpPr/>
          <p:nvPr/>
        </p:nvSpPr>
        <p:spPr>
          <a:xfrm>
            <a:off x="1371600" y="4953000"/>
            <a:ext cx="10160000" cy="457200"/>
          </a:xfrm>
          <a:prstGeom prst="rect">
            <a:avLst/>
          </a:prstGeom>
          <a:noFill/>
          <a:ln/>
        </p:spPr>
        <p:txBody>
          <a:bodyPr wrap="none" lIns="0" tIns="0" rIns="0" bIns="0" rtlCol="0" anchor="ctr"/>
          <a:lstStyle/>
          <a:p>
            <a:pPr algn="l">
              <a:lnSpc>
                <a:spcPct val="120000"/>
              </a:lnSpc>
            </a:pPr>
            <a:r>
              <a:rPr lang="en-US" sz="1800" spc="400" kern="0" dirty="0">
                <a:solidFill>
                  <a:srgbClr val="CD7F32"/>
                </a:solidFill>
                <a:latin typeface="Quattrocento Sans" pitchFamily="34" charset="0"/>
                <a:ea typeface="Quattrocento Sans" pitchFamily="34" charset="-122"/>
                <a:cs typeface="Quattrocento Sans" pitchFamily="34" charset="-120"/>
              </a:rPr>
              <a:t>FILENAME ANATOMY</a:t>
            </a:r>
            <a:endParaRPr lang="en-US" sz="1800" dirty="0"/>
          </a:p>
        </p:txBody>
      </p:sp>
      <p:sp>
        <p:nvSpPr>
          <p:cNvPr id="8" name="Shape 6"/>
          <p:cNvSpPr/>
          <p:nvPr/>
        </p:nvSpPr>
        <p:spPr>
          <a:xfrm>
            <a:off x="1371600" y="5588000"/>
            <a:ext cx="11430000" cy="1016000"/>
          </a:xfrm>
          <a:prstGeom prst="rect">
            <a:avLst/>
          </a:prstGeom>
          <a:solidFill>
            <a:srgbClr val="1A1212"/>
          </a:solidFill>
          <a:ln w="12700">
            <a:solidFill>
              <a:srgbClr val="3D2A2A"/>
            </a:solidFill>
            <a:prstDash val="solid"/>
          </a:ln>
        </p:spPr>
      </p:sp>
      <p:sp>
        <p:nvSpPr>
          <p:cNvPr id="9" name="Text 7"/>
          <p:cNvSpPr/>
          <p:nvPr/>
        </p:nvSpPr>
        <p:spPr>
          <a:xfrm>
            <a:off x="1778000" y="5588000"/>
            <a:ext cx="10617200" cy="1016000"/>
          </a:xfrm>
          <a:prstGeom prst="rect">
            <a:avLst/>
          </a:prstGeom>
          <a:noFill/>
          <a:ln/>
        </p:spPr>
        <p:txBody>
          <a:bodyPr wrap="none" lIns="0" tIns="0" rIns="0" bIns="0" rtlCol="0" anchor="ctr"/>
          <a:lstStyle/>
          <a:p>
            <a:pPr algn="l">
              <a:lnSpc>
                <a:spcPct val="120000"/>
              </a:lnSpc>
            </a:pPr>
            <a:r>
              <a:rPr lang="en-US" sz="2400" dirty="0">
                <a:solidFill>
                  <a:srgbClr val="CD7F32"/>
                </a:solidFill>
                <a:latin typeface="Quattrocento Sans" pitchFamily="34" charset="0"/>
                <a:ea typeface="Quattrocento Sans" pitchFamily="34" charset="-122"/>
                <a:cs typeface="Quattrocento Sans" pitchFamily="34" charset="-120"/>
              </a:rPr>
              <a:t>video</a:t>
            </a:r>
            <a:pPr algn="l">
              <a:lnSpc>
                <a:spcPct val="120000"/>
              </a:lnSpc>
            </a:pPr>
            <a:r>
              <a:rPr lang="en-US" sz="2400" dirty="0">
                <a:solidFill>
                  <a:srgbClr val="E8DCC8"/>
                </a:solidFill>
                <a:latin typeface="Quattrocento Sans" pitchFamily="34" charset="0"/>
                <a:ea typeface="Quattrocento Sans" pitchFamily="34" charset="-122"/>
                <a:cs typeface="Quattrocento Sans" pitchFamily="34" charset="-120"/>
              </a:rPr>
              <a:t>_</a:t>
            </a:r>
            <a:pPr algn="l">
              <a:lnSpc>
                <a:spcPct val="120000"/>
              </a:lnSpc>
            </a:pPr>
            <a:r>
              <a:rPr lang="en-US" sz="2400" dirty="0">
                <a:solidFill>
                  <a:srgbClr val="C81E1E"/>
                </a:solidFill>
                <a:latin typeface="Quattrocento Sans" pitchFamily="34" charset="0"/>
                <a:ea typeface="Quattrocento Sans" pitchFamily="34" charset="-122"/>
                <a:cs typeface="Quattrocento Sans" pitchFamily="34" charset="-120"/>
              </a:rPr>
              <a:t>segment_01</a:t>
            </a:r>
            <a:pPr algn="l">
              <a:lnSpc>
                <a:spcPct val="120000"/>
              </a:lnSpc>
            </a:pPr>
            <a:r>
              <a:rPr lang="en-US" sz="2400" dirty="0">
                <a:solidFill>
                  <a:srgbClr val="E8DCC8"/>
                </a:solidFill>
                <a:latin typeface="Quattrocento Sans" pitchFamily="34" charset="0"/>
                <a:ea typeface="Quattrocento Sans" pitchFamily="34" charset="-122"/>
                <a:cs typeface="Quattrocento Sans" pitchFamily="34" charset="-120"/>
              </a:rPr>
              <a:t>_</a:t>
            </a:r>
            <a:pPr algn="l">
              <a:lnSpc>
                <a:spcPct val="120000"/>
              </a:lnSpc>
            </a:pPr>
            <a:r>
              <a:rPr lang="en-US" sz="2400" dirty="0">
                <a:solidFill>
                  <a:srgbClr val="CD7F32"/>
                </a:solidFill>
                <a:latin typeface="Quattrocento Sans" pitchFamily="34" charset="0"/>
                <a:ea typeface="Quattrocento Sans" pitchFamily="34" charset="-122"/>
                <a:cs typeface="Quattrocento Sans" pitchFamily="34" charset="-120"/>
              </a:rPr>
              <a:t>frame_001</a:t>
            </a:r>
            <a:pPr algn="l">
              <a:lnSpc>
                <a:spcPct val="120000"/>
              </a:lnSpc>
            </a:pPr>
            <a:r>
              <a:rPr lang="en-US" sz="2400" dirty="0">
                <a:solidFill>
                  <a:srgbClr val="E8DCC8"/>
                </a:solidFill>
                <a:latin typeface="Quattrocento Sans" pitchFamily="34" charset="0"/>
                <a:ea typeface="Quattrocento Sans" pitchFamily="34" charset="-122"/>
                <a:cs typeface="Quattrocento Sans" pitchFamily="34" charset="-120"/>
              </a:rPr>
              <a:t>.jpg</a:t>
            </a:r>
            <a:endParaRPr lang="en-US" sz="2400" dirty="0"/>
          </a:p>
        </p:txBody>
      </p:sp>
      <p:sp>
        <p:nvSpPr>
          <p:cNvPr id="10" name="Text 8"/>
          <p:cNvSpPr/>
          <p:nvPr/>
        </p:nvSpPr>
        <p:spPr>
          <a:xfrm>
            <a:off x="1371600" y="6858000"/>
            <a:ext cx="11430000" cy="2413000"/>
          </a:xfrm>
          <a:prstGeom prst="rect">
            <a:avLst/>
          </a:prstGeom>
          <a:noFill/>
          <a:ln/>
        </p:spPr>
        <p:txBody>
          <a:bodyPr wrap="square" lIns="0" tIns="0" rIns="0" bIns="0" rtlCol="0" anchor="t"/>
          <a:lstStyle/>
          <a:p>
            <a:pPr algn="l">
              <a:lnSpc>
                <a:spcPct val="180000"/>
              </a:lnSpc>
            </a:pPr>
            <a:r>
              <a:rPr lang="en-US" sz="2000" dirty="0">
                <a:solidFill>
                  <a:srgbClr val="CD7F32"/>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a:t>
            </a:r>
            <a:pPr algn="l">
              <a:lnSpc>
                <a:spcPct val="180000"/>
              </a:lnSpc>
            </a:pPr>
            <a:r>
              <a:rPr lang="en-US" sz="2000" b="1" dirty="0">
                <a:solidFill>
                  <a:srgbClr val="E8DCC8"/>
                </a:solidFill>
                <a:latin typeface="Quattrocento Sans" pitchFamily="34" charset="0"/>
                <a:ea typeface="Quattrocento Sans" pitchFamily="34" charset="-122"/>
                <a:cs typeface="Quattrocento Sans" pitchFamily="34" charset="-120"/>
              </a:rPr>
              <a:t>Source Identifier</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 The original video filename</a:t>
            </a:r>
            <a:endParaRPr lang="en-US" sz="2000" dirty="0"/>
          </a:p>
          <a:p>
            <a:pPr algn="l">
              <a:lnSpc>
                <a:spcPct val="180000"/>
              </a:lnSpc>
            </a:pPr>
            <a:r>
              <a:rPr lang="en-US" sz="2000" dirty="0">
                <a:solidFill>
                  <a:srgbClr val="C81E1E"/>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a:t>
            </a:r>
            <a:pPr algn="l">
              <a:lnSpc>
                <a:spcPct val="180000"/>
              </a:lnSpc>
            </a:pPr>
            <a:r>
              <a:rPr lang="en-US" sz="2000" b="1" dirty="0">
                <a:solidFill>
                  <a:srgbClr val="E8DCC8"/>
                </a:solidFill>
                <a:latin typeface="Quattrocento Sans" pitchFamily="34" charset="0"/>
                <a:ea typeface="Quattrocento Sans" pitchFamily="34" charset="-122"/>
                <a:cs typeface="Quattrocento Sans" pitchFamily="34" charset="-120"/>
              </a:rPr>
              <a:t>Segment Index</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 Which time segment the frame belongs to</a:t>
            </a:r>
            <a:endParaRPr lang="en-US" sz="2000" dirty="0"/>
          </a:p>
          <a:p>
            <a:pPr algn="l">
              <a:lnSpc>
                <a:spcPct val="180000"/>
              </a:lnSpc>
            </a:pPr>
            <a:r>
              <a:rPr lang="en-US" sz="2000" dirty="0">
                <a:solidFill>
                  <a:srgbClr val="CD7F32"/>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a:t>
            </a:r>
            <a:pPr algn="l">
              <a:lnSpc>
                <a:spcPct val="180000"/>
              </a:lnSpc>
            </a:pPr>
            <a:r>
              <a:rPr lang="en-US" sz="2000" b="1" dirty="0">
                <a:solidFill>
                  <a:srgbClr val="E8DCC8"/>
                </a:solidFill>
                <a:latin typeface="Quattrocento Sans" pitchFamily="34" charset="0"/>
                <a:ea typeface="Quattrocento Sans" pitchFamily="34" charset="-122"/>
                <a:cs typeface="Quattrocento Sans" pitchFamily="34" charset="-120"/>
              </a:rPr>
              <a:t>Frame Index</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 Sequential numbering within the segment</a:t>
            </a:r>
            <a:endParaRPr lang="en-US" sz="2000" dirty="0"/>
          </a:p>
          <a:p>
            <a:pPr algn="l">
              <a:lnSpc>
                <a:spcPct val="180000"/>
              </a:lnSpc>
            </a:pPr>
            <a:r>
              <a:rPr lang="en-US" sz="2000" dirty="0">
                <a:solidFill>
                  <a:srgbClr val="6B5B4E"/>
                </a:solidFill>
                <a:latin typeface="Quattrocento Sans" pitchFamily="34" charset="0"/>
                <a:ea typeface="Quattrocento Sans" pitchFamily="34" charset="-122"/>
                <a:cs typeface="Quattrocento Sans" pitchFamily="34" charset="-120"/>
              </a:rPr>
              <a:t>▸</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a:t>
            </a:r>
            <a:pPr algn="l">
              <a:lnSpc>
                <a:spcPct val="180000"/>
              </a:lnSpc>
            </a:pPr>
            <a:r>
              <a:rPr lang="en-US" sz="2000" b="1" dirty="0">
                <a:solidFill>
                  <a:srgbClr val="E8DCC8"/>
                </a:solidFill>
                <a:latin typeface="Quattrocento Sans" pitchFamily="34" charset="0"/>
                <a:ea typeface="Quattrocento Sans" pitchFamily="34" charset="-122"/>
                <a:cs typeface="Quattrocento Sans" pitchFamily="34" charset="-120"/>
              </a:rPr>
              <a:t>Extension</a:t>
            </a:r>
            <a:pPr algn="l">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 — JPEG format at quality 0.85</a:t>
            </a:r>
            <a:endParaRPr lang="en-US" sz="2000" dirty="0"/>
          </a:p>
        </p:txBody>
      </p:sp>
      <p:sp>
        <p:nvSpPr>
          <p:cNvPr id="11" name="Text 9"/>
          <p:cNvSpPr/>
          <p:nvPr/>
        </p:nvSpPr>
        <p:spPr>
          <a:xfrm>
            <a:off x="1371600" y="9461500"/>
            <a:ext cx="10160000" cy="457200"/>
          </a:xfrm>
          <a:prstGeom prst="rect">
            <a:avLst/>
          </a:prstGeom>
          <a:noFill/>
          <a:ln/>
        </p:spPr>
        <p:txBody>
          <a:bodyPr wrap="none" lIns="0" tIns="0" rIns="0" bIns="0" rtlCol="0" anchor="ctr"/>
          <a:lstStyle/>
          <a:p>
            <a:pPr algn="l">
              <a:lnSpc>
                <a:spcPct val="120000"/>
              </a:lnSpc>
            </a:pPr>
            <a:r>
              <a:rPr lang="en-US" sz="1800" spc="400" kern="0" dirty="0">
                <a:solidFill>
                  <a:srgbClr val="CD7F32"/>
                </a:solidFill>
                <a:latin typeface="Quattrocento Sans" pitchFamily="34" charset="0"/>
                <a:ea typeface="Quattrocento Sans" pitchFamily="34" charset="-122"/>
                <a:cs typeface="Quattrocento Sans" pitchFamily="34" charset="-120"/>
              </a:rPr>
              <a:t>TRACEABILITY PRINCIPLES</a:t>
            </a:r>
            <a:endParaRPr lang="en-US" sz="1800" dirty="0"/>
          </a:p>
        </p:txBody>
      </p:sp>
      <p:sp>
        <p:nvSpPr>
          <p:cNvPr id="12" name="Text 10"/>
          <p:cNvSpPr/>
          <p:nvPr/>
        </p:nvSpPr>
        <p:spPr>
          <a:xfrm>
            <a:off x="1371600" y="10096500"/>
            <a:ext cx="11430000" cy="1841500"/>
          </a:xfrm>
          <a:prstGeom prst="rect">
            <a:avLst/>
          </a:prstGeom>
          <a:noFill/>
          <a:ln/>
        </p:spPr>
        <p:txBody>
          <a:bodyPr wrap="square" lIns="0" tIns="0" rIns="0" bIns="0" rtlCol="0" anchor="t"/>
          <a:lstStyle/>
          <a:p>
            <a:pPr algn="l">
              <a:lnSpc>
                <a:spcPct val="170000"/>
              </a:lnSpc>
            </a:pPr>
            <a:r>
              <a:rPr lang="en-US" sz="2000" dirty="0">
                <a:solidFill>
                  <a:srgbClr val="E8DCC8"/>
                </a:solidFill>
                <a:latin typeface="Quattrocento Sans" pitchFamily="34" charset="0"/>
                <a:ea typeface="Quattrocento Sans" pitchFamily="34" charset="-122"/>
                <a:cs typeface="Quattrocento Sans" pitchFamily="34" charset="-120"/>
              </a:rPr>
              <a:t>Every frame in the dataset carries its complete ancestry. From any output image, you can trace back to the exact source video, the specific time segment, and the precise frame position.</a:t>
            </a:r>
            <a:endParaRPr lang="en-US" sz="2000" dirty="0"/>
          </a:p>
          <a:p>
            <a:pPr algn="l">
              <a:lnSpc>
                <a:spcPct val="170000"/>
              </a:lnSpc>
              <a:spcBef>
                <a:spcPts val="1000"/>
              </a:spcBef>
            </a:pPr>
            <a:r>
              <a:rPr lang="en-US" sz="2000" dirty="0">
                <a:solidFill>
                  <a:srgbClr val="6B5B4E"/>
                </a:solidFill>
                <a:latin typeface="Quattrocento Sans" pitchFamily="34" charset="0"/>
                <a:ea typeface="Quattrocento Sans" pitchFamily="34" charset="-122"/>
                <a:cs typeface="Quattrocento Sans" pitchFamily="34" charset="-120"/>
              </a:rPr>
              <a:t>This lineage ensures reproducibility, auditability, and scientific rigor in dataset management.</a:t>
            </a:r>
            <a:endParaRPr lang="en-US" sz="2000" dirty="0"/>
          </a:p>
        </p:txBody>
      </p:sp>
      <p:sp>
        <p:nvSpPr>
          <p:cNvPr id="13" name="Shape 11"/>
          <p:cNvSpPr/>
          <p:nvPr/>
        </p:nvSpPr>
        <p:spPr>
          <a:xfrm>
            <a:off x="13208000" y="4953000"/>
            <a:ext cx="9804400" cy="6858000"/>
          </a:xfrm>
          <a:prstGeom prst="rect">
            <a:avLst/>
          </a:prstGeom>
          <a:solidFill>
            <a:srgbClr val="1A1212"/>
          </a:solidFill>
          <a:ln w="12700">
            <a:solidFill>
              <a:srgbClr val="3D2A2A"/>
            </a:solidFill>
            <a:prstDash val="solid"/>
          </a:ln>
        </p:spPr>
      </p:sp>
      <p:sp>
        <p:nvSpPr>
          <p:cNvPr id="14" name="Shape 12"/>
          <p:cNvSpPr/>
          <p:nvPr/>
        </p:nvSpPr>
        <p:spPr>
          <a:xfrm>
            <a:off x="17221200" y="5207000"/>
            <a:ext cx="1778000" cy="635000"/>
          </a:xfrm>
          <a:prstGeom prst="rect">
            <a:avLst/>
          </a:prstGeom>
          <a:solidFill>
            <a:srgbClr val="C81E1E"/>
          </a:solidFill>
          <a:ln/>
        </p:spPr>
      </p:sp>
      <p:sp>
        <p:nvSpPr>
          <p:cNvPr id="15" name="Text 13"/>
          <p:cNvSpPr/>
          <p:nvPr/>
        </p:nvSpPr>
        <p:spPr>
          <a:xfrm>
            <a:off x="17221200" y="5207000"/>
            <a:ext cx="1778000" cy="635000"/>
          </a:xfrm>
          <a:prstGeom prst="rect">
            <a:avLst/>
          </a:prstGeom>
          <a:noFill/>
          <a:ln/>
        </p:spPr>
        <p:txBody>
          <a:bodyPr wrap="none" lIns="0" tIns="0" rIns="0" bIns="0" rtlCol="0" anchor="ctr"/>
          <a:lstStyle/>
          <a:p>
            <a:pPr algn="ctr">
              <a:lnSpc>
                <a:spcPct val="120000"/>
              </a:lnSpc>
            </a:pPr>
            <a:r>
              <a:rPr lang="en-US" sz="1600" b="1" dirty="0">
                <a:solidFill>
                  <a:srgbClr val="E8DCC8"/>
                </a:solidFill>
                <a:latin typeface="Quattrocento Sans" pitchFamily="34" charset="0"/>
                <a:ea typeface="Quattrocento Sans" pitchFamily="34" charset="-122"/>
                <a:cs typeface="Quattrocento Sans" pitchFamily="34" charset="-120"/>
              </a:rPr>
              <a:t>video.mp4</a:t>
            </a:r>
            <a:endParaRPr lang="en-US" sz="1600" dirty="0"/>
          </a:p>
        </p:txBody>
      </p:sp>
      <p:sp>
        <p:nvSpPr>
          <p:cNvPr id="16" name="Shape 14"/>
          <p:cNvSpPr/>
          <p:nvPr/>
        </p:nvSpPr>
        <p:spPr>
          <a:xfrm>
            <a:off x="18110200" y="5842000"/>
            <a:ext cx="0" cy="508000"/>
          </a:xfrm>
          <a:prstGeom prst="straightConnector1">
            <a:avLst/>
          </a:prstGeom>
          <a:noFill/>
          <a:ln w="25400">
            <a:solidFill>
              <a:srgbClr val="CD7F32"/>
            </a:solidFill>
            <a:prstDash val="solid"/>
            <a:headEnd type="none"/>
            <a:tailEnd type="none"/>
          </a:ln>
        </p:spPr>
      </p:sp>
      <p:sp>
        <p:nvSpPr>
          <p:cNvPr id="17" name="Shape 15"/>
          <p:cNvSpPr/>
          <p:nvPr/>
        </p:nvSpPr>
        <p:spPr>
          <a:xfrm>
            <a:off x="15189200" y="6350000"/>
            <a:ext cx="2921000" cy="0"/>
          </a:xfrm>
          <a:prstGeom prst="straightConnector1">
            <a:avLst/>
          </a:prstGeom>
          <a:noFill/>
          <a:ln w="25400">
            <a:solidFill>
              <a:srgbClr val="CD7F32"/>
            </a:solidFill>
            <a:prstDash val="solid"/>
            <a:headEnd type="none"/>
            <a:tailEnd type="none"/>
          </a:ln>
        </p:spPr>
      </p:sp>
      <p:sp>
        <p:nvSpPr>
          <p:cNvPr id="18" name="Shape 16"/>
          <p:cNvSpPr/>
          <p:nvPr/>
        </p:nvSpPr>
        <p:spPr>
          <a:xfrm>
            <a:off x="18110200" y="6350000"/>
            <a:ext cx="2921000" cy="0"/>
          </a:xfrm>
          <a:prstGeom prst="straightConnector1">
            <a:avLst/>
          </a:prstGeom>
          <a:noFill/>
          <a:ln w="25400">
            <a:solidFill>
              <a:srgbClr val="CD7F32"/>
            </a:solidFill>
            <a:prstDash val="solid"/>
            <a:headEnd type="none"/>
            <a:tailEnd type="none"/>
          </a:ln>
        </p:spPr>
      </p:sp>
      <p:sp>
        <p:nvSpPr>
          <p:cNvPr id="19" name="Shape 17"/>
          <p:cNvSpPr/>
          <p:nvPr/>
        </p:nvSpPr>
        <p:spPr>
          <a:xfrm>
            <a:off x="15189200" y="6350000"/>
            <a:ext cx="0" cy="381000"/>
          </a:xfrm>
          <a:prstGeom prst="straightConnector1">
            <a:avLst/>
          </a:prstGeom>
          <a:noFill/>
          <a:ln w="25400">
            <a:solidFill>
              <a:srgbClr val="CD7F32"/>
            </a:solidFill>
            <a:prstDash val="solid"/>
            <a:headEnd type="none"/>
            <a:tailEnd type="none"/>
          </a:ln>
        </p:spPr>
      </p:sp>
      <p:sp>
        <p:nvSpPr>
          <p:cNvPr id="20" name="Shape 18"/>
          <p:cNvSpPr/>
          <p:nvPr/>
        </p:nvSpPr>
        <p:spPr>
          <a:xfrm>
            <a:off x="21031200" y="6350000"/>
            <a:ext cx="0" cy="381000"/>
          </a:xfrm>
          <a:prstGeom prst="straightConnector1">
            <a:avLst/>
          </a:prstGeom>
          <a:noFill/>
          <a:ln w="25400">
            <a:solidFill>
              <a:srgbClr val="CD7F32"/>
            </a:solidFill>
            <a:prstDash val="solid"/>
            <a:headEnd type="none"/>
            <a:tailEnd type="none"/>
          </a:ln>
        </p:spPr>
      </p:sp>
      <p:sp>
        <p:nvSpPr>
          <p:cNvPr id="21" name="Shape 19"/>
          <p:cNvSpPr/>
          <p:nvPr/>
        </p:nvSpPr>
        <p:spPr>
          <a:xfrm>
            <a:off x="14300200" y="6731000"/>
            <a:ext cx="1778000" cy="508000"/>
          </a:xfrm>
          <a:prstGeom prst="rect">
            <a:avLst/>
          </a:prstGeom>
          <a:solidFill>
            <a:srgbClr val="9B1C1C"/>
          </a:solidFill>
          <a:ln/>
        </p:spPr>
      </p:sp>
      <p:sp>
        <p:nvSpPr>
          <p:cNvPr id="22" name="Text 20"/>
          <p:cNvSpPr/>
          <p:nvPr/>
        </p:nvSpPr>
        <p:spPr>
          <a:xfrm>
            <a:off x="14300200" y="6731000"/>
            <a:ext cx="1778000" cy="508000"/>
          </a:xfrm>
          <a:prstGeom prst="rect">
            <a:avLst/>
          </a:prstGeom>
          <a:noFill/>
          <a:ln/>
        </p:spPr>
        <p:txBody>
          <a:bodyPr wrap="none" lIns="0" tIns="0" rIns="0" bIns="0" rtlCol="0" anchor="ctr"/>
          <a:lstStyle/>
          <a:p>
            <a:pPr algn="ctr">
              <a:lnSpc>
                <a:spcPct val="120000"/>
              </a:lnSpc>
            </a:pPr>
            <a:r>
              <a:rPr lang="en-US" sz="1400" dirty="0">
                <a:solidFill>
                  <a:srgbClr val="E8DCC8"/>
                </a:solidFill>
                <a:latin typeface="Quattrocento Sans" pitchFamily="34" charset="0"/>
                <a:ea typeface="Quattrocento Sans" pitchFamily="34" charset="-122"/>
                <a:cs typeface="Quattrocento Sans" pitchFamily="34" charset="-120"/>
              </a:rPr>
              <a:t>segment_01</a:t>
            </a:r>
            <a:endParaRPr lang="en-US" sz="1400" dirty="0"/>
          </a:p>
        </p:txBody>
      </p:sp>
      <p:sp>
        <p:nvSpPr>
          <p:cNvPr id="23" name="Shape 21"/>
          <p:cNvSpPr/>
          <p:nvPr/>
        </p:nvSpPr>
        <p:spPr>
          <a:xfrm>
            <a:off x="20142200" y="6731000"/>
            <a:ext cx="1778000" cy="508000"/>
          </a:xfrm>
          <a:prstGeom prst="rect">
            <a:avLst/>
          </a:prstGeom>
          <a:solidFill>
            <a:srgbClr val="9B1C1C"/>
          </a:solidFill>
          <a:ln/>
        </p:spPr>
      </p:sp>
      <p:sp>
        <p:nvSpPr>
          <p:cNvPr id="24" name="Text 22"/>
          <p:cNvSpPr/>
          <p:nvPr/>
        </p:nvSpPr>
        <p:spPr>
          <a:xfrm>
            <a:off x="20142200" y="6731000"/>
            <a:ext cx="1778000" cy="508000"/>
          </a:xfrm>
          <a:prstGeom prst="rect">
            <a:avLst/>
          </a:prstGeom>
          <a:noFill/>
          <a:ln/>
        </p:spPr>
        <p:txBody>
          <a:bodyPr wrap="none" lIns="0" tIns="0" rIns="0" bIns="0" rtlCol="0" anchor="ctr"/>
          <a:lstStyle/>
          <a:p>
            <a:pPr algn="ctr">
              <a:lnSpc>
                <a:spcPct val="120000"/>
              </a:lnSpc>
            </a:pPr>
            <a:r>
              <a:rPr lang="en-US" sz="1400" dirty="0">
                <a:solidFill>
                  <a:srgbClr val="E8DCC8"/>
                </a:solidFill>
                <a:latin typeface="Quattrocento Sans" pitchFamily="34" charset="0"/>
                <a:ea typeface="Quattrocento Sans" pitchFamily="34" charset="-122"/>
                <a:cs typeface="Quattrocento Sans" pitchFamily="34" charset="-120"/>
              </a:rPr>
              <a:t>segment_02</a:t>
            </a:r>
            <a:endParaRPr lang="en-US" sz="1400" dirty="0"/>
          </a:p>
        </p:txBody>
      </p:sp>
      <p:sp>
        <p:nvSpPr>
          <p:cNvPr id="25" name="Text 23"/>
          <p:cNvSpPr/>
          <p:nvPr/>
        </p:nvSpPr>
        <p:spPr>
          <a:xfrm>
            <a:off x="13589000" y="7493000"/>
            <a:ext cx="9042400" cy="4064000"/>
          </a:xfrm>
          <a:prstGeom prst="rect">
            <a:avLst/>
          </a:prstGeom>
          <a:noFill/>
          <a:ln/>
        </p:spPr>
        <p:txBody>
          <a:bodyPr wrap="square" lIns="0" tIns="0" rIns="0" bIns="0" rtlCol="0" anchor="t"/>
          <a:lstStyle/>
          <a:p>
            <a:pPr algn="ctr">
              <a:lnSpc>
                <a:spcPct val="160000"/>
              </a:lnSpc>
            </a:pPr>
            <a:r>
              <a:rPr lang="en-US" sz="1600" dirty="0">
                <a:solidFill>
                  <a:srgbClr val="CD7F32"/>
                </a:solidFill>
                <a:latin typeface="Quattrocento Sans" pitchFamily="34" charset="0"/>
                <a:ea typeface="Quattrocento Sans" pitchFamily="34" charset="-122"/>
                <a:cs typeface="Quattrocento Sans" pitchFamily="34" charset="-120"/>
              </a:rPr>
              <a:t>frame_001.jpg</a:t>
            </a:r>
            <a:pPr algn="ctr">
              <a:lnSpc>
                <a:spcPct val="160000"/>
              </a:lnSpc>
            </a:pPr>
            <a:r>
              <a:rPr lang="en-US" sz="1600" dirty="0">
                <a:solidFill>
                  <a:srgbClr val="6B5B4E"/>
                </a:solidFill>
                <a:latin typeface="Quattrocento Sans" pitchFamily="34" charset="0"/>
                <a:ea typeface="Quattrocento Sans" pitchFamily="34" charset="-122"/>
                <a:cs typeface="Quattrocento Sans" pitchFamily="34" charset="-120"/>
              </a:rPr>
              <a:t>  </a:t>
            </a:r>
            <a:pPr algn="ctr">
              <a:lnSpc>
                <a:spcPct val="160000"/>
              </a:lnSpc>
            </a:pPr>
            <a:r>
              <a:rPr lang="en-US" sz="1600" dirty="0">
                <a:solidFill>
                  <a:srgbClr val="CD7F32"/>
                </a:solidFill>
                <a:latin typeface="Quattrocento Sans" pitchFamily="34" charset="0"/>
                <a:ea typeface="Quattrocento Sans" pitchFamily="34" charset="-122"/>
                <a:cs typeface="Quattrocento Sans" pitchFamily="34" charset="-120"/>
              </a:rPr>
              <a:t>frame_002.jpg</a:t>
            </a:r>
            <a:pPr algn="ctr">
              <a:lnSpc>
                <a:spcPct val="160000"/>
              </a:lnSpc>
            </a:pPr>
            <a:r>
              <a:rPr lang="en-US" sz="1600" dirty="0">
                <a:solidFill>
                  <a:srgbClr val="6B5B4E"/>
                </a:solidFill>
                <a:latin typeface="Quattrocento Sans" pitchFamily="34" charset="0"/>
                <a:ea typeface="Quattrocento Sans" pitchFamily="34" charset="-122"/>
                <a:cs typeface="Quattrocento Sans" pitchFamily="34" charset="-120"/>
              </a:rPr>
              <a:t>  </a:t>
            </a:r>
            <a:pPr algn="ctr">
              <a:lnSpc>
                <a:spcPct val="160000"/>
              </a:lnSpc>
            </a:pPr>
            <a:r>
              <a:rPr lang="en-US" sz="1600" dirty="0">
                <a:solidFill>
                  <a:srgbClr val="CD7F32"/>
                </a:solidFill>
                <a:latin typeface="Quattrocento Sans" pitchFamily="34" charset="0"/>
                <a:ea typeface="Quattrocento Sans" pitchFamily="34" charset="-122"/>
                <a:cs typeface="Quattrocento Sans" pitchFamily="34" charset="-120"/>
              </a:rPr>
              <a:t>frame_003.jpg</a:t>
            </a:r>
            <a:pPr algn="ctr">
              <a:lnSpc>
                <a:spcPct val="160000"/>
              </a:lnSpc>
            </a:pPr>
            <a:r>
              <a:rPr lang="en-US" sz="1600" dirty="0">
                <a:solidFill>
                  <a:srgbClr val="6B5B4E"/>
                </a:solidFill>
                <a:latin typeface="Quattrocento Sans" pitchFamily="34" charset="0"/>
                <a:ea typeface="Quattrocento Sans" pitchFamily="34" charset="-122"/>
                <a:cs typeface="Quattrocento Sans" pitchFamily="34" charset="-120"/>
              </a:rPr>
              <a:t>  ...  </a:t>
            </a:r>
            <a:pPr algn="ctr">
              <a:lnSpc>
                <a:spcPct val="160000"/>
              </a:lnSpc>
            </a:pPr>
            <a:r>
              <a:rPr lang="en-US" sz="1600" dirty="0">
                <a:solidFill>
                  <a:srgbClr val="CD7F32"/>
                </a:solidFill>
                <a:latin typeface="Quattrocento Sans" pitchFamily="34" charset="0"/>
                <a:ea typeface="Quattrocento Sans" pitchFamily="34" charset="-122"/>
                <a:cs typeface="Quattrocento Sans" pitchFamily="34" charset="-120"/>
              </a:rPr>
              <a:t>frame_00N.jpg</a:t>
            </a:r>
            <a:endParaRPr lang="en-US" sz="1600" dirty="0"/>
          </a:p>
          <a:p>
            <a:pPr algn="ctr">
              <a:lnSpc>
                <a:spcPct val="160000"/>
              </a:lnSpc>
              <a:spcBef>
                <a:spcPts val="2000"/>
              </a:spcBef>
            </a:pPr>
            <a:r>
              <a:rPr lang="en-US" sz="1600" dirty="0">
                <a:solidFill>
                  <a:srgbClr val="6B5B4E"/>
                </a:solidFill>
                <a:latin typeface="Quattrocento Sans" pitchFamily="34" charset="0"/>
                <a:ea typeface="Quattrocento Sans" pitchFamily="34" charset="-122"/>
                <a:cs typeface="Quattrocento Sans" pitchFamily="34" charset="-120"/>
              </a:rPr>
              <a:t>Each segment contains a sequence of frames,</a:t>
            </a:r>
            <a:endParaRPr lang="en-US" sz="1600" dirty="0"/>
          </a:p>
          <a:p>
            <a:pPr algn="ctr">
              <a:lnSpc>
                <a:spcPct val="160000"/>
              </a:lnSpc>
            </a:pPr>
            <a:r>
              <a:rPr lang="en-US" sz="1600" dirty="0">
                <a:solidFill>
                  <a:srgbClr val="6B5B4E"/>
                </a:solidFill>
                <a:latin typeface="Quattrocento Sans" pitchFamily="34" charset="0"/>
                <a:ea typeface="Quattrocento Sans" pitchFamily="34" charset="-122"/>
                <a:cs typeface="Quattrocento Sans" pitchFamily="34" charset="-120"/>
              </a:rPr>
              <a:t>each with a unique index within its parent.</a:t>
            </a:r>
            <a:endParaRPr lang="en-US" sz="1600" dirty="0"/>
          </a:p>
          <a:p>
            <a:pPr algn="ctr">
              <a:lnSpc>
                <a:spcPct val="160000"/>
              </a:lnSpc>
              <a:spcBef>
                <a:spcPts val="2000"/>
              </a:spcBef>
            </a:pPr>
            <a:r>
              <a:rPr lang="en-US" sz="2000" b="1" dirty="0">
                <a:solidFill>
                  <a:srgbClr val="E8DCC8"/>
                </a:solidFill>
                <a:latin typeface="Quattrocento Sans" pitchFamily="34" charset="0"/>
                <a:ea typeface="Quattrocento Sans" pitchFamily="34" charset="-122"/>
                <a:cs typeface="Quattrocento Sans" pitchFamily="34" charset="-120"/>
              </a:rPr>
              <a:t>Every frame knows its origin.</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21640800" cy="1778000"/>
          </a:xfrm>
          <a:prstGeom prst="rect">
            <a:avLst/>
          </a:prstGeom>
          <a:noFill/>
          <a:ln/>
        </p:spPr>
        <p:txBody>
          <a:bodyPr wrap="square" lIns="0" tIns="0" rIns="0" bIns="0" rtlCol="0" anchor="t"/>
          <a:lstStyle/>
          <a:p>
            <a:pPr algn="l">
              <a:lnSpc>
                <a:spcPct val="110000"/>
              </a:lnSpc>
            </a:pPr>
            <a:r>
              <a:rPr lang="en-US" sz="10000" dirty="0">
                <a:solidFill>
                  <a:srgbClr val="E8DCC8"/>
                </a:solidFill>
                <a:latin typeface="Cinzel" pitchFamily="34" charset="0"/>
                <a:ea typeface="Cinzel" pitchFamily="34" charset="-122"/>
                <a:cs typeface="Cinzel" pitchFamily="34" charset="-120"/>
              </a:rPr>
              <a:t>WHERE IT CREATES </a:t>
            </a:r>
            <a:pPr algn="l">
              <a:lnSpc>
                <a:spcPct val="110000"/>
              </a:lnSpc>
            </a:pPr>
            <a:r>
              <a:rPr lang="en-US" sz="10000" dirty="0">
                <a:solidFill>
                  <a:srgbClr val="C81E1E"/>
                </a:solidFill>
                <a:latin typeface="Cinzel" pitchFamily="34" charset="0"/>
                <a:ea typeface="Cinzel" pitchFamily="34" charset="-122"/>
                <a:cs typeface="Cinzel" pitchFamily="34" charset="-120"/>
              </a:rPr>
              <a:t>VALUE</a:t>
            </a:r>
            <a:endParaRPr lang="en-US" sz="10000" dirty="0"/>
          </a:p>
        </p:txBody>
      </p:sp>
      <p:sp>
        <p:nvSpPr>
          <p:cNvPr id="7" name="Shape 5"/>
          <p:cNvSpPr/>
          <p:nvPr/>
        </p:nvSpPr>
        <p:spPr>
          <a:xfrm>
            <a:off x="1371600" y="5080000"/>
            <a:ext cx="5181600" cy="3175000"/>
          </a:xfrm>
          <a:prstGeom prst="rect">
            <a:avLst/>
          </a:prstGeom>
          <a:solidFill>
            <a:srgbClr val="1A1212"/>
          </a:solidFill>
          <a:ln w="12700">
            <a:solidFill>
              <a:srgbClr val="3D2A2A"/>
            </a:solidFill>
            <a:prstDash val="solid"/>
          </a:ln>
        </p:spPr>
      </p:sp>
      <p:sp>
        <p:nvSpPr>
          <p:cNvPr id="8" name="Shape 6"/>
          <p:cNvSpPr/>
          <p:nvPr/>
        </p:nvSpPr>
        <p:spPr>
          <a:xfrm>
            <a:off x="1778000" y="5384800"/>
            <a:ext cx="508000" cy="508000"/>
          </a:xfrm>
          <a:custGeom>
            <a:avLst/>
            <a:gdLst/>
            <a:ahLst/>
            <a:cxnLst/>
            <a:rect l="l" t="t" r="r" b="b"/>
            <a:pathLst>
              <a:path w="508000" h="508000">
                <a:moveTo>
                  <a:pt x="254000" y="31750"/>
                </a:moveTo>
                <a:cubicBezTo>
                  <a:pt x="182739" y="31750"/>
                  <a:pt x="125677" y="68263"/>
                  <a:pt x="84138" y="111720"/>
                </a:cubicBezTo>
                <a:cubicBezTo>
                  <a:pt x="42863" y="154880"/>
                  <a:pt x="15258" y="206375"/>
                  <a:pt x="2117" y="241796"/>
                </a:cubicBezTo>
                <a:cubicBezTo>
                  <a:pt x="-794" y="249634"/>
                  <a:pt x="-794" y="258366"/>
                  <a:pt x="2117" y="266204"/>
                </a:cubicBezTo>
                <a:cubicBezTo>
                  <a:pt x="15258" y="301625"/>
                  <a:pt x="42863" y="353219"/>
                  <a:pt x="84138" y="396280"/>
                </a:cubicBezTo>
                <a:cubicBezTo>
                  <a:pt x="125677" y="439638"/>
                  <a:pt x="182739" y="476250"/>
                  <a:pt x="254000" y="476250"/>
                </a:cubicBezTo>
                <a:cubicBezTo>
                  <a:pt x="325261" y="476250"/>
                  <a:pt x="382323" y="439737"/>
                  <a:pt x="423863" y="396280"/>
                </a:cubicBezTo>
                <a:cubicBezTo>
                  <a:pt x="465138" y="353120"/>
                  <a:pt x="492742" y="301625"/>
                  <a:pt x="505883" y="266204"/>
                </a:cubicBezTo>
                <a:cubicBezTo>
                  <a:pt x="508794" y="258366"/>
                  <a:pt x="508794" y="249634"/>
                  <a:pt x="505883" y="241796"/>
                </a:cubicBezTo>
                <a:cubicBezTo>
                  <a:pt x="492742" y="206375"/>
                  <a:pt x="465138" y="154781"/>
                  <a:pt x="423863" y="111720"/>
                </a:cubicBezTo>
                <a:cubicBezTo>
                  <a:pt x="382323" y="68362"/>
                  <a:pt x="325261" y="31750"/>
                  <a:pt x="254000" y="31750"/>
                </a:cubicBezTo>
                <a:close/>
                <a:moveTo>
                  <a:pt x="127000" y="254000"/>
                </a:moveTo>
                <a:cubicBezTo>
                  <a:pt x="127000" y="175145"/>
                  <a:pt x="183907" y="111125"/>
                  <a:pt x="254000" y="111125"/>
                </a:cubicBezTo>
                <a:cubicBezTo>
                  <a:pt x="324093" y="111125"/>
                  <a:pt x="381000" y="175145"/>
                  <a:pt x="381000" y="254000"/>
                </a:cubicBezTo>
                <a:cubicBezTo>
                  <a:pt x="381000" y="332855"/>
                  <a:pt x="324093" y="396875"/>
                  <a:pt x="254000" y="396875"/>
                </a:cubicBezTo>
                <a:cubicBezTo>
                  <a:pt x="183907" y="396875"/>
                  <a:pt x="127000" y="332855"/>
                  <a:pt x="127000" y="254000"/>
                </a:cubicBezTo>
                <a:close/>
                <a:moveTo>
                  <a:pt x="254000" y="190500"/>
                </a:moveTo>
                <a:cubicBezTo>
                  <a:pt x="254000" y="225524"/>
                  <a:pt x="228688" y="254000"/>
                  <a:pt x="197556" y="254000"/>
                </a:cubicBezTo>
                <a:cubicBezTo>
                  <a:pt x="187413" y="254000"/>
                  <a:pt x="177888" y="251023"/>
                  <a:pt x="169598" y="245666"/>
                </a:cubicBezTo>
                <a:cubicBezTo>
                  <a:pt x="168716" y="256480"/>
                  <a:pt x="169510" y="267593"/>
                  <a:pt x="172156" y="278606"/>
                </a:cubicBezTo>
                <a:cubicBezTo>
                  <a:pt x="184238" y="329406"/>
                  <a:pt x="230717" y="359569"/>
                  <a:pt x="275872" y="345976"/>
                </a:cubicBezTo>
                <a:cubicBezTo>
                  <a:pt x="321028" y="332383"/>
                  <a:pt x="347839" y="280095"/>
                  <a:pt x="335756" y="229295"/>
                </a:cubicBezTo>
                <a:cubicBezTo>
                  <a:pt x="324997" y="183952"/>
                  <a:pt x="286808" y="155079"/>
                  <a:pt x="246592" y="159048"/>
                </a:cubicBezTo>
                <a:cubicBezTo>
                  <a:pt x="251266" y="168275"/>
                  <a:pt x="254000" y="178991"/>
                  <a:pt x="254000" y="190500"/>
                </a:cubicBezTo>
                <a:close/>
              </a:path>
            </a:pathLst>
          </a:custGeom>
          <a:solidFill>
            <a:srgbClr val="C81E1E"/>
          </a:solidFill>
          <a:ln/>
        </p:spPr>
      </p:sp>
      <p:sp>
        <p:nvSpPr>
          <p:cNvPr id="9" name="Text 7"/>
          <p:cNvSpPr/>
          <p:nvPr/>
        </p:nvSpPr>
        <p:spPr>
          <a:xfrm>
            <a:off x="1778000" y="6096000"/>
            <a:ext cx="4368800" cy="4064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Computer Vision</a:t>
            </a:r>
            <a:endParaRPr lang="en-US" sz="2200" dirty="0"/>
          </a:p>
        </p:txBody>
      </p:sp>
      <p:sp>
        <p:nvSpPr>
          <p:cNvPr id="10" name="Text 8"/>
          <p:cNvSpPr/>
          <p:nvPr/>
        </p:nvSpPr>
        <p:spPr>
          <a:xfrm>
            <a:off x="1778000" y="6604000"/>
            <a:ext cx="4368800" cy="1397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Training data generation for image classification and recognition models.</a:t>
            </a:r>
            <a:endParaRPr lang="en-US" sz="1600" dirty="0"/>
          </a:p>
        </p:txBody>
      </p:sp>
      <p:sp>
        <p:nvSpPr>
          <p:cNvPr id="11" name="Shape 9"/>
          <p:cNvSpPr/>
          <p:nvPr/>
        </p:nvSpPr>
        <p:spPr>
          <a:xfrm>
            <a:off x="6858000" y="5080000"/>
            <a:ext cx="5181600" cy="3175000"/>
          </a:xfrm>
          <a:prstGeom prst="rect">
            <a:avLst/>
          </a:prstGeom>
          <a:solidFill>
            <a:srgbClr val="1A1212"/>
          </a:solidFill>
          <a:ln w="12700">
            <a:solidFill>
              <a:srgbClr val="3D2A2A"/>
            </a:solidFill>
            <a:prstDash val="solid"/>
          </a:ln>
        </p:spPr>
      </p:sp>
      <p:sp>
        <p:nvSpPr>
          <p:cNvPr id="12" name="Shape 10"/>
          <p:cNvSpPr/>
          <p:nvPr/>
        </p:nvSpPr>
        <p:spPr>
          <a:xfrm>
            <a:off x="7264400" y="5384800"/>
            <a:ext cx="508000" cy="508000"/>
          </a:xfrm>
          <a:prstGeom prst="ellipse">
            <a:avLst/>
          </a:prstGeom>
          <a:solidFill>
            <a:srgbClr val="C81E1E"/>
          </a:solidFill>
          <a:ln/>
        </p:spPr>
      </p:sp>
      <p:sp>
        <p:nvSpPr>
          <p:cNvPr id="13" name="Text 11"/>
          <p:cNvSpPr/>
          <p:nvPr/>
        </p:nvSpPr>
        <p:spPr>
          <a:xfrm>
            <a:off x="7264400" y="6096000"/>
            <a:ext cx="4368800" cy="4064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Object Detection</a:t>
            </a:r>
            <a:endParaRPr lang="en-US" sz="2200" dirty="0"/>
          </a:p>
        </p:txBody>
      </p:sp>
      <p:sp>
        <p:nvSpPr>
          <p:cNvPr id="14" name="Text 12"/>
          <p:cNvSpPr/>
          <p:nvPr/>
        </p:nvSpPr>
        <p:spPr>
          <a:xfrm>
            <a:off x="7264400" y="6604000"/>
            <a:ext cx="4368800" cy="1397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Bounding box datasets from video frames for detection algorithms.</a:t>
            </a:r>
            <a:endParaRPr lang="en-US" sz="1600" dirty="0"/>
          </a:p>
        </p:txBody>
      </p:sp>
      <p:sp>
        <p:nvSpPr>
          <p:cNvPr id="15" name="Shape 13"/>
          <p:cNvSpPr/>
          <p:nvPr/>
        </p:nvSpPr>
        <p:spPr>
          <a:xfrm>
            <a:off x="12344400" y="5080000"/>
            <a:ext cx="5181600" cy="3175000"/>
          </a:xfrm>
          <a:prstGeom prst="rect">
            <a:avLst/>
          </a:prstGeom>
          <a:solidFill>
            <a:srgbClr val="1A1212"/>
          </a:solidFill>
          <a:ln w="12700">
            <a:solidFill>
              <a:srgbClr val="3D2A2A"/>
            </a:solidFill>
            <a:prstDash val="solid"/>
          </a:ln>
        </p:spPr>
      </p:sp>
      <p:sp>
        <p:nvSpPr>
          <p:cNvPr id="16" name="Shape 14"/>
          <p:cNvSpPr/>
          <p:nvPr/>
        </p:nvSpPr>
        <p:spPr>
          <a:xfrm>
            <a:off x="12750800" y="5384800"/>
            <a:ext cx="508000" cy="508000"/>
          </a:xfrm>
          <a:custGeom>
            <a:avLst/>
            <a:gdLst/>
            <a:ahLst/>
            <a:cxnLst/>
            <a:rect l="l" t="t" r="r" b="b"/>
            <a:pathLst>
              <a:path w="508000" h="508000">
                <a:moveTo>
                  <a:pt x="155222" y="31750"/>
                </a:moveTo>
                <a:cubicBezTo>
                  <a:pt x="143492" y="31750"/>
                  <a:pt x="134056" y="42366"/>
                  <a:pt x="134056" y="55563"/>
                </a:cubicBezTo>
                <a:cubicBezTo>
                  <a:pt x="134056" y="68759"/>
                  <a:pt x="143492" y="79375"/>
                  <a:pt x="155222" y="79375"/>
                </a:cubicBezTo>
                <a:lnTo>
                  <a:pt x="289278" y="79375"/>
                </a:lnTo>
                <a:lnTo>
                  <a:pt x="289278" y="127000"/>
                </a:lnTo>
                <a:lnTo>
                  <a:pt x="94544" y="127000"/>
                </a:lnTo>
                <a:lnTo>
                  <a:pt x="65617" y="87908"/>
                </a:lnTo>
                <a:cubicBezTo>
                  <a:pt x="61648" y="82550"/>
                  <a:pt x="55651" y="79375"/>
                  <a:pt x="49389" y="79375"/>
                </a:cubicBezTo>
                <a:lnTo>
                  <a:pt x="21167" y="79375"/>
                </a:lnTo>
                <a:cubicBezTo>
                  <a:pt x="13847" y="79375"/>
                  <a:pt x="7056" y="83641"/>
                  <a:pt x="3175" y="90686"/>
                </a:cubicBezTo>
                <a:cubicBezTo>
                  <a:pt x="-706" y="97730"/>
                  <a:pt x="-1058" y="106462"/>
                  <a:pt x="2205" y="113903"/>
                </a:cubicBezTo>
                <a:lnTo>
                  <a:pt x="44538" y="209153"/>
                </a:lnTo>
                <a:cubicBezTo>
                  <a:pt x="48154" y="217190"/>
                  <a:pt x="55474" y="222250"/>
                  <a:pt x="63500" y="222250"/>
                </a:cubicBezTo>
                <a:lnTo>
                  <a:pt x="158574" y="222250"/>
                </a:lnTo>
                <a:lnTo>
                  <a:pt x="250296" y="364232"/>
                </a:lnTo>
                <a:cubicBezTo>
                  <a:pt x="263613" y="384770"/>
                  <a:pt x="284780" y="396875"/>
                  <a:pt x="307358" y="396875"/>
                </a:cubicBezTo>
                <a:lnTo>
                  <a:pt x="373944" y="396875"/>
                </a:lnTo>
                <a:cubicBezTo>
                  <a:pt x="440178" y="396875"/>
                  <a:pt x="493889" y="336451"/>
                  <a:pt x="493889" y="261937"/>
                </a:cubicBezTo>
                <a:cubicBezTo>
                  <a:pt x="493889" y="187424"/>
                  <a:pt x="440178" y="127000"/>
                  <a:pt x="373944" y="127000"/>
                </a:cubicBezTo>
                <a:lnTo>
                  <a:pt x="331611" y="127000"/>
                </a:lnTo>
                <a:lnTo>
                  <a:pt x="331611" y="79375"/>
                </a:lnTo>
                <a:lnTo>
                  <a:pt x="465667" y="79375"/>
                </a:lnTo>
                <a:cubicBezTo>
                  <a:pt x="477397" y="79375"/>
                  <a:pt x="486833" y="68759"/>
                  <a:pt x="486833" y="55563"/>
                </a:cubicBezTo>
                <a:cubicBezTo>
                  <a:pt x="486833" y="42366"/>
                  <a:pt x="477397" y="31750"/>
                  <a:pt x="465667" y="31750"/>
                </a:cubicBezTo>
                <a:lnTo>
                  <a:pt x="155222" y="31750"/>
                </a:lnTo>
                <a:close/>
                <a:moveTo>
                  <a:pt x="331611" y="190500"/>
                </a:moveTo>
                <a:lnTo>
                  <a:pt x="373944" y="190500"/>
                </a:lnTo>
                <a:cubicBezTo>
                  <a:pt x="409046" y="190500"/>
                  <a:pt x="437444" y="222448"/>
                  <a:pt x="437444" y="261937"/>
                </a:cubicBezTo>
                <a:cubicBezTo>
                  <a:pt x="437444" y="301427"/>
                  <a:pt x="409046" y="333375"/>
                  <a:pt x="373944" y="333375"/>
                </a:cubicBezTo>
                <a:lnTo>
                  <a:pt x="331611" y="333375"/>
                </a:lnTo>
                <a:lnTo>
                  <a:pt x="331611" y="190500"/>
                </a:lnTo>
                <a:close/>
                <a:moveTo>
                  <a:pt x="486833" y="412750"/>
                </a:moveTo>
                <a:cubicBezTo>
                  <a:pt x="475103" y="412750"/>
                  <a:pt x="465667" y="423366"/>
                  <a:pt x="465667" y="436563"/>
                </a:cubicBezTo>
                <a:cubicBezTo>
                  <a:pt x="465667" y="440928"/>
                  <a:pt x="462492" y="444500"/>
                  <a:pt x="458611" y="444500"/>
                </a:cubicBezTo>
                <a:lnTo>
                  <a:pt x="218722" y="444500"/>
                </a:lnTo>
                <a:cubicBezTo>
                  <a:pt x="206992" y="444500"/>
                  <a:pt x="197556" y="455116"/>
                  <a:pt x="197556" y="468313"/>
                </a:cubicBezTo>
                <a:cubicBezTo>
                  <a:pt x="197556" y="481509"/>
                  <a:pt x="206992" y="492125"/>
                  <a:pt x="218722" y="492125"/>
                </a:cubicBezTo>
                <a:lnTo>
                  <a:pt x="458611" y="492125"/>
                </a:lnTo>
                <a:cubicBezTo>
                  <a:pt x="485863" y="492125"/>
                  <a:pt x="508000" y="467221"/>
                  <a:pt x="508000" y="436563"/>
                </a:cubicBezTo>
                <a:cubicBezTo>
                  <a:pt x="508000" y="423366"/>
                  <a:pt x="498563" y="412750"/>
                  <a:pt x="486833" y="412750"/>
                </a:cubicBezTo>
                <a:close/>
              </a:path>
            </a:pathLst>
          </a:custGeom>
          <a:solidFill>
            <a:srgbClr val="C81E1E"/>
          </a:solidFill>
          <a:ln/>
        </p:spPr>
      </p:sp>
      <p:sp>
        <p:nvSpPr>
          <p:cNvPr id="17" name="Text 15"/>
          <p:cNvSpPr/>
          <p:nvPr/>
        </p:nvSpPr>
        <p:spPr>
          <a:xfrm>
            <a:off x="12750800" y="6096000"/>
            <a:ext cx="4368800" cy="4064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Search &amp; Rescue</a:t>
            </a:r>
            <a:endParaRPr lang="en-US" sz="2200" dirty="0"/>
          </a:p>
        </p:txBody>
      </p:sp>
      <p:sp>
        <p:nvSpPr>
          <p:cNvPr id="18" name="Text 16"/>
          <p:cNvSpPr/>
          <p:nvPr/>
        </p:nvSpPr>
        <p:spPr>
          <a:xfrm>
            <a:off x="12750800" y="6604000"/>
            <a:ext cx="4368800" cy="1397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Frame extraction from drone and aerial surveillance footage.</a:t>
            </a:r>
            <a:endParaRPr lang="en-US" sz="1600" dirty="0"/>
          </a:p>
        </p:txBody>
      </p:sp>
      <p:sp>
        <p:nvSpPr>
          <p:cNvPr id="19" name="Shape 17"/>
          <p:cNvSpPr/>
          <p:nvPr/>
        </p:nvSpPr>
        <p:spPr>
          <a:xfrm>
            <a:off x="17830800" y="5080000"/>
            <a:ext cx="5181600" cy="3175000"/>
          </a:xfrm>
          <a:prstGeom prst="rect">
            <a:avLst/>
          </a:prstGeom>
          <a:solidFill>
            <a:srgbClr val="1A1212"/>
          </a:solidFill>
          <a:ln w="12700">
            <a:solidFill>
              <a:srgbClr val="3D2A2A"/>
            </a:solidFill>
            <a:prstDash val="solid"/>
          </a:ln>
        </p:spPr>
      </p:sp>
      <p:sp>
        <p:nvSpPr>
          <p:cNvPr id="20" name="Shape 18"/>
          <p:cNvSpPr/>
          <p:nvPr/>
        </p:nvSpPr>
        <p:spPr>
          <a:xfrm>
            <a:off x="18237200" y="5384800"/>
            <a:ext cx="508000" cy="508000"/>
          </a:xfrm>
          <a:custGeom>
            <a:avLst/>
            <a:gdLst/>
            <a:ahLst/>
            <a:cxnLst/>
            <a:rect l="l" t="t" r="r" b="b"/>
            <a:pathLst>
              <a:path w="508000" h="508000">
                <a:moveTo>
                  <a:pt x="0" y="63500"/>
                </a:moveTo>
                <a:cubicBezTo>
                  <a:pt x="0" y="45938"/>
                  <a:pt x="14188" y="31750"/>
                  <a:pt x="31750" y="31750"/>
                </a:cubicBezTo>
                <a:lnTo>
                  <a:pt x="476250" y="31750"/>
                </a:lnTo>
                <a:cubicBezTo>
                  <a:pt x="493812" y="31750"/>
                  <a:pt x="508000" y="45938"/>
                  <a:pt x="508000" y="63500"/>
                </a:cubicBezTo>
                <a:cubicBezTo>
                  <a:pt x="508000" y="81062"/>
                  <a:pt x="493812" y="95250"/>
                  <a:pt x="476250" y="95250"/>
                </a:cubicBezTo>
                <a:lnTo>
                  <a:pt x="476250" y="412750"/>
                </a:lnTo>
                <a:cubicBezTo>
                  <a:pt x="493812" y="412750"/>
                  <a:pt x="508000" y="426938"/>
                  <a:pt x="508000" y="444500"/>
                </a:cubicBezTo>
                <a:cubicBezTo>
                  <a:pt x="508000" y="462062"/>
                  <a:pt x="493812" y="476250"/>
                  <a:pt x="476250" y="476250"/>
                </a:cubicBezTo>
                <a:lnTo>
                  <a:pt x="31750" y="476250"/>
                </a:lnTo>
                <a:cubicBezTo>
                  <a:pt x="14188" y="476250"/>
                  <a:pt x="0" y="462062"/>
                  <a:pt x="0" y="444500"/>
                </a:cubicBezTo>
                <a:cubicBezTo>
                  <a:pt x="0" y="426938"/>
                  <a:pt x="14188" y="412750"/>
                  <a:pt x="31750" y="412750"/>
                </a:cubicBezTo>
                <a:lnTo>
                  <a:pt x="31750" y="95250"/>
                </a:lnTo>
                <a:cubicBezTo>
                  <a:pt x="14188" y="95250"/>
                  <a:pt x="0" y="81062"/>
                  <a:pt x="0" y="63500"/>
                </a:cubicBezTo>
                <a:close/>
                <a:moveTo>
                  <a:pt x="277813" y="119063"/>
                </a:moveTo>
                <a:cubicBezTo>
                  <a:pt x="277813" y="105866"/>
                  <a:pt x="267196" y="95250"/>
                  <a:pt x="254000" y="95250"/>
                </a:cubicBezTo>
                <a:cubicBezTo>
                  <a:pt x="240804" y="95250"/>
                  <a:pt x="230188" y="105866"/>
                  <a:pt x="230188" y="119063"/>
                </a:cubicBezTo>
                <a:lnTo>
                  <a:pt x="230188" y="134938"/>
                </a:lnTo>
                <a:lnTo>
                  <a:pt x="166688" y="134938"/>
                </a:lnTo>
                <a:cubicBezTo>
                  <a:pt x="153491" y="134938"/>
                  <a:pt x="142875" y="145554"/>
                  <a:pt x="142875" y="158750"/>
                </a:cubicBezTo>
                <a:cubicBezTo>
                  <a:pt x="142875" y="171946"/>
                  <a:pt x="153491" y="182563"/>
                  <a:pt x="166688" y="182563"/>
                </a:cubicBezTo>
                <a:lnTo>
                  <a:pt x="230188" y="182563"/>
                </a:lnTo>
                <a:lnTo>
                  <a:pt x="230188" y="230188"/>
                </a:lnTo>
                <a:lnTo>
                  <a:pt x="150813" y="230188"/>
                </a:lnTo>
                <a:cubicBezTo>
                  <a:pt x="137616" y="230188"/>
                  <a:pt x="127000" y="240804"/>
                  <a:pt x="127000" y="254000"/>
                </a:cubicBezTo>
                <a:cubicBezTo>
                  <a:pt x="127000" y="267196"/>
                  <a:pt x="137616" y="277813"/>
                  <a:pt x="150813" y="277813"/>
                </a:cubicBezTo>
                <a:lnTo>
                  <a:pt x="230188" y="277813"/>
                </a:lnTo>
                <a:lnTo>
                  <a:pt x="230188" y="325438"/>
                </a:lnTo>
                <a:lnTo>
                  <a:pt x="166688" y="325438"/>
                </a:lnTo>
                <a:cubicBezTo>
                  <a:pt x="153491" y="325438"/>
                  <a:pt x="142875" y="336054"/>
                  <a:pt x="142875" y="349250"/>
                </a:cubicBezTo>
                <a:cubicBezTo>
                  <a:pt x="142875" y="362446"/>
                  <a:pt x="153491" y="373063"/>
                  <a:pt x="166688" y="373063"/>
                </a:cubicBezTo>
                <a:lnTo>
                  <a:pt x="230188" y="373063"/>
                </a:lnTo>
                <a:lnTo>
                  <a:pt x="230188" y="388938"/>
                </a:lnTo>
                <a:cubicBezTo>
                  <a:pt x="230188" y="402134"/>
                  <a:pt x="240804" y="412750"/>
                  <a:pt x="254000" y="412750"/>
                </a:cubicBezTo>
                <a:cubicBezTo>
                  <a:pt x="267196" y="412750"/>
                  <a:pt x="277813" y="402134"/>
                  <a:pt x="277813" y="388938"/>
                </a:cubicBezTo>
                <a:lnTo>
                  <a:pt x="277813" y="373063"/>
                </a:lnTo>
                <a:lnTo>
                  <a:pt x="341313" y="373063"/>
                </a:lnTo>
                <a:cubicBezTo>
                  <a:pt x="354509" y="373063"/>
                  <a:pt x="365125" y="362446"/>
                  <a:pt x="365125" y="349250"/>
                </a:cubicBezTo>
                <a:cubicBezTo>
                  <a:pt x="365125" y="336054"/>
                  <a:pt x="354509" y="325438"/>
                  <a:pt x="341313" y="325438"/>
                </a:cubicBezTo>
                <a:lnTo>
                  <a:pt x="277813" y="325438"/>
                </a:lnTo>
                <a:lnTo>
                  <a:pt x="277813" y="277813"/>
                </a:lnTo>
                <a:lnTo>
                  <a:pt x="357188" y="277813"/>
                </a:lnTo>
                <a:cubicBezTo>
                  <a:pt x="370384" y="277813"/>
                  <a:pt x="381000" y="267196"/>
                  <a:pt x="381000" y="254000"/>
                </a:cubicBezTo>
                <a:cubicBezTo>
                  <a:pt x="381000" y="240804"/>
                  <a:pt x="370384" y="230188"/>
                  <a:pt x="357188" y="230188"/>
                </a:cubicBezTo>
                <a:lnTo>
                  <a:pt x="277813" y="230188"/>
                </a:lnTo>
                <a:lnTo>
                  <a:pt x="277813" y="182563"/>
                </a:lnTo>
                <a:lnTo>
                  <a:pt x="341313" y="182563"/>
                </a:lnTo>
                <a:cubicBezTo>
                  <a:pt x="354509" y="182563"/>
                  <a:pt x="365125" y="171946"/>
                  <a:pt x="365125" y="158750"/>
                </a:cubicBezTo>
                <a:cubicBezTo>
                  <a:pt x="365125" y="145554"/>
                  <a:pt x="354509" y="134938"/>
                  <a:pt x="341313" y="134938"/>
                </a:cubicBezTo>
                <a:lnTo>
                  <a:pt x="277813" y="134938"/>
                </a:lnTo>
                <a:lnTo>
                  <a:pt x="277813" y="119063"/>
                </a:lnTo>
                <a:close/>
              </a:path>
            </a:pathLst>
          </a:custGeom>
          <a:solidFill>
            <a:srgbClr val="C81E1E"/>
          </a:solidFill>
          <a:ln/>
        </p:spPr>
      </p:sp>
      <p:sp>
        <p:nvSpPr>
          <p:cNvPr id="21" name="Text 19"/>
          <p:cNvSpPr/>
          <p:nvPr/>
        </p:nvSpPr>
        <p:spPr>
          <a:xfrm>
            <a:off x="18237200" y="6096000"/>
            <a:ext cx="4368800" cy="4064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Medical Imaging</a:t>
            </a:r>
            <a:endParaRPr lang="en-US" sz="2200" dirty="0"/>
          </a:p>
        </p:txBody>
      </p:sp>
      <p:sp>
        <p:nvSpPr>
          <p:cNvPr id="22" name="Text 20"/>
          <p:cNvSpPr/>
          <p:nvPr/>
        </p:nvSpPr>
        <p:spPr>
          <a:xfrm>
            <a:off x="18237200" y="6604000"/>
            <a:ext cx="4368800" cy="1397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Dataset preparation from scan and diagnostic video sequences.</a:t>
            </a:r>
            <a:endParaRPr lang="en-US" sz="1600" dirty="0"/>
          </a:p>
        </p:txBody>
      </p:sp>
      <p:sp>
        <p:nvSpPr>
          <p:cNvPr id="23" name="Shape 21"/>
          <p:cNvSpPr/>
          <p:nvPr/>
        </p:nvSpPr>
        <p:spPr>
          <a:xfrm>
            <a:off x="1371600" y="8636000"/>
            <a:ext cx="6908800" cy="3175000"/>
          </a:xfrm>
          <a:prstGeom prst="rect">
            <a:avLst/>
          </a:prstGeom>
          <a:solidFill>
            <a:srgbClr val="1A1212"/>
          </a:solidFill>
          <a:ln w="12700">
            <a:solidFill>
              <a:srgbClr val="3D2A2A"/>
            </a:solidFill>
            <a:prstDash val="solid"/>
          </a:ln>
        </p:spPr>
      </p:sp>
      <p:sp>
        <p:nvSpPr>
          <p:cNvPr id="24" name="Shape 22"/>
          <p:cNvSpPr/>
          <p:nvPr/>
        </p:nvSpPr>
        <p:spPr>
          <a:xfrm>
            <a:off x="1778000" y="8940800"/>
            <a:ext cx="508000" cy="508000"/>
          </a:xfrm>
          <a:custGeom>
            <a:avLst/>
            <a:gdLst/>
            <a:ahLst/>
            <a:cxnLst/>
            <a:rect l="l" t="t" r="r" b="b"/>
            <a:pathLst>
              <a:path w="508000" h="508000">
                <a:moveTo>
                  <a:pt x="197445" y="6945"/>
                </a:moveTo>
                <a:cubicBezTo>
                  <a:pt x="206772" y="-2381"/>
                  <a:pt x="221853" y="-2381"/>
                  <a:pt x="231080" y="6945"/>
                </a:cubicBezTo>
                <a:lnTo>
                  <a:pt x="319782" y="95647"/>
                </a:lnTo>
                <a:lnTo>
                  <a:pt x="374352" y="41077"/>
                </a:lnTo>
                <a:cubicBezTo>
                  <a:pt x="386755" y="28674"/>
                  <a:pt x="406896" y="28674"/>
                  <a:pt x="419298" y="41077"/>
                </a:cubicBezTo>
                <a:lnTo>
                  <a:pt x="466923" y="88702"/>
                </a:lnTo>
                <a:cubicBezTo>
                  <a:pt x="479326" y="101104"/>
                  <a:pt x="479326" y="121245"/>
                  <a:pt x="466923" y="133648"/>
                </a:cubicBezTo>
                <a:lnTo>
                  <a:pt x="412353" y="188218"/>
                </a:lnTo>
                <a:lnTo>
                  <a:pt x="501055" y="276920"/>
                </a:lnTo>
                <a:cubicBezTo>
                  <a:pt x="510381" y="286246"/>
                  <a:pt x="510381" y="301327"/>
                  <a:pt x="501055" y="310555"/>
                </a:cubicBezTo>
                <a:lnTo>
                  <a:pt x="405805" y="405805"/>
                </a:lnTo>
                <a:cubicBezTo>
                  <a:pt x="396478" y="415131"/>
                  <a:pt x="381397" y="415131"/>
                  <a:pt x="372170" y="405805"/>
                </a:cubicBezTo>
                <a:lnTo>
                  <a:pt x="283468" y="317103"/>
                </a:lnTo>
                <a:lnTo>
                  <a:pt x="268089" y="332482"/>
                </a:lnTo>
                <a:cubicBezTo>
                  <a:pt x="279400" y="356890"/>
                  <a:pt x="285750" y="384076"/>
                  <a:pt x="285750" y="412750"/>
                </a:cubicBezTo>
                <a:cubicBezTo>
                  <a:pt x="285750" y="444202"/>
                  <a:pt x="278110" y="473770"/>
                  <a:pt x="264716" y="499864"/>
                </a:cubicBezTo>
                <a:cubicBezTo>
                  <a:pt x="260052" y="508794"/>
                  <a:pt x="248146" y="510084"/>
                  <a:pt x="241102" y="502940"/>
                </a:cubicBezTo>
                <a:lnTo>
                  <a:pt x="145554" y="407392"/>
                </a:lnTo>
                <a:lnTo>
                  <a:pt x="86023" y="466923"/>
                </a:lnTo>
                <a:cubicBezTo>
                  <a:pt x="73620" y="479326"/>
                  <a:pt x="53479" y="479326"/>
                  <a:pt x="41077" y="466923"/>
                </a:cubicBezTo>
                <a:cubicBezTo>
                  <a:pt x="28674" y="454521"/>
                  <a:pt x="28674" y="434380"/>
                  <a:pt x="41077" y="421977"/>
                </a:cubicBezTo>
                <a:lnTo>
                  <a:pt x="100608" y="362446"/>
                </a:lnTo>
                <a:lnTo>
                  <a:pt x="5060" y="266898"/>
                </a:lnTo>
                <a:cubicBezTo>
                  <a:pt x="-2084" y="259755"/>
                  <a:pt x="-794" y="247848"/>
                  <a:pt x="8136" y="243284"/>
                </a:cubicBezTo>
                <a:cubicBezTo>
                  <a:pt x="34230" y="229791"/>
                  <a:pt x="63897" y="222250"/>
                  <a:pt x="95250" y="222250"/>
                </a:cubicBezTo>
                <a:cubicBezTo>
                  <a:pt x="123924" y="222250"/>
                  <a:pt x="151110" y="228600"/>
                  <a:pt x="175518" y="239911"/>
                </a:cubicBezTo>
                <a:lnTo>
                  <a:pt x="190897" y="224532"/>
                </a:lnTo>
                <a:lnTo>
                  <a:pt x="102195" y="135930"/>
                </a:lnTo>
                <a:cubicBezTo>
                  <a:pt x="92869" y="126603"/>
                  <a:pt x="92869" y="111522"/>
                  <a:pt x="102195" y="102295"/>
                </a:cubicBezTo>
                <a:lnTo>
                  <a:pt x="197445" y="6945"/>
                </a:lnTo>
                <a:close/>
                <a:moveTo>
                  <a:pt x="214313" y="57448"/>
                </a:moveTo>
                <a:lnTo>
                  <a:pt x="152698" y="119063"/>
                </a:lnTo>
                <a:lnTo>
                  <a:pt x="224532" y="190897"/>
                </a:lnTo>
                <a:lnTo>
                  <a:pt x="286147" y="129282"/>
                </a:lnTo>
                <a:lnTo>
                  <a:pt x="214313" y="57448"/>
                </a:lnTo>
                <a:close/>
                <a:moveTo>
                  <a:pt x="388938" y="355302"/>
                </a:moveTo>
                <a:lnTo>
                  <a:pt x="450552" y="293688"/>
                </a:lnTo>
                <a:lnTo>
                  <a:pt x="378718" y="221853"/>
                </a:lnTo>
                <a:lnTo>
                  <a:pt x="317103" y="283468"/>
                </a:lnTo>
                <a:lnTo>
                  <a:pt x="388938" y="355302"/>
                </a:lnTo>
                <a:close/>
              </a:path>
            </a:pathLst>
          </a:custGeom>
          <a:solidFill>
            <a:srgbClr val="C81E1E"/>
          </a:solidFill>
          <a:ln/>
        </p:spPr>
      </p:sp>
      <p:sp>
        <p:nvSpPr>
          <p:cNvPr id="25" name="Text 23"/>
          <p:cNvSpPr/>
          <p:nvPr/>
        </p:nvSpPr>
        <p:spPr>
          <a:xfrm>
            <a:off x="1778000" y="9652000"/>
            <a:ext cx="6096000" cy="4064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Remote Sensing</a:t>
            </a:r>
            <a:endParaRPr lang="en-US" sz="2200" dirty="0"/>
          </a:p>
        </p:txBody>
      </p:sp>
      <p:sp>
        <p:nvSpPr>
          <p:cNvPr id="26" name="Text 24"/>
          <p:cNvSpPr/>
          <p:nvPr/>
        </p:nvSpPr>
        <p:spPr>
          <a:xfrm>
            <a:off x="1778000" y="10160000"/>
            <a:ext cx="6096000" cy="1397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Satellite imagery dataset generation for environmental and geological analysis.</a:t>
            </a:r>
            <a:endParaRPr lang="en-US" sz="1600" dirty="0"/>
          </a:p>
        </p:txBody>
      </p:sp>
      <p:sp>
        <p:nvSpPr>
          <p:cNvPr id="27" name="Shape 25"/>
          <p:cNvSpPr/>
          <p:nvPr/>
        </p:nvSpPr>
        <p:spPr>
          <a:xfrm>
            <a:off x="8534400" y="8636000"/>
            <a:ext cx="6908800" cy="3175000"/>
          </a:xfrm>
          <a:prstGeom prst="rect">
            <a:avLst/>
          </a:prstGeom>
          <a:solidFill>
            <a:srgbClr val="1A1212"/>
          </a:solidFill>
          <a:ln w="12700">
            <a:solidFill>
              <a:srgbClr val="3D2A2A"/>
            </a:solidFill>
            <a:prstDash val="solid"/>
          </a:ln>
        </p:spPr>
      </p:sp>
      <p:sp>
        <p:nvSpPr>
          <p:cNvPr id="28" name="Shape 26"/>
          <p:cNvSpPr/>
          <p:nvPr/>
        </p:nvSpPr>
        <p:spPr>
          <a:xfrm>
            <a:off x="8940800" y="8940800"/>
            <a:ext cx="508000" cy="508000"/>
          </a:xfrm>
          <a:custGeom>
            <a:avLst/>
            <a:gdLst/>
            <a:ahLst/>
            <a:cxnLst/>
            <a:rect l="l" t="t" r="r" b="b"/>
            <a:pathLst>
              <a:path w="508000" h="508000">
                <a:moveTo>
                  <a:pt x="290853" y="-31750"/>
                </a:moveTo>
                <a:cubicBezTo>
                  <a:pt x="325899" y="-31750"/>
                  <a:pt x="354353" y="-6853"/>
                  <a:pt x="354353" y="23812"/>
                </a:cubicBezTo>
                <a:cubicBezTo>
                  <a:pt x="354353" y="54478"/>
                  <a:pt x="325899" y="79375"/>
                  <a:pt x="290853" y="79375"/>
                </a:cubicBezTo>
                <a:cubicBezTo>
                  <a:pt x="255806" y="79375"/>
                  <a:pt x="227353" y="54478"/>
                  <a:pt x="227353" y="23813"/>
                </a:cubicBezTo>
                <a:cubicBezTo>
                  <a:pt x="227353" y="-6853"/>
                  <a:pt x="255806" y="-31750"/>
                  <a:pt x="290853" y="-31750"/>
                </a:cubicBezTo>
                <a:close/>
                <a:moveTo>
                  <a:pt x="140154" y="174625"/>
                </a:moveTo>
                <a:cubicBezTo>
                  <a:pt x="136412" y="174625"/>
                  <a:pt x="133123" y="176609"/>
                  <a:pt x="131763" y="179586"/>
                </a:cubicBezTo>
                <a:lnTo>
                  <a:pt x="106816" y="234057"/>
                </a:lnTo>
                <a:cubicBezTo>
                  <a:pt x="99332" y="250329"/>
                  <a:pt x="78241" y="258266"/>
                  <a:pt x="59645" y="251718"/>
                </a:cubicBezTo>
                <a:cubicBezTo>
                  <a:pt x="41048" y="245170"/>
                  <a:pt x="31977" y="226715"/>
                  <a:pt x="39461" y="210443"/>
                </a:cubicBezTo>
                <a:lnTo>
                  <a:pt x="64294" y="155972"/>
                </a:lnTo>
                <a:cubicBezTo>
                  <a:pt x="76767" y="128885"/>
                  <a:pt x="106703" y="111125"/>
                  <a:pt x="140154" y="111125"/>
                </a:cubicBezTo>
                <a:lnTo>
                  <a:pt x="250485" y="111125"/>
                </a:lnTo>
                <a:cubicBezTo>
                  <a:pt x="282802" y="111125"/>
                  <a:pt x="312624" y="126107"/>
                  <a:pt x="328839" y="150515"/>
                </a:cubicBezTo>
                <a:lnTo>
                  <a:pt x="366032" y="206375"/>
                </a:lnTo>
                <a:lnTo>
                  <a:pt x="435882" y="206375"/>
                </a:lnTo>
                <a:cubicBezTo>
                  <a:pt x="455953" y="206375"/>
                  <a:pt x="472168" y="220563"/>
                  <a:pt x="472168" y="238125"/>
                </a:cubicBezTo>
                <a:cubicBezTo>
                  <a:pt x="472168" y="255687"/>
                  <a:pt x="455953" y="269875"/>
                  <a:pt x="435882" y="269875"/>
                </a:cubicBezTo>
                <a:lnTo>
                  <a:pt x="366032" y="269875"/>
                </a:lnTo>
                <a:cubicBezTo>
                  <a:pt x="340179" y="269875"/>
                  <a:pt x="316366" y="257870"/>
                  <a:pt x="303326" y="238323"/>
                </a:cubicBezTo>
                <a:lnTo>
                  <a:pt x="291987" y="221357"/>
                </a:lnTo>
                <a:lnTo>
                  <a:pt x="268514" y="291207"/>
                </a:lnTo>
                <a:lnTo>
                  <a:pt x="354013" y="313630"/>
                </a:lnTo>
                <a:cubicBezTo>
                  <a:pt x="385422" y="321866"/>
                  <a:pt x="401411" y="352326"/>
                  <a:pt x="388144" y="378619"/>
                </a:cubicBezTo>
                <a:lnTo>
                  <a:pt x="323963" y="505023"/>
                </a:lnTo>
                <a:cubicBezTo>
                  <a:pt x="315799" y="521097"/>
                  <a:pt x="294368" y="528241"/>
                  <a:pt x="276112" y="521097"/>
                </a:cubicBezTo>
                <a:cubicBezTo>
                  <a:pt x="257855" y="513953"/>
                  <a:pt x="249578" y="495201"/>
                  <a:pt x="257742" y="479227"/>
                </a:cubicBezTo>
                <a:lnTo>
                  <a:pt x="313531" y="369292"/>
                </a:lnTo>
                <a:lnTo>
                  <a:pt x="204788" y="340717"/>
                </a:lnTo>
                <a:cubicBezTo>
                  <a:pt x="167708" y="330994"/>
                  <a:pt x="145823" y="297359"/>
                  <a:pt x="155235" y="264517"/>
                </a:cubicBezTo>
                <a:lnTo>
                  <a:pt x="180975" y="174625"/>
                </a:lnTo>
                <a:lnTo>
                  <a:pt x="140267" y="174625"/>
                </a:lnTo>
                <a:close/>
                <a:moveTo>
                  <a:pt x="131082" y="354211"/>
                </a:moveTo>
                <a:cubicBezTo>
                  <a:pt x="146163" y="368995"/>
                  <a:pt x="165894" y="380305"/>
                  <a:pt x="189139" y="386358"/>
                </a:cubicBezTo>
                <a:lnTo>
                  <a:pt x="194469" y="387747"/>
                </a:lnTo>
                <a:lnTo>
                  <a:pt x="186645" y="406896"/>
                </a:lnTo>
                <a:cubicBezTo>
                  <a:pt x="180068" y="423069"/>
                  <a:pt x="168502" y="437455"/>
                  <a:pt x="153421" y="448370"/>
                </a:cubicBezTo>
                <a:lnTo>
                  <a:pt x="59985" y="515739"/>
                </a:lnTo>
                <a:cubicBezTo>
                  <a:pt x="44563" y="526852"/>
                  <a:pt x="21658" y="524966"/>
                  <a:pt x="8958" y="511473"/>
                </a:cubicBezTo>
                <a:cubicBezTo>
                  <a:pt x="-3742" y="497979"/>
                  <a:pt x="-1588" y="477937"/>
                  <a:pt x="13834" y="466824"/>
                </a:cubicBezTo>
                <a:lnTo>
                  <a:pt x="107270" y="399455"/>
                </a:lnTo>
                <a:cubicBezTo>
                  <a:pt x="112372" y="395784"/>
                  <a:pt x="116114" y="391021"/>
                  <a:pt x="118382" y="385663"/>
                </a:cubicBezTo>
                <a:lnTo>
                  <a:pt x="131082" y="354211"/>
                </a:lnTo>
                <a:close/>
              </a:path>
            </a:pathLst>
          </a:custGeom>
          <a:solidFill>
            <a:srgbClr val="C81E1E"/>
          </a:solidFill>
          <a:ln/>
        </p:spPr>
      </p:sp>
      <p:sp>
        <p:nvSpPr>
          <p:cNvPr id="29" name="Text 27"/>
          <p:cNvSpPr/>
          <p:nvPr/>
        </p:nvSpPr>
        <p:spPr>
          <a:xfrm>
            <a:off x="8940800" y="9652000"/>
            <a:ext cx="6096000" cy="4064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Action Recognition</a:t>
            </a:r>
            <a:endParaRPr lang="en-US" sz="2200" dirty="0"/>
          </a:p>
        </p:txBody>
      </p:sp>
      <p:sp>
        <p:nvSpPr>
          <p:cNvPr id="30" name="Text 28"/>
          <p:cNvSpPr/>
          <p:nvPr/>
        </p:nvSpPr>
        <p:spPr>
          <a:xfrm>
            <a:off x="8940800" y="10160000"/>
            <a:ext cx="6096000" cy="1397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Temporal frame sequences for human activity and motion classification models.</a:t>
            </a:r>
            <a:endParaRPr lang="en-US" sz="1600" dirty="0"/>
          </a:p>
        </p:txBody>
      </p:sp>
      <p:sp>
        <p:nvSpPr>
          <p:cNvPr id="31" name="Shape 29"/>
          <p:cNvSpPr/>
          <p:nvPr/>
        </p:nvSpPr>
        <p:spPr>
          <a:xfrm>
            <a:off x="15697200" y="8636000"/>
            <a:ext cx="7315200" cy="3175000"/>
          </a:xfrm>
          <a:prstGeom prst="rect">
            <a:avLst/>
          </a:prstGeom>
          <a:solidFill>
            <a:srgbClr val="1A1212"/>
          </a:solidFill>
          <a:ln w="12700">
            <a:solidFill>
              <a:srgbClr val="3D2A2A"/>
            </a:solidFill>
            <a:prstDash val="solid"/>
          </a:ln>
        </p:spPr>
      </p:sp>
      <p:sp>
        <p:nvSpPr>
          <p:cNvPr id="32" name="Shape 30"/>
          <p:cNvSpPr/>
          <p:nvPr/>
        </p:nvSpPr>
        <p:spPr>
          <a:xfrm>
            <a:off x="16103600" y="8940800"/>
            <a:ext cx="508000" cy="508000"/>
          </a:xfrm>
          <a:custGeom>
            <a:avLst/>
            <a:gdLst/>
            <a:ahLst/>
            <a:cxnLst/>
            <a:rect l="l" t="t" r="r" b="b"/>
            <a:pathLst>
              <a:path w="508000" h="508000">
                <a:moveTo>
                  <a:pt x="326571" y="0"/>
                </a:moveTo>
                <a:lnTo>
                  <a:pt x="145143" y="0"/>
                </a:lnTo>
                <a:cubicBezTo>
                  <a:pt x="125072" y="0"/>
                  <a:pt x="108857" y="14188"/>
                  <a:pt x="108857" y="31750"/>
                </a:cubicBezTo>
                <a:cubicBezTo>
                  <a:pt x="108857" y="49312"/>
                  <a:pt x="125072" y="63500"/>
                  <a:pt x="145143" y="63500"/>
                </a:cubicBezTo>
                <a:lnTo>
                  <a:pt x="145143" y="213816"/>
                </a:lnTo>
                <a:lnTo>
                  <a:pt x="8504" y="422970"/>
                </a:lnTo>
                <a:cubicBezTo>
                  <a:pt x="2948" y="431602"/>
                  <a:pt x="0" y="441226"/>
                  <a:pt x="0" y="451148"/>
                </a:cubicBezTo>
                <a:cubicBezTo>
                  <a:pt x="0" y="482600"/>
                  <a:pt x="29029" y="508000"/>
                  <a:pt x="64974" y="508000"/>
                </a:cubicBezTo>
                <a:lnTo>
                  <a:pt x="443026" y="508000"/>
                </a:lnTo>
                <a:cubicBezTo>
                  <a:pt x="478858" y="508000"/>
                  <a:pt x="508000" y="482600"/>
                  <a:pt x="508000" y="451148"/>
                </a:cubicBezTo>
                <a:cubicBezTo>
                  <a:pt x="508000" y="441226"/>
                  <a:pt x="505052" y="431502"/>
                  <a:pt x="499496" y="422970"/>
                </a:cubicBezTo>
                <a:lnTo>
                  <a:pt x="362857" y="213816"/>
                </a:lnTo>
                <a:lnTo>
                  <a:pt x="362857" y="63500"/>
                </a:lnTo>
                <a:cubicBezTo>
                  <a:pt x="382928" y="63500"/>
                  <a:pt x="399143" y="49312"/>
                  <a:pt x="399143" y="31750"/>
                </a:cubicBezTo>
                <a:cubicBezTo>
                  <a:pt x="399143" y="14188"/>
                  <a:pt x="382928" y="0"/>
                  <a:pt x="362857" y="0"/>
                </a:cubicBezTo>
                <a:lnTo>
                  <a:pt x="326571" y="0"/>
                </a:lnTo>
                <a:close/>
                <a:moveTo>
                  <a:pt x="217714" y="213816"/>
                </a:moveTo>
                <a:lnTo>
                  <a:pt x="217714" y="63500"/>
                </a:lnTo>
                <a:lnTo>
                  <a:pt x="290286" y="63500"/>
                </a:lnTo>
                <a:lnTo>
                  <a:pt x="290286" y="213816"/>
                </a:lnTo>
                <a:cubicBezTo>
                  <a:pt x="290286" y="224830"/>
                  <a:pt x="293574" y="235744"/>
                  <a:pt x="299811" y="245368"/>
                </a:cubicBezTo>
                <a:lnTo>
                  <a:pt x="346982" y="317500"/>
                </a:lnTo>
                <a:lnTo>
                  <a:pt x="161018" y="317500"/>
                </a:lnTo>
                <a:lnTo>
                  <a:pt x="208189" y="245368"/>
                </a:lnTo>
                <a:cubicBezTo>
                  <a:pt x="214426" y="235744"/>
                  <a:pt x="217714" y="224929"/>
                  <a:pt x="217714" y="213816"/>
                </a:cubicBezTo>
                <a:close/>
              </a:path>
            </a:pathLst>
          </a:custGeom>
          <a:solidFill>
            <a:srgbClr val="C81E1E"/>
          </a:solidFill>
          <a:ln/>
        </p:spPr>
      </p:sp>
      <p:sp>
        <p:nvSpPr>
          <p:cNvPr id="33" name="Text 31"/>
          <p:cNvSpPr/>
          <p:nvPr/>
        </p:nvSpPr>
        <p:spPr>
          <a:xfrm>
            <a:off x="16103600" y="9652000"/>
            <a:ext cx="6502400" cy="406400"/>
          </a:xfrm>
          <a:prstGeom prst="rect">
            <a:avLst/>
          </a:prstGeom>
          <a:noFill/>
          <a:ln/>
        </p:spPr>
        <p:txBody>
          <a:bodyPr wrap="none" lIns="0" tIns="0" rIns="0" bIns="0" rtlCol="0" anchor="ctr"/>
          <a:lstStyle/>
          <a:p>
            <a:pPr algn="l">
              <a:lnSpc>
                <a:spcPct val="120000"/>
              </a:lnSpc>
            </a:pPr>
            <a:r>
              <a:rPr lang="en-US" sz="2200" b="1" dirty="0">
                <a:solidFill>
                  <a:srgbClr val="E8DCC8"/>
                </a:solidFill>
                <a:latin typeface="Quattrocento Sans" pitchFamily="34" charset="0"/>
                <a:ea typeface="Quattrocento Sans" pitchFamily="34" charset="-122"/>
                <a:cs typeface="Quattrocento Sans" pitchFamily="34" charset="-120"/>
              </a:rPr>
              <a:t>Research</a:t>
            </a:r>
            <a:endParaRPr lang="en-US" sz="2200" dirty="0"/>
          </a:p>
        </p:txBody>
      </p:sp>
      <p:sp>
        <p:nvSpPr>
          <p:cNvPr id="34" name="Text 32"/>
          <p:cNvSpPr/>
          <p:nvPr/>
        </p:nvSpPr>
        <p:spPr>
          <a:xfrm>
            <a:off x="16103600" y="10160000"/>
            <a:ext cx="6502400" cy="1397000"/>
          </a:xfrm>
          <a:prstGeom prst="rect">
            <a:avLst/>
          </a:prstGeom>
          <a:noFill/>
          <a:ln/>
        </p:spPr>
        <p:txBody>
          <a:bodyPr wrap="square" lIns="0" tIns="0" rIns="0" bIns="0" rtlCol="0" anchor="t"/>
          <a:lstStyle/>
          <a:p>
            <a:pPr algn="l">
              <a:lnSpc>
                <a:spcPct val="150000"/>
              </a:lnSpc>
            </a:pPr>
            <a:r>
              <a:rPr lang="en-US" sz="1600" dirty="0">
                <a:solidFill>
                  <a:srgbClr val="6B5B4E"/>
                </a:solidFill>
                <a:latin typeface="Quattrocento Sans" pitchFamily="34" charset="0"/>
                <a:ea typeface="Quattrocento Sans" pitchFamily="34" charset="-122"/>
                <a:cs typeface="Quattrocento Sans" pitchFamily="34" charset="-120"/>
              </a:rPr>
              <a:t>Academic dataset preparation without infrastructure investment or cloud dependency.</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1371600" y="1384300"/>
            <a:ext cx="21640800" cy="0"/>
          </a:xfrm>
          <a:prstGeom prst="straightConnector1">
            <a:avLst/>
          </a:prstGeom>
          <a:noFill/>
          <a:ln w="9525">
            <a:solidFill>
              <a:srgbClr val="3D2A2A"/>
            </a:solidFill>
            <a:prstDash val="solid"/>
            <a:headEnd type="none"/>
            <a:tailEnd type="none"/>
          </a:ln>
        </p:spPr>
      </p:sp>
      <p:sp>
        <p:nvSpPr>
          <p:cNvPr id="3" name="Shape 1"/>
          <p:cNvSpPr/>
          <p:nvPr/>
        </p:nvSpPr>
        <p:spPr>
          <a:xfrm>
            <a:off x="1371600" y="12331700"/>
            <a:ext cx="21640800" cy="0"/>
          </a:xfrm>
          <a:prstGeom prst="straightConnector1">
            <a:avLst/>
          </a:prstGeom>
          <a:noFill/>
          <a:ln w="9525">
            <a:solidFill>
              <a:srgbClr val="3D2A2A"/>
            </a:solidFill>
            <a:prstDash val="solid"/>
            <a:headEnd type="none"/>
            <a:tailEnd type="none"/>
          </a:ln>
        </p:spPr>
      </p:sp>
      <p:sp>
        <p:nvSpPr>
          <p:cNvPr id="4" name="Shape 2"/>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5" name="Text 3"/>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6" name="Text 4"/>
          <p:cNvSpPr/>
          <p:nvPr/>
        </p:nvSpPr>
        <p:spPr>
          <a:xfrm>
            <a:off x="1371600" y="2794000"/>
            <a:ext cx="21640800" cy="1778000"/>
          </a:xfrm>
          <a:prstGeom prst="rect">
            <a:avLst/>
          </a:prstGeom>
          <a:noFill/>
          <a:ln/>
        </p:spPr>
        <p:txBody>
          <a:bodyPr wrap="square" lIns="0" tIns="0" rIns="0" bIns="0" rtlCol="0" anchor="t"/>
          <a:lstStyle/>
          <a:p>
            <a:pPr algn="l">
              <a:lnSpc>
                <a:spcPct val="110000"/>
              </a:lnSpc>
            </a:pPr>
            <a:r>
              <a:rPr lang="en-US" sz="10000" dirty="0">
                <a:solidFill>
                  <a:srgbClr val="C81E1E"/>
                </a:solidFill>
                <a:latin typeface="Cinzel" pitchFamily="34" charset="0"/>
                <a:ea typeface="Cinzel" pitchFamily="34" charset="-122"/>
                <a:cs typeface="Cinzel" pitchFamily="34" charset="-120"/>
              </a:rPr>
              <a:t>RAKTABEEJ</a:t>
            </a:r>
            <a:pPr algn="l">
              <a:lnSpc>
                <a:spcPct val="110000"/>
              </a:lnSpc>
            </a:pPr>
            <a:r>
              <a:rPr lang="en-US" sz="10000" dirty="0">
                <a:solidFill>
                  <a:srgbClr val="E8DCC8"/>
                </a:solidFill>
                <a:latin typeface="Cinzel" pitchFamily="34" charset="0"/>
                <a:ea typeface="Cinzel" pitchFamily="34" charset="-122"/>
                <a:cs typeface="Cinzel" pitchFamily="34" charset="-120"/>
              </a:rPr>
              <a:t> RESURRECTION</a:t>
            </a:r>
            <a:endParaRPr lang="en-US" sz="10000" dirty="0"/>
          </a:p>
        </p:txBody>
      </p:sp>
      <p:sp>
        <p:nvSpPr>
          <p:cNvPr id="7" name="Shape 5"/>
          <p:cNvSpPr/>
          <p:nvPr/>
        </p:nvSpPr>
        <p:spPr>
          <a:xfrm>
            <a:off x="1371600" y="6350000"/>
            <a:ext cx="21640800" cy="0"/>
          </a:xfrm>
          <a:prstGeom prst="straightConnector1">
            <a:avLst/>
          </a:prstGeom>
          <a:noFill/>
          <a:ln w="38100">
            <a:solidFill>
              <a:srgbClr val="CD7F32"/>
            </a:solidFill>
            <a:prstDash val="solid"/>
            <a:headEnd type="none"/>
            <a:tailEnd type="none"/>
          </a:ln>
        </p:spPr>
      </p:sp>
      <p:sp>
        <p:nvSpPr>
          <p:cNvPr id="8" name="Shape 6"/>
          <p:cNvSpPr/>
          <p:nvPr/>
        </p:nvSpPr>
        <p:spPr>
          <a:xfrm>
            <a:off x="2006600" y="6159500"/>
            <a:ext cx="381000" cy="381000"/>
          </a:xfrm>
          <a:prstGeom prst="ellipse">
            <a:avLst/>
          </a:prstGeom>
          <a:solidFill>
            <a:srgbClr val="CD7F32"/>
          </a:solidFill>
          <a:ln/>
        </p:spPr>
      </p:sp>
      <p:sp>
        <p:nvSpPr>
          <p:cNvPr id="9" name="Shape 7"/>
          <p:cNvSpPr/>
          <p:nvPr/>
        </p:nvSpPr>
        <p:spPr>
          <a:xfrm>
            <a:off x="1371600" y="6985000"/>
            <a:ext cx="3175000" cy="4826000"/>
          </a:xfrm>
          <a:prstGeom prst="rect">
            <a:avLst/>
          </a:prstGeom>
          <a:solidFill>
            <a:srgbClr val="1A1212"/>
          </a:solidFill>
          <a:ln w="12700">
            <a:solidFill>
              <a:srgbClr val="3D2A2A"/>
            </a:solidFill>
            <a:prstDash val="solid"/>
          </a:ln>
        </p:spPr>
      </p:sp>
      <p:sp>
        <p:nvSpPr>
          <p:cNvPr id="10" name="Text 8"/>
          <p:cNvSpPr/>
          <p:nvPr/>
        </p:nvSpPr>
        <p:spPr>
          <a:xfrm>
            <a:off x="1371600" y="7112000"/>
            <a:ext cx="3175000" cy="457200"/>
          </a:xfrm>
          <a:prstGeom prst="rect">
            <a:avLst/>
          </a:prstGeom>
          <a:noFill/>
          <a:ln/>
        </p:spPr>
        <p:txBody>
          <a:bodyPr wrap="none" lIns="0" tIns="0" rIns="0" bIns="0" rtlCol="0" anchor="ctr"/>
          <a:lstStyle/>
          <a:p>
            <a:pPr algn="ctr">
              <a:lnSpc>
                <a:spcPct val="120000"/>
              </a:lnSpc>
            </a:pPr>
            <a:r>
              <a:rPr lang="en-US" sz="1800" dirty="0">
                <a:solidFill>
                  <a:srgbClr val="CD7F32"/>
                </a:solidFill>
                <a:latin typeface="Cinzel" pitchFamily="34" charset="0"/>
                <a:ea typeface="Cinzel" pitchFamily="34" charset="-122"/>
                <a:cs typeface="Cinzel" pitchFamily="34" charset="-120"/>
              </a:rPr>
              <a:t>STAGE 1</a:t>
            </a:r>
            <a:endParaRPr lang="en-US" sz="1800" dirty="0"/>
          </a:p>
        </p:txBody>
      </p:sp>
      <p:sp>
        <p:nvSpPr>
          <p:cNvPr id="11" name="Text 9"/>
          <p:cNvSpPr/>
          <p:nvPr/>
        </p:nvSpPr>
        <p:spPr>
          <a:xfrm>
            <a:off x="1524000" y="7620000"/>
            <a:ext cx="2870200" cy="889000"/>
          </a:xfrm>
          <a:prstGeom prst="rect">
            <a:avLst/>
          </a:prstGeom>
          <a:noFill/>
          <a:ln/>
        </p:spPr>
        <p:txBody>
          <a:bodyPr wrap="square" lIns="0" tIns="0" rIns="0" bIns="0" rtlCol="0" anchor="ctr"/>
          <a:lstStyle/>
          <a:p>
            <a:pPr algn="ctr">
              <a:lnSpc>
                <a:spcPct val="130000"/>
              </a:lnSpc>
            </a:pPr>
            <a:r>
              <a:rPr lang="en-US" sz="2000" b="1" dirty="0">
                <a:solidFill>
                  <a:srgbClr val="E8DCC8"/>
                </a:solidFill>
                <a:latin typeface="Quattrocento Sans" pitchFamily="34" charset="0"/>
                <a:ea typeface="Quattrocento Sans" pitchFamily="34" charset="-122"/>
                <a:cs typeface="Quattrocento Sans" pitchFamily="34" charset="-120"/>
              </a:rPr>
              <a:t>Frame Extraction</a:t>
            </a:r>
            <a:endParaRPr lang="en-US" sz="2000" dirty="0"/>
          </a:p>
        </p:txBody>
      </p:sp>
      <p:sp>
        <p:nvSpPr>
          <p:cNvPr id="12" name="Text 10"/>
          <p:cNvSpPr/>
          <p:nvPr/>
        </p:nvSpPr>
        <p:spPr>
          <a:xfrm>
            <a:off x="1524000" y="8636000"/>
            <a:ext cx="2870200" cy="457200"/>
          </a:xfrm>
          <a:prstGeom prst="rect">
            <a:avLst/>
          </a:prstGeom>
          <a:noFill/>
          <a:ln/>
        </p:spPr>
        <p:txBody>
          <a:bodyPr wrap="none" lIns="0" tIns="0" rIns="0" bIns="0" rtlCol="0" anchor="ctr"/>
          <a:lstStyle/>
          <a:p>
            <a:pPr algn="ctr">
              <a:lnSpc>
                <a:spcPct val="120000"/>
              </a:lnSpc>
            </a:pPr>
            <a:r>
              <a:rPr lang="en-US" sz="2800" dirty="0">
                <a:solidFill>
                  <a:srgbClr val="CD7F32"/>
                </a:solidFill>
                <a:latin typeface="Cinzel" pitchFamily="34" charset="0"/>
                <a:ea typeface="Cinzel" pitchFamily="34" charset="-122"/>
                <a:cs typeface="Cinzel" pitchFamily="34" charset="-120"/>
              </a:rPr>
              <a:t>✓</a:t>
            </a:r>
            <a:endParaRPr lang="en-US" sz="2800" dirty="0"/>
          </a:p>
        </p:txBody>
      </p:sp>
      <p:sp>
        <p:nvSpPr>
          <p:cNvPr id="13" name="Shape 11"/>
          <p:cNvSpPr/>
          <p:nvPr/>
        </p:nvSpPr>
        <p:spPr>
          <a:xfrm>
            <a:off x="5499100" y="6159500"/>
            <a:ext cx="381000" cy="381000"/>
          </a:xfrm>
          <a:prstGeom prst="ellipse">
            <a:avLst/>
          </a:prstGeom>
          <a:solidFill>
            <a:srgbClr val="CD7F32"/>
          </a:solidFill>
          <a:ln/>
        </p:spPr>
      </p:sp>
      <p:sp>
        <p:nvSpPr>
          <p:cNvPr id="14" name="Shape 12"/>
          <p:cNvSpPr/>
          <p:nvPr/>
        </p:nvSpPr>
        <p:spPr>
          <a:xfrm>
            <a:off x="4864100" y="6985000"/>
            <a:ext cx="3175000" cy="4826000"/>
          </a:xfrm>
          <a:prstGeom prst="rect">
            <a:avLst/>
          </a:prstGeom>
          <a:solidFill>
            <a:srgbClr val="1A1212"/>
          </a:solidFill>
          <a:ln w="12700">
            <a:solidFill>
              <a:srgbClr val="3D2A2A"/>
            </a:solidFill>
            <a:prstDash val="solid"/>
          </a:ln>
        </p:spPr>
      </p:sp>
      <p:sp>
        <p:nvSpPr>
          <p:cNvPr id="15" name="Text 13"/>
          <p:cNvSpPr/>
          <p:nvPr/>
        </p:nvSpPr>
        <p:spPr>
          <a:xfrm>
            <a:off x="4864100" y="7112000"/>
            <a:ext cx="3175000" cy="457200"/>
          </a:xfrm>
          <a:prstGeom prst="rect">
            <a:avLst/>
          </a:prstGeom>
          <a:noFill/>
          <a:ln/>
        </p:spPr>
        <p:txBody>
          <a:bodyPr wrap="none" lIns="0" tIns="0" rIns="0" bIns="0" rtlCol="0" anchor="ctr"/>
          <a:lstStyle/>
          <a:p>
            <a:pPr algn="ctr">
              <a:lnSpc>
                <a:spcPct val="120000"/>
              </a:lnSpc>
            </a:pPr>
            <a:r>
              <a:rPr lang="en-US" sz="1800" dirty="0">
                <a:solidFill>
                  <a:srgbClr val="CD7F32"/>
                </a:solidFill>
                <a:latin typeface="Cinzel" pitchFamily="34" charset="0"/>
                <a:ea typeface="Cinzel" pitchFamily="34" charset="-122"/>
                <a:cs typeface="Cinzel" pitchFamily="34" charset="-120"/>
              </a:rPr>
              <a:t>STAGE 2</a:t>
            </a:r>
            <a:endParaRPr lang="en-US" sz="1800" dirty="0"/>
          </a:p>
        </p:txBody>
      </p:sp>
      <p:sp>
        <p:nvSpPr>
          <p:cNvPr id="16" name="Text 14"/>
          <p:cNvSpPr/>
          <p:nvPr/>
        </p:nvSpPr>
        <p:spPr>
          <a:xfrm>
            <a:off x="5016500" y="7620000"/>
            <a:ext cx="2870200" cy="889000"/>
          </a:xfrm>
          <a:prstGeom prst="rect">
            <a:avLst/>
          </a:prstGeom>
          <a:noFill/>
          <a:ln/>
        </p:spPr>
        <p:txBody>
          <a:bodyPr wrap="square" lIns="0" tIns="0" rIns="0" bIns="0" rtlCol="0" anchor="ctr"/>
          <a:lstStyle/>
          <a:p>
            <a:pPr algn="ctr">
              <a:lnSpc>
                <a:spcPct val="130000"/>
              </a:lnSpc>
            </a:pPr>
            <a:r>
              <a:rPr lang="en-US" sz="2000" b="1" dirty="0">
                <a:solidFill>
                  <a:srgbClr val="E8DCC8"/>
                </a:solidFill>
                <a:latin typeface="Quattrocento Sans" pitchFamily="34" charset="0"/>
                <a:ea typeface="Quattrocento Sans" pitchFamily="34" charset="-122"/>
                <a:cs typeface="Quattrocento Sans" pitchFamily="34" charset="-120"/>
              </a:rPr>
              <a:t>Dataset Manifest</a:t>
            </a:r>
            <a:endParaRPr lang="en-US" sz="2000" dirty="0"/>
          </a:p>
        </p:txBody>
      </p:sp>
      <p:sp>
        <p:nvSpPr>
          <p:cNvPr id="17" name="Text 15"/>
          <p:cNvSpPr/>
          <p:nvPr/>
        </p:nvSpPr>
        <p:spPr>
          <a:xfrm>
            <a:off x="5016500" y="8636000"/>
            <a:ext cx="2870200" cy="457200"/>
          </a:xfrm>
          <a:prstGeom prst="rect">
            <a:avLst/>
          </a:prstGeom>
          <a:noFill/>
          <a:ln/>
        </p:spPr>
        <p:txBody>
          <a:bodyPr wrap="none" lIns="0" tIns="0" rIns="0" bIns="0" rtlCol="0" anchor="ctr"/>
          <a:lstStyle/>
          <a:p>
            <a:pPr algn="ctr">
              <a:lnSpc>
                <a:spcPct val="120000"/>
              </a:lnSpc>
            </a:pPr>
            <a:r>
              <a:rPr lang="en-US" sz="2800" dirty="0">
                <a:solidFill>
                  <a:srgbClr val="CD7F32"/>
                </a:solidFill>
                <a:latin typeface="Cinzel" pitchFamily="34" charset="0"/>
                <a:ea typeface="Cinzel" pitchFamily="34" charset="-122"/>
                <a:cs typeface="Cinzel" pitchFamily="34" charset="-120"/>
              </a:rPr>
              <a:t>✓</a:t>
            </a:r>
            <a:endParaRPr lang="en-US" sz="2800" dirty="0"/>
          </a:p>
        </p:txBody>
      </p:sp>
      <p:sp>
        <p:nvSpPr>
          <p:cNvPr id="18" name="Shape 16"/>
          <p:cNvSpPr/>
          <p:nvPr/>
        </p:nvSpPr>
        <p:spPr>
          <a:xfrm>
            <a:off x="8991600" y="6159500"/>
            <a:ext cx="381000" cy="381000"/>
          </a:xfrm>
          <a:prstGeom prst="ellipse">
            <a:avLst/>
          </a:prstGeom>
          <a:solidFill>
            <a:srgbClr val="C81E1E"/>
          </a:solidFill>
          <a:ln/>
        </p:spPr>
      </p:sp>
      <p:sp>
        <p:nvSpPr>
          <p:cNvPr id="19" name="Shape 17"/>
          <p:cNvSpPr/>
          <p:nvPr/>
        </p:nvSpPr>
        <p:spPr>
          <a:xfrm>
            <a:off x="8356600" y="6985000"/>
            <a:ext cx="3175000" cy="4826000"/>
          </a:xfrm>
          <a:prstGeom prst="rect">
            <a:avLst/>
          </a:prstGeom>
          <a:solidFill>
            <a:srgbClr val="1A1212"/>
          </a:solidFill>
          <a:ln w="12700">
            <a:solidFill>
              <a:srgbClr val="3D2A2A"/>
            </a:solidFill>
            <a:prstDash val="solid"/>
          </a:ln>
        </p:spPr>
      </p:sp>
      <p:sp>
        <p:nvSpPr>
          <p:cNvPr id="20" name="Text 18"/>
          <p:cNvSpPr/>
          <p:nvPr/>
        </p:nvSpPr>
        <p:spPr>
          <a:xfrm>
            <a:off x="8356600" y="7112000"/>
            <a:ext cx="3175000" cy="457200"/>
          </a:xfrm>
          <a:prstGeom prst="rect">
            <a:avLst/>
          </a:prstGeom>
          <a:noFill/>
          <a:ln/>
        </p:spPr>
        <p:txBody>
          <a:bodyPr wrap="none" lIns="0" tIns="0" rIns="0" bIns="0" rtlCol="0" anchor="ctr"/>
          <a:lstStyle/>
          <a:p>
            <a:pPr algn="ctr">
              <a:lnSpc>
                <a:spcPct val="120000"/>
              </a:lnSpc>
            </a:pPr>
            <a:r>
              <a:rPr lang="en-US" sz="1800" dirty="0">
                <a:solidFill>
                  <a:srgbClr val="C81E1E"/>
                </a:solidFill>
                <a:latin typeface="Cinzel" pitchFamily="34" charset="0"/>
                <a:ea typeface="Cinzel" pitchFamily="34" charset="-122"/>
                <a:cs typeface="Cinzel" pitchFamily="34" charset="-120"/>
              </a:rPr>
              <a:t>STAGE 3</a:t>
            </a:r>
            <a:endParaRPr lang="en-US" sz="1800" dirty="0"/>
          </a:p>
        </p:txBody>
      </p:sp>
      <p:sp>
        <p:nvSpPr>
          <p:cNvPr id="21" name="Text 19"/>
          <p:cNvSpPr/>
          <p:nvPr/>
        </p:nvSpPr>
        <p:spPr>
          <a:xfrm>
            <a:off x="8509000" y="7620000"/>
            <a:ext cx="2870200" cy="889000"/>
          </a:xfrm>
          <a:prstGeom prst="rect">
            <a:avLst/>
          </a:prstGeom>
          <a:noFill/>
          <a:ln/>
        </p:spPr>
        <p:txBody>
          <a:bodyPr wrap="square" lIns="0" tIns="0" rIns="0" bIns="0" rtlCol="0" anchor="ctr"/>
          <a:lstStyle/>
          <a:p>
            <a:pPr algn="ctr">
              <a:lnSpc>
                <a:spcPct val="130000"/>
              </a:lnSpc>
            </a:pPr>
            <a:r>
              <a:rPr lang="en-US" sz="2000" b="1" dirty="0">
                <a:solidFill>
                  <a:srgbClr val="E8DCC8"/>
                </a:solidFill>
                <a:latin typeface="Quattrocento Sans" pitchFamily="34" charset="0"/>
                <a:ea typeface="Quattrocento Sans" pitchFamily="34" charset="-122"/>
                <a:cs typeface="Quattrocento Sans" pitchFamily="34" charset="-120"/>
              </a:rPr>
              <a:t>AI Captioning</a:t>
            </a:r>
            <a:endParaRPr lang="en-US" sz="2000" dirty="0"/>
          </a:p>
        </p:txBody>
      </p:sp>
      <p:sp>
        <p:nvSpPr>
          <p:cNvPr id="22" name="Text 20"/>
          <p:cNvSpPr/>
          <p:nvPr/>
        </p:nvSpPr>
        <p:spPr>
          <a:xfrm>
            <a:off x="8509000" y="8636000"/>
            <a:ext cx="2870200" cy="457200"/>
          </a:xfrm>
          <a:prstGeom prst="rect">
            <a:avLst/>
          </a:prstGeom>
          <a:noFill/>
          <a:ln/>
        </p:spPr>
        <p:txBody>
          <a:bodyPr wrap="none" lIns="0" tIns="0" rIns="0" bIns="0" rtlCol="0" anchor="ctr"/>
          <a:lstStyle/>
          <a:p>
            <a:pPr algn="ctr">
              <a:lnSpc>
                <a:spcPct val="120000"/>
              </a:lnSpc>
            </a:pPr>
            <a:r>
              <a:rPr lang="en-US" sz="1600" dirty="0">
                <a:solidFill>
                  <a:srgbClr val="6B5B4E"/>
                </a:solidFill>
                <a:latin typeface="Quattrocento Sans" pitchFamily="34" charset="0"/>
                <a:ea typeface="Quattrocento Sans" pitchFamily="34" charset="-122"/>
                <a:cs typeface="Quattrocento Sans" pitchFamily="34" charset="-120"/>
              </a:rPr>
              <a:t>IN DEV</a:t>
            </a:r>
            <a:endParaRPr lang="en-US" sz="1600" dirty="0"/>
          </a:p>
        </p:txBody>
      </p:sp>
      <p:sp>
        <p:nvSpPr>
          <p:cNvPr id="23" name="Shape 21"/>
          <p:cNvSpPr/>
          <p:nvPr/>
        </p:nvSpPr>
        <p:spPr>
          <a:xfrm>
            <a:off x="12484100" y="6159500"/>
            <a:ext cx="381000" cy="381000"/>
          </a:xfrm>
          <a:prstGeom prst="ellipse">
            <a:avLst/>
          </a:prstGeom>
          <a:solidFill>
            <a:srgbClr val="6B5B4E"/>
          </a:solidFill>
          <a:ln/>
        </p:spPr>
      </p:sp>
      <p:sp>
        <p:nvSpPr>
          <p:cNvPr id="24" name="Shape 22"/>
          <p:cNvSpPr/>
          <p:nvPr/>
        </p:nvSpPr>
        <p:spPr>
          <a:xfrm>
            <a:off x="11849100" y="6985000"/>
            <a:ext cx="3175000" cy="4826000"/>
          </a:xfrm>
          <a:prstGeom prst="rect">
            <a:avLst/>
          </a:prstGeom>
          <a:solidFill>
            <a:srgbClr val="1A1212"/>
          </a:solidFill>
          <a:ln w="12700">
            <a:solidFill>
              <a:srgbClr val="3D2A2A"/>
            </a:solidFill>
            <a:prstDash val="solid"/>
          </a:ln>
        </p:spPr>
      </p:sp>
      <p:sp>
        <p:nvSpPr>
          <p:cNvPr id="25" name="Text 23"/>
          <p:cNvSpPr/>
          <p:nvPr/>
        </p:nvSpPr>
        <p:spPr>
          <a:xfrm>
            <a:off x="11849100" y="7112000"/>
            <a:ext cx="3175000" cy="457200"/>
          </a:xfrm>
          <a:prstGeom prst="rect">
            <a:avLst/>
          </a:prstGeom>
          <a:noFill/>
          <a:ln/>
        </p:spPr>
        <p:txBody>
          <a:bodyPr wrap="none" lIns="0" tIns="0" rIns="0" bIns="0" rtlCol="0" anchor="ctr"/>
          <a:lstStyle/>
          <a:p>
            <a:pPr algn="ctr">
              <a:lnSpc>
                <a:spcPct val="120000"/>
              </a:lnSpc>
            </a:pPr>
            <a:r>
              <a:rPr lang="en-US" sz="1800" dirty="0">
                <a:solidFill>
                  <a:srgbClr val="6B5B4E"/>
                </a:solidFill>
                <a:latin typeface="Cinzel" pitchFamily="34" charset="0"/>
                <a:ea typeface="Cinzel" pitchFamily="34" charset="-122"/>
                <a:cs typeface="Cinzel" pitchFamily="34" charset="-120"/>
              </a:rPr>
              <a:t>STAGE 4</a:t>
            </a:r>
            <a:endParaRPr lang="en-US" sz="1800" dirty="0"/>
          </a:p>
        </p:txBody>
      </p:sp>
      <p:sp>
        <p:nvSpPr>
          <p:cNvPr id="26" name="Text 24"/>
          <p:cNvSpPr/>
          <p:nvPr/>
        </p:nvSpPr>
        <p:spPr>
          <a:xfrm>
            <a:off x="12001500" y="7620000"/>
            <a:ext cx="2870200" cy="889000"/>
          </a:xfrm>
          <a:prstGeom prst="rect">
            <a:avLst/>
          </a:prstGeom>
          <a:noFill/>
          <a:ln/>
        </p:spPr>
        <p:txBody>
          <a:bodyPr wrap="square" lIns="0" tIns="0" rIns="0" bIns="0" rtlCol="0" anchor="ctr"/>
          <a:lstStyle/>
          <a:p>
            <a:pPr algn="ctr">
              <a:lnSpc>
                <a:spcPct val="130000"/>
              </a:lnSpc>
            </a:pPr>
            <a:r>
              <a:rPr lang="en-US" sz="2000" b="1" dirty="0">
                <a:solidFill>
                  <a:srgbClr val="E8DCC8"/>
                </a:solidFill>
                <a:latin typeface="Quattrocento Sans" pitchFamily="34" charset="0"/>
                <a:ea typeface="Quattrocento Sans" pitchFamily="34" charset="-122"/>
                <a:cs typeface="Quattrocento Sans" pitchFamily="34" charset="-120"/>
              </a:rPr>
              <a:t>Object Detection</a:t>
            </a:r>
            <a:endParaRPr lang="en-US" sz="2000" dirty="0"/>
          </a:p>
        </p:txBody>
      </p:sp>
      <p:sp>
        <p:nvSpPr>
          <p:cNvPr id="27" name="Text 25"/>
          <p:cNvSpPr/>
          <p:nvPr/>
        </p:nvSpPr>
        <p:spPr>
          <a:xfrm>
            <a:off x="12001500" y="8636000"/>
            <a:ext cx="2870200" cy="457200"/>
          </a:xfrm>
          <a:prstGeom prst="rect">
            <a:avLst/>
          </a:prstGeom>
          <a:noFill/>
          <a:ln/>
        </p:spPr>
        <p:txBody>
          <a:bodyPr wrap="none" lIns="0" tIns="0" rIns="0" bIns="0" rtlCol="0" anchor="ctr"/>
          <a:lstStyle/>
          <a:p>
            <a:pPr algn="ctr">
              <a:lnSpc>
                <a:spcPct val="120000"/>
              </a:lnSpc>
            </a:pPr>
            <a:r>
              <a:rPr lang="en-US" sz="1600" dirty="0">
                <a:solidFill>
                  <a:srgbClr val="6B5B4E"/>
                </a:solidFill>
                <a:latin typeface="Quattrocento Sans" pitchFamily="34" charset="0"/>
                <a:ea typeface="Quattrocento Sans" pitchFamily="34" charset="-122"/>
                <a:cs typeface="Quattrocento Sans" pitchFamily="34" charset="-120"/>
              </a:rPr>
              <a:t>PLANNED</a:t>
            </a:r>
            <a:endParaRPr lang="en-US" sz="1600" dirty="0"/>
          </a:p>
        </p:txBody>
      </p:sp>
      <p:sp>
        <p:nvSpPr>
          <p:cNvPr id="28" name="Shape 26"/>
          <p:cNvSpPr/>
          <p:nvPr/>
        </p:nvSpPr>
        <p:spPr>
          <a:xfrm>
            <a:off x="15976600" y="6159500"/>
            <a:ext cx="381000" cy="381000"/>
          </a:xfrm>
          <a:prstGeom prst="ellipse">
            <a:avLst/>
          </a:prstGeom>
          <a:solidFill>
            <a:srgbClr val="6B5B4E"/>
          </a:solidFill>
          <a:ln/>
        </p:spPr>
      </p:sp>
      <p:sp>
        <p:nvSpPr>
          <p:cNvPr id="29" name="Shape 27"/>
          <p:cNvSpPr/>
          <p:nvPr/>
        </p:nvSpPr>
        <p:spPr>
          <a:xfrm>
            <a:off x="15341600" y="6985000"/>
            <a:ext cx="3175000" cy="4826000"/>
          </a:xfrm>
          <a:prstGeom prst="rect">
            <a:avLst/>
          </a:prstGeom>
          <a:solidFill>
            <a:srgbClr val="1A1212"/>
          </a:solidFill>
          <a:ln w="12700">
            <a:solidFill>
              <a:srgbClr val="3D2A2A"/>
            </a:solidFill>
            <a:prstDash val="solid"/>
          </a:ln>
        </p:spPr>
      </p:sp>
      <p:sp>
        <p:nvSpPr>
          <p:cNvPr id="30" name="Text 28"/>
          <p:cNvSpPr/>
          <p:nvPr/>
        </p:nvSpPr>
        <p:spPr>
          <a:xfrm>
            <a:off x="15341600" y="7112000"/>
            <a:ext cx="3175000" cy="457200"/>
          </a:xfrm>
          <a:prstGeom prst="rect">
            <a:avLst/>
          </a:prstGeom>
          <a:noFill/>
          <a:ln/>
        </p:spPr>
        <p:txBody>
          <a:bodyPr wrap="none" lIns="0" tIns="0" rIns="0" bIns="0" rtlCol="0" anchor="ctr"/>
          <a:lstStyle/>
          <a:p>
            <a:pPr algn="ctr">
              <a:lnSpc>
                <a:spcPct val="120000"/>
              </a:lnSpc>
            </a:pPr>
            <a:r>
              <a:rPr lang="en-US" sz="1800" dirty="0">
                <a:solidFill>
                  <a:srgbClr val="6B5B4E"/>
                </a:solidFill>
                <a:latin typeface="Cinzel" pitchFamily="34" charset="0"/>
                <a:ea typeface="Cinzel" pitchFamily="34" charset="-122"/>
                <a:cs typeface="Cinzel" pitchFamily="34" charset="-120"/>
              </a:rPr>
              <a:t>STAGE 5</a:t>
            </a:r>
            <a:endParaRPr lang="en-US" sz="1800" dirty="0"/>
          </a:p>
        </p:txBody>
      </p:sp>
      <p:sp>
        <p:nvSpPr>
          <p:cNvPr id="31" name="Text 29"/>
          <p:cNvSpPr/>
          <p:nvPr/>
        </p:nvSpPr>
        <p:spPr>
          <a:xfrm>
            <a:off x="15494000" y="7620000"/>
            <a:ext cx="2870200" cy="889000"/>
          </a:xfrm>
          <a:prstGeom prst="rect">
            <a:avLst/>
          </a:prstGeom>
          <a:noFill/>
          <a:ln/>
        </p:spPr>
        <p:txBody>
          <a:bodyPr wrap="square" lIns="0" tIns="0" rIns="0" bIns="0" rtlCol="0" anchor="ctr"/>
          <a:lstStyle/>
          <a:p>
            <a:pPr algn="ctr">
              <a:lnSpc>
                <a:spcPct val="130000"/>
              </a:lnSpc>
            </a:pPr>
            <a:r>
              <a:rPr lang="en-US" sz="2000" b="1" dirty="0">
                <a:solidFill>
                  <a:srgbClr val="E8DCC8"/>
                </a:solidFill>
                <a:latin typeface="Quattrocento Sans" pitchFamily="34" charset="0"/>
                <a:ea typeface="Quattrocento Sans" pitchFamily="34" charset="-122"/>
                <a:cs typeface="Quattrocento Sans" pitchFamily="34" charset="-120"/>
              </a:rPr>
              <a:t>Auto Annotation</a:t>
            </a:r>
            <a:endParaRPr lang="en-US" sz="2000" dirty="0"/>
          </a:p>
        </p:txBody>
      </p:sp>
      <p:sp>
        <p:nvSpPr>
          <p:cNvPr id="32" name="Text 30"/>
          <p:cNvSpPr/>
          <p:nvPr/>
        </p:nvSpPr>
        <p:spPr>
          <a:xfrm>
            <a:off x="15494000" y="8636000"/>
            <a:ext cx="2870200" cy="457200"/>
          </a:xfrm>
          <a:prstGeom prst="rect">
            <a:avLst/>
          </a:prstGeom>
          <a:noFill/>
          <a:ln/>
        </p:spPr>
        <p:txBody>
          <a:bodyPr wrap="none" lIns="0" tIns="0" rIns="0" bIns="0" rtlCol="0" anchor="ctr"/>
          <a:lstStyle/>
          <a:p>
            <a:pPr algn="ctr">
              <a:lnSpc>
                <a:spcPct val="120000"/>
              </a:lnSpc>
            </a:pPr>
            <a:r>
              <a:rPr lang="en-US" sz="1600" dirty="0">
                <a:solidFill>
                  <a:srgbClr val="6B5B4E"/>
                </a:solidFill>
                <a:latin typeface="Quattrocento Sans" pitchFamily="34" charset="0"/>
                <a:ea typeface="Quattrocento Sans" pitchFamily="34" charset="-122"/>
                <a:cs typeface="Quattrocento Sans" pitchFamily="34" charset="-120"/>
              </a:rPr>
              <a:t>PLANNED</a:t>
            </a:r>
            <a:endParaRPr lang="en-US" sz="1600" dirty="0"/>
          </a:p>
        </p:txBody>
      </p:sp>
      <p:sp>
        <p:nvSpPr>
          <p:cNvPr id="33" name="Shape 31"/>
          <p:cNvSpPr/>
          <p:nvPr/>
        </p:nvSpPr>
        <p:spPr>
          <a:xfrm>
            <a:off x="19469100" y="6159500"/>
            <a:ext cx="381000" cy="381000"/>
          </a:xfrm>
          <a:prstGeom prst="ellipse">
            <a:avLst/>
          </a:prstGeom>
          <a:solidFill>
            <a:srgbClr val="6B5B4E"/>
          </a:solidFill>
          <a:ln/>
        </p:spPr>
      </p:sp>
      <p:sp>
        <p:nvSpPr>
          <p:cNvPr id="34" name="Shape 32"/>
          <p:cNvSpPr/>
          <p:nvPr/>
        </p:nvSpPr>
        <p:spPr>
          <a:xfrm>
            <a:off x="18834100" y="6985000"/>
            <a:ext cx="4178300" cy="4826000"/>
          </a:xfrm>
          <a:prstGeom prst="rect">
            <a:avLst/>
          </a:prstGeom>
          <a:solidFill>
            <a:srgbClr val="1A1212"/>
          </a:solidFill>
          <a:ln w="12700">
            <a:solidFill>
              <a:srgbClr val="3D2A2A"/>
            </a:solidFill>
            <a:prstDash val="solid"/>
          </a:ln>
        </p:spPr>
      </p:sp>
      <p:sp>
        <p:nvSpPr>
          <p:cNvPr id="35" name="Text 33"/>
          <p:cNvSpPr/>
          <p:nvPr/>
        </p:nvSpPr>
        <p:spPr>
          <a:xfrm>
            <a:off x="18834100" y="7112000"/>
            <a:ext cx="4178300" cy="457200"/>
          </a:xfrm>
          <a:prstGeom prst="rect">
            <a:avLst/>
          </a:prstGeom>
          <a:noFill/>
          <a:ln/>
        </p:spPr>
        <p:txBody>
          <a:bodyPr wrap="none" lIns="0" tIns="0" rIns="0" bIns="0" rtlCol="0" anchor="ctr"/>
          <a:lstStyle/>
          <a:p>
            <a:pPr algn="ctr">
              <a:lnSpc>
                <a:spcPct val="120000"/>
              </a:lnSpc>
            </a:pPr>
            <a:r>
              <a:rPr lang="en-US" sz="1800" dirty="0">
                <a:solidFill>
                  <a:srgbClr val="6B5B4E"/>
                </a:solidFill>
                <a:latin typeface="Cinzel" pitchFamily="34" charset="0"/>
                <a:ea typeface="Cinzel" pitchFamily="34" charset="-122"/>
                <a:cs typeface="Cinzel" pitchFamily="34" charset="-120"/>
              </a:rPr>
              <a:t>STAGE 6</a:t>
            </a:r>
            <a:endParaRPr lang="en-US" sz="1800" dirty="0"/>
          </a:p>
        </p:txBody>
      </p:sp>
      <p:sp>
        <p:nvSpPr>
          <p:cNvPr id="36" name="Text 34"/>
          <p:cNvSpPr/>
          <p:nvPr/>
        </p:nvSpPr>
        <p:spPr>
          <a:xfrm>
            <a:off x="18986500" y="7620000"/>
            <a:ext cx="3873500" cy="889000"/>
          </a:xfrm>
          <a:prstGeom prst="rect">
            <a:avLst/>
          </a:prstGeom>
          <a:noFill/>
          <a:ln/>
        </p:spPr>
        <p:txBody>
          <a:bodyPr wrap="square" lIns="0" tIns="0" rIns="0" bIns="0" rtlCol="0" anchor="ctr"/>
          <a:lstStyle/>
          <a:p>
            <a:pPr algn="ctr">
              <a:lnSpc>
                <a:spcPct val="130000"/>
              </a:lnSpc>
            </a:pPr>
            <a:r>
              <a:rPr lang="en-US" sz="2000" b="1" dirty="0">
                <a:solidFill>
                  <a:srgbClr val="E8DCC8"/>
                </a:solidFill>
                <a:latin typeface="Quattrocento Sans" pitchFamily="34" charset="0"/>
                <a:ea typeface="Quattrocento Sans" pitchFamily="34" charset="-122"/>
                <a:cs typeface="Quattrocento Sans" pitchFamily="34" charset="-120"/>
              </a:rPr>
              <a:t>Training-Ready Export</a:t>
            </a:r>
            <a:endParaRPr lang="en-US" sz="2000" dirty="0"/>
          </a:p>
        </p:txBody>
      </p:sp>
      <p:sp>
        <p:nvSpPr>
          <p:cNvPr id="37" name="Text 35"/>
          <p:cNvSpPr/>
          <p:nvPr/>
        </p:nvSpPr>
        <p:spPr>
          <a:xfrm>
            <a:off x="18986500" y="8636000"/>
            <a:ext cx="3873500" cy="457200"/>
          </a:xfrm>
          <a:prstGeom prst="rect">
            <a:avLst/>
          </a:prstGeom>
          <a:noFill/>
          <a:ln/>
        </p:spPr>
        <p:txBody>
          <a:bodyPr wrap="none" lIns="0" tIns="0" rIns="0" bIns="0" rtlCol="0" anchor="ctr"/>
          <a:lstStyle/>
          <a:p>
            <a:pPr algn="ctr">
              <a:lnSpc>
                <a:spcPct val="120000"/>
              </a:lnSpc>
            </a:pPr>
            <a:r>
              <a:rPr lang="en-US" sz="1600" dirty="0">
                <a:solidFill>
                  <a:srgbClr val="6B5B4E"/>
                </a:solidFill>
                <a:latin typeface="Quattrocento Sans" pitchFamily="34" charset="0"/>
                <a:ea typeface="Quattrocento Sans" pitchFamily="34" charset="-122"/>
                <a:cs typeface="Quattrocento Sans" pitchFamily="34" charset="-120"/>
              </a:rPr>
              <a:t>VISION</a:t>
            </a:r>
            <a:endParaRPr lang="en-US" sz="1600" dirty="0"/>
          </a:p>
        </p:txBody>
      </p:sp>
      <p:sp>
        <p:nvSpPr>
          <p:cNvPr id="38" name="Shape 36"/>
          <p:cNvSpPr/>
          <p:nvPr/>
        </p:nvSpPr>
        <p:spPr>
          <a:xfrm>
            <a:off x="1371600" y="5080000"/>
            <a:ext cx="21640800" cy="889000"/>
          </a:xfrm>
          <a:prstGeom prst="rect">
            <a:avLst/>
          </a:prstGeom>
          <a:solidFill>
            <a:srgbClr val="C81E1E"/>
          </a:solidFill>
          <a:ln/>
        </p:spPr>
      </p:sp>
      <p:sp>
        <p:nvSpPr>
          <p:cNvPr id="39" name="Text 37"/>
          <p:cNvSpPr/>
          <p:nvPr/>
        </p:nvSpPr>
        <p:spPr>
          <a:xfrm>
            <a:off x="1371600" y="5080000"/>
            <a:ext cx="21640800" cy="889000"/>
          </a:xfrm>
          <a:prstGeom prst="rect">
            <a:avLst/>
          </a:prstGeom>
          <a:noFill/>
          <a:ln/>
        </p:spPr>
        <p:txBody>
          <a:bodyPr wrap="none" lIns="0" tIns="0" rIns="0" bIns="0" rtlCol="0" anchor="ctr"/>
          <a:lstStyle/>
          <a:p>
            <a:pPr algn="ctr">
              <a:lnSpc>
                <a:spcPct val="120000"/>
              </a:lnSpc>
            </a:pPr>
            <a:r>
              <a:rPr lang="en-US" sz="2400" spc="300" kern="0" dirty="0">
                <a:solidFill>
                  <a:srgbClr val="E8DCC8"/>
                </a:solidFill>
                <a:latin typeface="Cinzel" pitchFamily="34" charset="0"/>
                <a:ea typeface="Cinzel" pitchFamily="34" charset="-122"/>
                <a:cs typeface="Cinzel" pitchFamily="34" charset="-120"/>
              </a:rPr>
              <a:t>FROM DATASET ENGINE  →  TO DATASET INTELLIGENCE PLATFORM</a:t>
            </a:r>
            <a:endParaRPr lang="en-US" sz="24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ttps://kimi-img.moonshot.cn/pub/slides/okc/umgowkb3kwa62/mnt/agents/output/raktabeej/images/2_Crimson_Universe_Stock_Photos_Images.png">    </p:cNvPr>
          <p:cNvPicPr>
            <a:picLocks noChangeAspect="1"/>
          </p:cNvPicPr>
          <p:nvPr/>
        </p:nvPicPr>
        <p:blipFill>
          <a:blip r:embed="rId1"/>
          <a:srcRect l="0" r="0" t="741" b="741"/>
          <a:stretch/>
        </p:blipFill>
        <p:spPr>
          <a:xfrm>
            <a:off x="0" y="0"/>
            <a:ext cx="24384000" cy="13716000"/>
          </a:xfrm>
          <a:prstGeom prst="rect">
            <a:avLst/>
          </a:prstGeom>
        </p:spPr>
      </p:pic>
      <p:sp>
        <p:nvSpPr>
          <p:cNvPr id="3" name="Shape 0"/>
          <p:cNvSpPr/>
          <p:nvPr/>
        </p:nvSpPr>
        <p:spPr>
          <a:xfrm>
            <a:off x="0" y="0"/>
            <a:ext cx="24384000" cy="13716000"/>
          </a:xfrm>
          <a:prstGeom prst="rect">
            <a:avLst/>
          </a:prstGeom>
          <a:gradFill rotWithShape="1" flip="none">
            <a:gsLst>
              <a:gs pos="0">
                <a:srgbClr val="0D0D0D">
                  <a:alpha val="80000"/>
                </a:srgbClr>
              </a:gs>
              <a:gs pos="100000">
                <a:srgbClr val="0D0D0D">
                  <a:alpha val="93000"/>
                </a:srgbClr>
              </a:gs>
            </a:gsLst>
            <a:path path="circle"/>
          </a:gradFill>
          <a:ln w="12700">
            <a:solidFill>
              <a:srgbClr val="FFFFFF">
                <a:alpha val="0"/>
              </a:srgbClr>
            </a:solidFill>
            <a:prstDash val="solid"/>
          </a:ln>
        </p:spPr>
      </p:sp>
      <p:sp>
        <p:nvSpPr>
          <p:cNvPr id="4" name="Shape 1"/>
          <p:cNvSpPr/>
          <p:nvPr/>
        </p:nvSpPr>
        <p:spPr>
          <a:xfrm>
            <a:off x="1371600" y="1384300"/>
            <a:ext cx="21640800" cy="0"/>
          </a:xfrm>
          <a:prstGeom prst="straightConnector1">
            <a:avLst/>
          </a:prstGeom>
          <a:noFill/>
          <a:ln w="9525">
            <a:solidFill>
              <a:srgbClr val="CD7F32"/>
            </a:solidFill>
            <a:prstDash val="solid"/>
            <a:headEnd type="none"/>
            <a:tailEnd type="none"/>
          </a:ln>
        </p:spPr>
      </p:sp>
      <p:sp>
        <p:nvSpPr>
          <p:cNvPr id="5" name="Shape 2"/>
          <p:cNvSpPr/>
          <p:nvPr/>
        </p:nvSpPr>
        <p:spPr>
          <a:xfrm>
            <a:off x="1371600" y="12331700"/>
            <a:ext cx="21640800" cy="0"/>
          </a:xfrm>
          <a:prstGeom prst="straightConnector1">
            <a:avLst/>
          </a:prstGeom>
          <a:noFill/>
          <a:ln w="9525">
            <a:solidFill>
              <a:srgbClr val="CD7F32"/>
            </a:solidFill>
            <a:prstDash val="solid"/>
            <a:headEnd type="none"/>
            <a:tailEnd type="none"/>
          </a:ln>
        </p:spPr>
      </p:sp>
      <p:sp>
        <p:nvSpPr>
          <p:cNvPr id="6" name="Shape 3"/>
          <p:cNvSpPr/>
          <p:nvPr/>
        </p:nvSpPr>
        <p:spPr>
          <a:xfrm>
            <a:off x="1371600" y="1752600"/>
            <a:ext cx="660400" cy="660400"/>
          </a:xfrm>
          <a:custGeom>
            <a:avLst/>
            <a:gdLst/>
            <a:ahLst/>
            <a:cxnLst/>
            <a:rect l="l" t="t" r="r" b="b"/>
            <a:pathLst>
              <a:path w="660400" h="660400">
                <a:moveTo>
                  <a:pt x="330200" y="0"/>
                </a:moveTo>
                <a:lnTo>
                  <a:pt x="660400" y="330200"/>
                </a:lnTo>
                <a:lnTo>
                  <a:pt x="330200" y="660400"/>
                </a:lnTo>
                <a:lnTo>
                  <a:pt x="0" y="330200"/>
                </a:lnTo>
                <a:close/>
              </a:path>
            </a:pathLst>
          </a:custGeom>
          <a:solidFill>
            <a:srgbClr val="CD7F32"/>
          </a:solidFill>
          <a:ln/>
        </p:spPr>
      </p:sp>
      <p:sp>
        <p:nvSpPr>
          <p:cNvPr id="7" name="Text 4"/>
          <p:cNvSpPr/>
          <p:nvPr/>
        </p:nvSpPr>
        <p:spPr>
          <a:xfrm>
            <a:off x="2184400" y="1752600"/>
            <a:ext cx="2540000" cy="660400"/>
          </a:xfrm>
          <a:prstGeom prst="rect">
            <a:avLst/>
          </a:prstGeom>
          <a:noFill/>
          <a:ln/>
        </p:spPr>
        <p:txBody>
          <a:bodyPr wrap="none" lIns="0" tIns="0" rIns="0" bIns="0" rtlCol="0" anchor="ctr"/>
          <a:lstStyle/>
          <a:p>
            <a:pPr algn="l">
              <a:lnSpc>
                <a:spcPct val="120000"/>
              </a:lnSpc>
            </a:pPr>
            <a:r>
              <a:rPr lang="en-US" sz="2400" spc="300" kern="0" dirty="0">
                <a:solidFill>
                  <a:srgbClr val="CD7F32"/>
                </a:solidFill>
                <a:latin typeface="Quattrocento Sans" pitchFamily="34" charset="0"/>
                <a:ea typeface="Quattrocento Sans" pitchFamily="34" charset="-122"/>
                <a:cs typeface="Quattrocento Sans" pitchFamily="34" charset="-120"/>
              </a:rPr>
              <a:t>RAKTABEEJ</a:t>
            </a:r>
            <a:endParaRPr lang="en-US" sz="2400" dirty="0"/>
          </a:p>
        </p:txBody>
      </p:sp>
      <p:sp>
        <p:nvSpPr>
          <p:cNvPr id="8" name="Text 5"/>
          <p:cNvSpPr/>
          <p:nvPr/>
        </p:nvSpPr>
        <p:spPr>
          <a:xfrm>
            <a:off x="1371600" y="3302000"/>
            <a:ext cx="21640800" cy="2286000"/>
          </a:xfrm>
          <a:prstGeom prst="rect">
            <a:avLst/>
          </a:prstGeom>
          <a:noFill/>
          <a:ln/>
        </p:spPr>
        <p:txBody>
          <a:bodyPr wrap="square" lIns="0" tIns="0" rIns="0" bIns="0" rtlCol="0" anchor="t"/>
          <a:lstStyle/>
          <a:p>
            <a:pPr algn="ctr">
              <a:lnSpc>
                <a:spcPct val="120000"/>
              </a:lnSpc>
            </a:pPr>
            <a:r>
              <a:rPr lang="en-US" sz="7200" dirty="0">
                <a:solidFill>
                  <a:srgbClr val="E8DCC8"/>
                </a:solidFill>
                <a:latin typeface="Cinzel" pitchFamily="34" charset="0"/>
                <a:ea typeface="Cinzel" pitchFamily="34" charset="-122"/>
                <a:cs typeface="Cinzel" pitchFamily="34" charset="-120"/>
              </a:rPr>
              <a:t>ONE SEED.</a:t>
            </a:r>
            <a:endParaRPr lang="en-US" sz="7200" dirty="0"/>
          </a:p>
          <a:p>
            <a:pPr algn="ctr">
              <a:lnSpc>
                <a:spcPct val="120000"/>
              </a:lnSpc>
            </a:pPr>
            <a:r>
              <a:rPr lang="en-US" sz="7200" dirty="0">
                <a:solidFill>
                  <a:srgbClr val="C81E1E"/>
                </a:solidFill>
                <a:latin typeface="Cinzel" pitchFamily="34" charset="0"/>
                <a:ea typeface="Cinzel" pitchFamily="34" charset="-122"/>
                <a:cs typeface="Cinzel" pitchFamily="34" charset="-120"/>
              </a:rPr>
              <a:t>COUNTLESS</a:t>
            </a:r>
            <a:pPr algn="ctr">
              <a:lnSpc>
                <a:spcPct val="120000"/>
              </a:lnSpc>
            </a:pPr>
            <a:r>
              <a:rPr lang="en-US" sz="7200" dirty="0">
                <a:solidFill>
                  <a:srgbClr val="E8DCC8"/>
                </a:solidFill>
                <a:latin typeface="Cinzel" pitchFamily="34" charset="0"/>
                <a:ea typeface="Cinzel" pitchFamily="34" charset="-122"/>
                <a:cs typeface="Cinzel" pitchFamily="34" charset="-120"/>
              </a:rPr>
              <a:t> DESCENDANTS.</a:t>
            </a:r>
            <a:endParaRPr lang="en-US" sz="7200" dirty="0"/>
          </a:p>
        </p:txBody>
      </p:sp>
      <p:sp>
        <p:nvSpPr>
          <p:cNvPr id="9" name="Shape 6"/>
          <p:cNvSpPr/>
          <p:nvPr/>
        </p:nvSpPr>
        <p:spPr>
          <a:xfrm>
            <a:off x="9652000" y="5842000"/>
            <a:ext cx="5080000" cy="0"/>
          </a:xfrm>
          <a:prstGeom prst="straightConnector1">
            <a:avLst/>
          </a:prstGeom>
          <a:noFill/>
          <a:ln w="25400">
            <a:solidFill>
              <a:srgbClr val="C81E1E"/>
            </a:solidFill>
            <a:prstDash val="solid"/>
            <a:headEnd type="none"/>
            <a:tailEnd type="none"/>
          </a:ln>
        </p:spPr>
      </p:sp>
      <p:sp>
        <p:nvSpPr>
          <p:cNvPr id="10" name="Text 7"/>
          <p:cNvSpPr/>
          <p:nvPr/>
        </p:nvSpPr>
        <p:spPr>
          <a:xfrm>
            <a:off x="3302000" y="6223000"/>
            <a:ext cx="17780000" cy="1524000"/>
          </a:xfrm>
          <a:prstGeom prst="rect">
            <a:avLst/>
          </a:prstGeom>
          <a:noFill/>
          <a:ln/>
        </p:spPr>
        <p:txBody>
          <a:bodyPr wrap="square" lIns="0" tIns="0" rIns="0" bIns="0" rtlCol="0" anchor="t"/>
          <a:lstStyle/>
          <a:p>
            <a:pPr algn="ctr">
              <a:lnSpc>
                <a:spcPct val="160000"/>
              </a:lnSpc>
            </a:pPr>
            <a:r>
              <a:rPr lang="en-US" sz="2200" i="1" dirty="0">
                <a:solidFill>
                  <a:srgbClr val="6B5B4E"/>
                </a:solidFill>
                <a:latin typeface="Quattrocento Sans" pitchFamily="34" charset="0"/>
                <a:ea typeface="Quattrocento Sans" pitchFamily="34" charset="-122"/>
                <a:cs typeface="Quattrocento Sans" pitchFamily="34" charset="-120"/>
              </a:rPr>
              <a:t>"Just as Raktabeej multiplied from a single drop, this platform transforms</a:t>
            </a:r>
            <a:endParaRPr lang="en-US" sz="2200" dirty="0"/>
          </a:p>
          <a:p>
            <a:pPr algn="ctr">
              <a:lnSpc>
                <a:spcPct val="160000"/>
              </a:lnSpc>
            </a:pPr>
            <a:r>
              <a:rPr lang="en-US" sz="2200" i="1" dirty="0">
                <a:solidFill>
                  <a:srgbClr val="6B5B4E"/>
                </a:solidFill>
                <a:latin typeface="Quattrocento Sans" pitchFamily="34" charset="0"/>
                <a:ea typeface="Quattrocento Sans" pitchFamily="34" charset="-122"/>
                <a:cs typeface="Quattrocento Sans" pitchFamily="34" charset="-120"/>
              </a:rPr>
              <a:t>a single source into countless opportunities for AI training and discovery."</a:t>
            </a:r>
            <a:endParaRPr lang="en-US" sz="2200" dirty="0"/>
          </a:p>
        </p:txBody>
      </p:sp>
      <p:sp>
        <p:nvSpPr>
          <p:cNvPr id="11" name="Shape 8"/>
          <p:cNvSpPr/>
          <p:nvPr/>
        </p:nvSpPr>
        <p:spPr>
          <a:xfrm>
            <a:off x="5842000" y="8001000"/>
            <a:ext cx="12700000" cy="1270000"/>
          </a:xfrm>
          <a:prstGeom prst="rect">
            <a:avLst/>
          </a:prstGeom>
          <a:solidFill>
            <a:srgbClr val="1A1212">
              <a:alpha val="50196"/>
            </a:srgbClr>
          </a:solidFill>
          <a:ln w="12700">
            <a:solidFill>
              <a:srgbClr val="3D2A2A"/>
            </a:solidFill>
            <a:prstDash val="solid"/>
          </a:ln>
        </p:spPr>
      </p:sp>
      <p:sp>
        <p:nvSpPr>
          <p:cNvPr id="12" name="Text 9"/>
          <p:cNvSpPr/>
          <p:nvPr/>
        </p:nvSpPr>
        <p:spPr>
          <a:xfrm>
            <a:off x="6096000" y="8128000"/>
            <a:ext cx="12192000" cy="1016000"/>
          </a:xfrm>
          <a:prstGeom prst="rect">
            <a:avLst/>
          </a:prstGeom>
          <a:noFill/>
          <a:ln/>
        </p:spPr>
        <p:txBody>
          <a:bodyPr wrap="none" lIns="0" tIns="0" rIns="0" bIns="0" rtlCol="0" anchor="ctr"/>
          <a:lstStyle/>
          <a:p>
            <a:pPr algn="ctr">
              <a:lnSpc>
                <a:spcPct val="120000"/>
              </a:lnSpc>
            </a:pPr>
            <a:r>
              <a:rPr lang="en-US" sz="1800" spc="200" kern="0" dirty="0">
                <a:solidFill>
                  <a:srgbClr val="CD7F32"/>
                </a:solidFill>
                <a:latin typeface="Quattrocento Sans" pitchFamily="34" charset="0"/>
                <a:ea typeface="Quattrocento Sans" pitchFamily="34" charset="-122"/>
                <a:cs typeface="Quattrocento Sans" pitchFamily="34" charset="-120"/>
              </a:rPr>
              <a:t>●</a:t>
            </a:r>
            <a:pPr algn="ctr">
              <a:lnSpc>
                <a:spcPct val="120000"/>
              </a:lnSpc>
            </a:pPr>
            <a:r>
              <a:rPr lang="en-US" sz="1800" spc="200" kern="0" dirty="0">
                <a:solidFill>
                  <a:srgbClr val="E8DCC8"/>
                </a:solidFill>
                <a:latin typeface="Quattrocento Sans" pitchFamily="34" charset="0"/>
                <a:ea typeface="Quattrocento Sans" pitchFamily="34" charset="-122"/>
                <a:cs typeface="Quattrocento Sans" pitchFamily="34" charset="-120"/>
              </a:rPr>
              <a:t>  FULLY DEPLOYED  </a:t>
            </a:r>
            <a:pPr algn="ctr">
              <a:lnSpc>
                <a:spcPct val="120000"/>
              </a:lnSpc>
            </a:pPr>
            <a:r>
              <a:rPr lang="en-US" sz="1800" spc="200" kern="0" dirty="0">
                <a:solidFill>
                  <a:srgbClr val="CD7F32"/>
                </a:solidFill>
                <a:latin typeface="Quattrocento Sans" pitchFamily="34" charset="0"/>
                <a:ea typeface="Quattrocento Sans" pitchFamily="34" charset="-122"/>
                <a:cs typeface="Quattrocento Sans" pitchFamily="34" charset="-120"/>
              </a:rPr>
              <a:t>●</a:t>
            </a:r>
            <a:pPr algn="ctr">
              <a:lnSpc>
                <a:spcPct val="120000"/>
              </a:lnSpc>
            </a:pPr>
            <a:r>
              <a:rPr lang="en-US" sz="1800" spc="200" kern="0" dirty="0">
                <a:solidFill>
                  <a:srgbClr val="E8DCC8"/>
                </a:solidFill>
                <a:latin typeface="Quattrocento Sans" pitchFamily="34" charset="0"/>
                <a:ea typeface="Quattrocento Sans" pitchFamily="34" charset="-122"/>
                <a:cs typeface="Quattrocento Sans" pitchFamily="34" charset="-120"/>
              </a:rPr>
              <a:t>  BROWSER NATIVE  </a:t>
            </a:r>
            <a:pPr algn="ctr">
              <a:lnSpc>
                <a:spcPct val="120000"/>
              </a:lnSpc>
            </a:pPr>
            <a:r>
              <a:rPr lang="en-US" sz="1800" spc="200" kern="0" dirty="0">
                <a:solidFill>
                  <a:srgbClr val="CD7F32"/>
                </a:solidFill>
                <a:latin typeface="Quattrocento Sans" pitchFamily="34" charset="0"/>
                <a:ea typeface="Quattrocento Sans" pitchFamily="34" charset="-122"/>
                <a:cs typeface="Quattrocento Sans" pitchFamily="34" charset="-120"/>
              </a:rPr>
              <a:t>●</a:t>
            </a:r>
            <a:pPr algn="ctr">
              <a:lnSpc>
                <a:spcPct val="120000"/>
              </a:lnSpc>
            </a:pPr>
            <a:r>
              <a:rPr lang="en-US" sz="1800" spc="200" kern="0" dirty="0">
                <a:solidFill>
                  <a:srgbClr val="E8DCC8"/>
                </a:solidFill>
                <a:latin typeface="Quattrocento Sans" pitchFamily="34" charset="0"/>
                <a:ea typeface="Quattrocento Sans" pitchFamily="34" charset="-122"/>
                <a:cs typeface="Quattrocento Sans" pitchFamily="34" charset="-120"/>
              </a:rPr>
              <a:t>  PRIVACY FIRST  </a:t>
            </a:r>
            <a:pPr algn="ctr">
              <a:lnSpc>
                <a:spcPct val="120000"/>
              </a:lnSpc>
            </a:pPr>
            <a:r>
              <a:rPr lang="en-US" sz="1800" spc="200" kern="0" dirty="0">
                <a:solidFill>
                  <a:srgbClr val="CD7F32"/>
                </a:solidFill>
                <a:latin typeface="Quattrocento Sans" pitchFamily="34" charset="0"/>
                <a:ea typeface="Quattrocento Sans" pitchFamily="34" charset="-122"/>
                <a:cs typeface="Quattrocento Sans" pitchFamily="34" charset="-120"/>
              </a:rPr>
              <a:t>●</a:t>
            </a:r>
            <a:pPr algn="ctr">
              <a:lnSpc>
                <a:spcPct val="120000"/>
              </a:lnSpc>
            </a:pPr>
            <a:r>
              <a:rPr lang="en-US" sz="1800" spc="200" kern="0" dirty="0">
                <a:solidFill>
                  <a:srgbClr val="E8DCC8"/>
                </a:solidFill>
                <a:latin typeface="Quattrocento Sans" pitchFamily="34" charset="0"/>
                <a:ea typeface="Quattrocento Sans" pitchFamily="34" charset="-122"/>
                <a:cs typeface="Quattrocento Sans" pitchFamily="34" charset="-120"/>
              </a:rPr>
              <a:t>  ML READY  </a:t>
            </a:r>
            <a:pPr algn="ctr">
              <a:lnSpc>
                <a:spcPct val="120000"/>
              </a:lnSpc>
            </a:pPr>
            <a:r>
              <a:rPr lang="en-US" sz="1800" spc="200" kern="0" dirty="0">
                <a:solidFill>
                  <a:srgbClr val="CD7F32"/>
                </a:solidFill>
                <a:latin typeface="Quattrocento Sans" pitchFamily="34" charset="0"/>
                <a:ea typeface="Quattrocento Sans" pitchFamily="34" charset="-122"/>
                <a:cs typeface="Quattrocento Sans" pitchFamily="34" charset="-120"/>
              </a:rPr>
              <a:t>●</a:t>
            </a:r>
            <a:pPr algn="ctr">
              <a:lnSpc>
                <a:spcPct val="120000"/>
              </a:lnSpc>
            </a:pPr>
            <a:r>
              <a:rPr lang="en-US" sz="1800" spc="200" kern="0" dirty="0">
                <a:solidFill>
                  <a:srgbClr val="E8DCC8"/>
                </a:solidFill>
                <a:latin typeface="Quattrocento Sans" pitchFamily="34" charset="0"/>
                <a:ea typeface="Quattrocento Sans" pitchFamily="34" charset="-122"/>
                <a:cs typeface="Quattrocento Sans" pitchFamily="34" charset="-120"/>
              </a:rPr>
              <a:t>  SCALABLE</a:t>
            </a:r>
            <a:endParaRPr lang="en-US" sz="1800" dirty="0"/>
          </a:p>
        </p:txBody>
      </p:sp>
      <p:sp>
        <p:nvSpPr>
          <p:cNvPr id="13" name="Text 10"/>
          <p:cNvSpPr/>
          <p:nvPr/>
        </p:nvSpPr>
        <p:spPr>
          <a:xfrm>
            <a:off x="5842000" y="9652000"/>
            <a:ext cx="12700000" cy="2032000"/>
          </a:xfrm>
          <a:prstGeom prst="rect">
            <a:avLst/>
          </a:prstGeom>
          <a:noFill/>
          <a:ln/>
        </p:spPr>
        <p:txBody>
          <a:bodyPr wrap="square" lIns="0" tIns="0" rIns="0" bIns="0" rtlCol="0" anchor="t"/>
          <a:lstStyle/>
          <a:p>
            <a:pPr algn="ctr">
              <a:lnSpc>
                <a:spcPct val="180000"/>
              </a:lnSpc>
            </a:pPr>
            <a:r>
              <a:rPr lang="en-US" sz="2000" dirty="0">
                <a:solidFill>
                  <a:srgbClr val="6B5B4E"/>
                </a:solidFill>
                <a:latin typeface="Quattrocento Sans" pitchFamily="34" charset="0"/>
                <a:ea typeface="Quattrocento Sans" pitchFamily="34" charset="-122"/>
                <a:cs typeface="Quattrocento Sans" pitchFamily="34" charset="-120"/>
              </a:rPr>
              <a:t>Developer: </a:t>
            </a:r>
            <a:pPr algn="ctr">
              <a:lnSpc>
                <a:spcPct val="180000"/>
              </a:lnSpc>
            </a:pPr>
            <a:r>
              <a:rPr lang="en-US" sz="2000" dirty="0">
                <a:solidFill>
                  <a:srgbClr val="E8DCC8"/>
                </a:solidFill>
                <a:latin typeface="Quattrocento Sans" pitchFamily="34" charset="0"/>
                <a:ea typeface="Quattrocento Sans" pitchFamily="34" charset="-122"/>
                <a:cs typeface="Quattrocento Sans" pitchFamily="34" charset="-120"/>
              </a:rPr>
              <a:t>Arun VK</a:t>
            </a:r>
            <a:endParaRPr lang="en-US" sz="2000" dirty="0"/>
          </a:p>
          <a:p>
            <a:pPr algn="ctr">
              <a:lnSpc>
                <a:spcPct val="180000"/>
              </a:lnSpc>
            </a:pPr>
            <a:r>
              <a:rPr lang="en-US" sz="2000" dirty="0">
                <a:solidFill>
                  <a:srgbClr val="6B5B4E"/>
                </a:solidFill>
                <a:latin typeface="Quattrocento Sans" pitchFamily="34" charset="0"/>
                <a:ea typeface="Quattrocento Sans" pitchFamily="34" charset="-122"/>
                <a:cs typeface="Quattrocento Sans" pitchFamily="34" charset="-120"/>
              </a:rPr>
              <a:t>Dataset Generation Engine</a:t>
            </a:r>
            <a:endParaRPr lang="en-US" sz="2000" dirty="0"/>
          </a:p>
          <a:p>
            <a:pPr algn="ctr">
              <a:lnSpc>
                <a:spcPct val="180000"/>
              </a:lnSpc>
            </a:pPr>
            <a:r>
              <a:rPr lang="en-US" sz="2000" dirty="0">
                <a:solidFill>
                  <a:srgbClr val="CD7F32"/>
                </a:solidFill>
                <a:latin typeface="Quattrocento Sans" pitchFamily="34" charset="0"/>
                <a:ea typeface="Quattrocento Sans" pitchFamily="34" charset="-122"/>
                <a:cs typeface="Quattrocento Sans" pitchFamily="34" charset="-120"/>
              </a:rPr>
              <a:t>Raktabeej Resurrection Initiative</a:t>
            </a:r>
            <a:endParaRPr lang="en-US" sz="2000" dirty="0"/>
          </a:p>
        </p:txBody>
      </p:sp>
      <p:sp>
        <p:nvSpPr>
          <p:cNvPr id="14" name="Shape 11"/>
          <p:cNvSpPr/>
          <p:nvPr/>
        </p:nvSpPr>
        <p:spPr>
          <a:xfrm>
            <a:off x="20320000" y="10414000"/>
            <a:ext cx="2540000" cy="2540000"/>
          </a:xfrm>
          <a:custGeom>
            <a:avLst/>
            <a:gdLst/>
            <a:ahLst/>
            <a:cxnLst/>
            <a:rect l="l" t="t" r="r" b="b"/>
            <a:pathLst>
              <a:path w="2540000" h="2540000">
                <a:moveTo>
                  <a:pt x="1269998" y="0"/>
                </a:moveTo>
                <a:lnTo>
                  <a:pt x="2540000" y="1269998"/>
                </a:lnTo>
                <a:lnTo>
                  <a:pt x="1269998" y="2540000"/>
                </a:lnTo>
                <a:lnTo>
                  <a:pt x="0" y="1269998"/>
                </a:lnTo>
                <a:close/>
              </a:path>
            </a:pathLst>
          </a:custGeom>
          <a:solidFill>
            <a:srgbClr val="CD7F32">
              <a:alpha val="12549"/>
            </a:srgbClr>
          </a:solidFill>
          <a:ln w="12700">
            <a:solidFill>
              <a:srgbClr val="CD7F32"/>
            </a:solidFill>
            <a:prstDash val="solid"/>
          </a:ln>
        </p:spPr>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RAKTABEEJ - Dataset Generation Engine</dc:title>
  <dc:subject>RAKTABEEJ - Dataset Generation Engine</dc:subject>
  <dc:creator>Kimi</dc:creator>
  <cp:lastModifiedBy>Kimi</cp:lastModifiedBy>
  <cp:revision>1</cp:revision>
  <dcterms:created xsi:type="dcterms:W3CDTF">2026-06-15T10:18:51Z</dcterms:created>
  <dcterms:modified xsi:type="dcterms:W3CDTF">2026-06-15T10:18:51Z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{"Label":"RAKTABEEJ - Dataset Generation Engine","ContentProducer":"001191110108MACG2KBH8F10000","ProduceID":"19ecabd1-49d2-8c61-8000-00006390914d","ReservedCode1":"","ContentPropagator":"001191110108MACG2KBH8F20000","PropagateID":"19ecaba4-eef2-8f66-8000-091e13b2d557","ReservedCode2":""}</vt:lpwstr>
  </property>
</Properties>
</file>